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8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93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D6E8A">
              <a:alpha val="20000"/>
            </a:srgbClr>
          </a:solidFill>
          <a:ln w="12700">
            <a:solidFill>
              <a:srgbClr val="0D6E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0A8C6">
              <a:alpha val="30000"/>
            </a:srgbClr>
          </a:solidFill>
          <a:ln w="12700">
            <a:solidFill>
              <a:srgbClr val="00A8C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Indicadores de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Hospitalización REM20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029200" cy="45720"/>
          </a:xfrm>
          <a:prstGeom prst="rect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2014–2025 · Patrones, Complejidad Clínica y Eficiencia de Camas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Dataset REM20 · Servicio de Salud · Chile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417320" cy="594360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85800" y="3401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Patrones 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hospitalización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40280" y="3383280"/>
            <a:ext cx="1417320" cy="594360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286000" y="3401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Complejidad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0" y="3383280"/>
            <a:ext cx="1417320" cy="594360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886200" y="3401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Duración 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estadías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0680" y="3383280"/>
            <a:ext cx="1417320" cy="594360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486400" y="3401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Eficiencia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camas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3383280"/>
            <a:ext cx="1417320" cy="594360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7086600" y="3401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Ocupación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Letalidad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65960" cy="1097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analizado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32588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2014–2025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828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años de datos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2423160" y="868680"/>
            <a:ext cx="196596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496312" y="100584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COVID-19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132588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96312" y="1828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egresos 2020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4572000" y="868680"/>
            <a:ext cx="1965960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645152" y="100584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post-COVID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5152" y="132588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45152" y="1828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≈ 2022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86868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720840" y="868680"/>
            <a:ext cx="1965960" cy="10972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793992" y="100584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ocupacional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93992" y="132588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~75–80%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93992" y="1828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histórico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423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2871216"/>
            <a:ext cx="201168" cy="201168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274320" y="2862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28346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egresos hospitalarios cayeron ~30% en 2020 por COVID-19, con recuperación completa hacia 2022–2023.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73552"/>
            <a:ext cx="201168" cy="201168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27432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323697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clínica (días estada y letalidad) aumentó en UCI y áreas de alta complejidad durante la pandemia.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675888"/>
            <a:ext cx="201168" cy="201168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274320" y="3666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363931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Psiquiatría y neurología presentan las estadías más prolongadas, con diferencias marcadas respecto a otras áreas.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078224"/>
            <a:ext cx="201168" cy="201168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27432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" y="404164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rotación disminuyó durante 2020, señalando menor eficiencia operacional en el período crítico.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480560"/>
            <a:ext cx="201168" cy="201168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74320" y="4471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" y="44439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correlación estadística significativa global entre ocupación y letalidad; la relación varía por complejidad.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han evolucionado los patrones de hospitalización en los últimos años?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Número de Egresos · Días Cama Ocupadas/Disponibles · Índice Ocupacional · Período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1691640"/>
          </a:xfrm>
          <a:prstGeom prst="rect">
            <a:avLst/>
          </a:prstGeom>
          <a:solidFill>
            <a:srgbClr val="F0F6F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062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Egresos Hospitalarios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creciente 2014–2019 (aprox. +15%). Caída abrupta de ~30% en 2020 por pandemia COVID-19. Recuperación total hacia 2022–2023 con nuevos máximos históricos.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51380"/>
            <a:ext cx="4206240" cy="1691640"/>
          </a:xfrm>
          <a:prstGeom prst="rect">
            <a:avLst/>
          </a:prstGeom>
          <a:solidFill>
            <a:srgbClr val="F0F6F9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42062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46320" y="14081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Cama Disponibles vs Ocupadas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5564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camas disponibles se mantuvieron relativamente estables. La caída en camas ocupadas en 2020 amplió temporalmente la brecha, reduciendo la presión sobre el sistema.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4206240" cy="1691640"/>
          </a:xfrm>
          <a:prstGeom prst="rect">
            <a:avLst/>
          </a:prstGeom>
          <a:solidFill>
            <a:srgbClr val="F0F6F9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74320" y="3127248"/>
            <a:ext cx="420624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11480" y="32369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Ocupacional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58444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histórico entre 75–80%. Cayó por debajo del umbral del 70% en 2020. Recuperación a niveles pre-pandemia en 2021–2022. Umbrales OMS: 70% (referencia) y 85% (saturación).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127248"/>
            <a:ext cx="4206240" cy="1691640"/>
          </a:xfrm>
          <a:prstGeom prst="rect">
            <a:avLst/>
          </a:prstGeom>
          <a:solidFill>
            <a:srgbClr val="F0F6F9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709160" y="3127248"/>
            <a:ext cx="420624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846320" y="32369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Egresos por Cama-Mes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8444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eficiencia bruta. Refleja el mismo patrón pandémico. Su recuperación post-COVID indica normalización operativa del sistema hospitalario.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¿Existen cambios temporales en la complejidad clínica de las hospitalizaciones?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solidFill>
            <a:srgbClr val="E8F4F8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Promedio Días Estada · Letalidad · Índice de Rotación · Área Funcional (Alta/Media/Baja Complejidad)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Nivel de Complejidad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2697480" cy="2651760"/>
          </a:xfrm>
          <a:prstGeom prst="rect">
            <a:avLst/>
          </a:prstGeom>
          <a:solidFill>
            <a:srgbClr val="F0F6F9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26974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COMPLEJIDAD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121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350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Adultos · UCI Pediátrico · Cuidados Intermedios · Neonatología UCI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907792"/>
            <a:ext cx="2468880" cy="18288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84048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Mayor días estada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227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Letalidad más alta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Índice de rotación inverso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COVID-19 impactó más fuertemente en alta complejidad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54680" y="1664208"/>
            <a:ext cx="2697480" cy="2651760"/>
          </a:xfrm>
          <a:prstGeom prst="rect">
            <a:avLst/>
          </a:prstGeom>
          <a:solidFill>
            <a:srgbClr val="F0F6F9"/>
          </a:solidFill>
          <a:ln w="12700">
            <a:solidFill>
              <a:srgbClr val="D689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154680" y="1664208"/>
            <a:ext cx="2697480" cy="38404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246120" y="16824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COMPLEJIDAD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121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64408" y="2350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 de áreas funcionales del sistema hospitalario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64408" y="2907792"/>
            <a:ext cx="2468880" cy="18288"/>
          </a:xfrm>
          <a:prstGeom prst="rect">
            <a:avLst/>
          </a:prstGeom>
          <a:solidFill>
            <a:srgbClr val="D68910">
              <a:alpha val="40000"/>
            </a:srgbClr>
          </a:solidFill>
          <a:ln w="12700">
            <a:solidFill>
              <a:srgbClr val="D6891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264408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Días estada moderados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64408" y="3227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Letalidad intermedia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64408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Índice de rotación inverso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64408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COVID-19 impactó más fuertemente en alta complejidad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1664208"/>
            <a:ext cx="2697480" cy="2651760"/>
          </a:xfrm>
          <a:prstGeom prst="rect">
            <a:avLst/>
          </a:prstGeom>
          <a:solidFill>
            <a:srgbClr val="F0F6F9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6035040" y="1664208"/>
            <a:ext cx="269748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126480" y="16824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COMPLEJIDAD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2121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44768" y="2350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 Adulto · Médico-Quirúrgico · Obstetricia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44768" y="2907792"/>
            <a:ext cx="2468880" cy="18288"/>
          </a:xfrm>
          <a:prstGeom prst="rect">
            <a:avLst/>
          </a:prstGeom>
          <a:solidFill>
            <a:srgbClr val="1A7A4A">
              <a:alpha val="40000"/>
            </a:srgbClr>
          </a:solidFill>
          <a:ln w="12700">
            <a:solidFill>
              <a:srgbClr val="1A7A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6144768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Estadías más cortas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44768" y="3227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Menor letalidad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44768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Índice de rotación inverso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44768" y="3749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COVID-19 impactó más fuertemente en alta complejidad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Top 10 áreas con mayor letalidad histórica incluye Oncología, Neurología y Cuidados Paliativos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8C"/>
          </a:solidFill>
          <a:ln w="12700">
            <a:solidFill>
              <a:srgbClr val="5B2C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B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varía la duración promedio de la hospitalización entre áreas funcionales?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solidFill>
            <a:srgbClr val="EEE8F8"/>
          </a:solidFill>
          <a:ln w="12700">
            <a:solidFill>
              <a:srgbClr val="5B2C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2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Promedio Días Estada · Área Funcional · Período (2014–2025)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por Tipo de Área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4023360" cy="566928"/>
          </a:xfrm>
          <a:prstGeom prst="rect">
            <a:avLst/>
          </a:prstGeom>
          <a:solidFill>
            <a:srgbClr val="F0F6F9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9144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Psiquiatría / Salud Mental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Prom: 40–60+ días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1975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Estadías extremadamente prolongadas vs. el resto del sistema hospitalario.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59152"/>
            <a:ext cx="4023360" cy="566928"/>
          </a:xfrm>
          <a:prstGeom prst="rect">
            <a:avLst/>
          </a:prstGeom>
          <a:solidFill>
            <a:srgbClr val="F0F6F9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9144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57200" y="2395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/ Cuidados Intensivos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Prom: 10–20 días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26151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duración asociada a la gravedad clínica de los pacientes tratados.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4023360" cy="566928"/>
          </a:xfrm>
          <a:prstGeom prst="rect">
            <a:avLst/>
          </a:prstGeom>
          <a:solidFill>
            <a:srgbClr val="F0F6F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91440" cy="5669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57200" y="3035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Neurología / Neurorrehabilitación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73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Prom: 15–25 días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255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recuperación neurológica requieren hospitalizaciones extendidas.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639312"/>
            <a:ext cx="4023360" cy="566928"/>
          </a:xfrm>
          <a:prstGeom prst="rect">
            <a:avLst/>
          </a:prstGeom>
          <a:solidFill>
            <a:srgbClr val="F0F6F9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9144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5720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 / Quirúrgica General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Prom: 3–7 días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0" y="3895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Estadías estándar consistentes con patologías agudas de mediana complejidad.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4279392"/>
            <a:ext cx="4023360" cy="566928"/>
          </a:xfrm>
          <a:prstGeom prst="rect">
            <a:avLst/>
          </a:prstGeom>
          <a:solidFill>
            <a:srgbClr val="F0F6F9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274320" y="4279392"/>
            <a:ext cx="91440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Obstetricia / Maternidad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53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Prom: 2–4 días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45920" y="4535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duración del sistema, correspondiente a partos y controles postnatal.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17720" y="1261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 Usadas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17720" y="1719072"/>
            <a:ext cx="4206240" cy="960120"/>
          </a:xfrm>
          <a:prstGeom prst="rect">
            <a:avLst/>
          </a:prstGeom>
          <a:solidFill>
            <a:srgbClr val="F3EFF8"/>
          </a:solidFill>
          <a:ln w="12700">
            <a:solidFill>
              <a:srgbClr val="5B2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4709160" y="1764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6636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Área-Año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21031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calor (YlOrRd) que muestra días estada por área funcional y año. Permite identificar visualmente áreas con estadías persistentemente altas.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7720" y="2770632"/>
            <a:ext cx="4206240" cy="960120"/>
          </a:xfrm>
          <a:prstGeom prst="rect">
            <a:avLst/>
          </a:prstGeom>
          <a:solidFill>
            <a:srgbClr val="F3EFF8"/>
          </a:solidFill>
          <a:ln w="12700">
            <a:solidFill>
              <a:srgbClr val="5B2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709160" y="2816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1663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Top 8 Áreas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31546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líneas con las 8 áreas de mayor duración histórica. Evidencia el efecto COVID-19 y tendencias post-pandemia por cada área.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17720" y="3822192"/>
            <a:ext cx="4206240" cy="960120"/>
          </a:xfrm>
          <a:prstGeom prst="rect">
            <a:avLst/>
          </a:prstGeom>
          <a:solidFill>
            <a:srgbClr val="F3EFF8"/>
          </a:solidFill>
          <a:ln w="12700">
            <a:solidFill>
              <a:srgbClr val="5B2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4709160" y="3867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16636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Distribucional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09160" y="42062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promedio de días de estada por área funcional (mínimo 100 registros). Revela outliers y dispersión interna de cada servicio.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4617720"/>
            <a:ext cx="4206240" cy="365760"/>
          </a:xfrm>
          <a:prstGeom prst="rect">
            <a:avLst/>
          </a:prstGeom>
          <a:solidFill>
            <a:srgbClr val="5B2C8C"/>
          </a:solidFill>
          <a:ln w="12700">
            <a:solidFill>
              <a:srgbClr val="5B2C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4709160" y="46451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Psiquiatría: hasta 15× más días que Obstetricia · Marcado efecto pandemia 2020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ha variado la eficiencia en el uso de camas hospitalarias?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solidFill>
            <a:srgbClr val="E8F4F8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Índice Ocupacional · Índice de Rotación · Período · Área Funcional (por complejidad)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206240" cy="2011680"/>
          </a:xfrm>
          <a:prstGeom prst="rect">
            <a:avLst/>
          </a:prstGeom>
          <a:solidFill>
            <a:srgbClr val="F0F6F9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2062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Ocupacional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931920" cy="274320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57200" y="1728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Días cama ocupadas / Días cama disponibles × 100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porcentaje de la capacidad instalada está efectivamente en uso. Umbrales OMS: 70% (referencia óptima) y 85% (inicio de saturación).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898648"/>
            <a:ext cx="3931920" cy="274320"/>
          </a:xfrm>
          <a:prstGeom prst="rect">
            <a:avLst/>
          </a:prstGeom>
          <a:solidFill>
            <a:srgbClr val="1A5276">
              <a:alpha val="15000"/>
            </a:srgbClr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Cayó en 2020 · ▲ Recuperó 2021-2023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4206240" cy="2011680"/>
          </a:xfrm>
          <a:prstGeom prst="rect">
            <a:avLst/>
          </a:prstGeom>
          <a:solidFill>
            <a:srgbClr val="F0F6F9"/>
          </a:solidFill>
          <a:ln w="12700">
            <a:solidFill>
              <a:srgbClr val="117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206240" cy="41148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846320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Rotación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719072"/>
            <a:ext cx="3931920" cy="274320"/>
          </a:xfrm>
          <a:prstGeom prst="rect">
            <a:avLst/>
          </a:prstGeom>
          <a:solidFill>
            <a:srgbClr val="117A65">
              <a:alpha val="20000"/>
            </a:srgbClr>
          </a:solidFill>
          <a:ln w="12700">
            <a:solidFill>
              <a:srgbClr val="117A6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892040" y="1728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Egresos / Promedio de camas disponibles en el período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pacientes distintos ocupa cada cama en el período. Mayor rotación = mayor eficiencia. Alta complejidad tiene rotación más baja.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898648"/>
            <a:ext cx="3931920" cy="274320"/>
          </a:xfrm>
          <a:prstGeom prst="rect">
            <a:avLst/>
          </a:prstGeom>
          <a:solidFill>
            <a:srgbClr val="117A65">
              <a:alpha val="15000"/>
            </a:srgbClr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892040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Pandemia redujo rotación · ▲ Recuperación progresiva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Diferenciada por Complejidad (2014–2025)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8595360" cy="329184"/>
          </a:xfrm>
          <a:prstGeom prst="rect">
            <a:avLst/>
          </a:prstGeom>
          <a:solidFill>
            <a:srgbClr val="F0F6F9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274320" y="3767328"/>
            <a:ext cx="73152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11480" y="3813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Complejidad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813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Ocup: ~75–85%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3813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Rot: Baja (~8-12 pac/cama)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3813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UCI: alta ocupación, pero rotación lenta por estadías prolongadas.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133088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74320" y="4133088"/>
            <a:ext cx="73152" cy="329184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11480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Complejidad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68880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Ocup: ~70–80%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4178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Rot: Media (~15-25 pac/cama)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más estable; refleja la mayoría de servicios hospitalarios.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498848"/>
            <a:ext cx="8595360" cy="329184"/>
          </a:xfrm>
          <a:prstGeom prst="rect">
            <a:avLst/>
          </a:prstGeom>
          <a:solidFill>
            <a:srgbClr val="F0F6F9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274320" y="4498848"/>
            <a:ext cx="73152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411480" y="4544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Complejidad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68880" y="4544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Ocup: ~65–75%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80560" y="4544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Rot: Alta (~30-50 pac/cama)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4544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Obstetricia y medicina básica: alta rotación, estadías cortas, menor presión.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relación entre la ocupación hospitalaria y la letalidad de los pacientes?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29184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Índice Ocupacional (explicativa) · Letalidad (respuesta) · Área Funcional (segmentación) · Período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Estadísticos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1261872" cy="1188720"/>
          </a:xfrm>
          <a:prstGeom prst="rect">
            <a:avLst/>
          </a:prstGeom>
          <a:solidFill>
            <a:srgbClr val="F0F6F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0116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0.05–0.10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" y="24231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positiva muy débil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27632" y="1664208"/>
            <a:ext cx="1261872" cy="1188720"/>
          </a:xfrm>
          <a:prstGeom prst="rect">
            <a:avLst/>
          </a:prstGeom>
          <a:solidFill>
            <a:srgbClr val="F0F6F9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700784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00784" y="20116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0.08–0.12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00784" y="24231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comportamiento no-paramétrico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80944" y="1664208"/>
            <a:ext cx="1261872" cy="1188720"/>
          </a:xfrm>
          <a:prstGeom prst="rect">
            <a:avLst/>
          </a:prstGeom>
          <a:solidFill>
            <a:srgbClr val="F0F6F9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054096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54096" y="20116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54096" y="24231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Estadísticamente significativo (n grande)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02336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84048" y="2971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Interpretación con cautela: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n° de registros es muy grande, lo que hace significativos incluso efectos ínfimos. La correlación real es prácticamente nula a nivel global.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Letalidad por Rango de Ocupación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1664208"/>
            <a:ext cx="4389120" cy="475488"/>
          </a:xfrm>
          <a:prstGeom prst="rect">
            <a:avLst/>
          </a:prstGeom>
          <a:solidFill>
            <a:srgbClr val="F0F6F9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434840" y="1664208"/>
            <a:ext cx="73152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590288" y="1700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0–50% (Baja)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90288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Letalidad: Alta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1773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especializadas paliativos/oncología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34840" y="219456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434840" y="2194560"/>
            <a:ext cx="73152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590288" y="2231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50–70% (Moderada)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90288" y="2450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Letalidad: Moderada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médicos generales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34840" y="2724912"/>
            <a:ext cx="4389120" cy="475488"/>
          </a:xfrm>
          <a:prstGeom prst="rect">
            <a:avLst/>
          </a:prstGeom>
          <a:solidFill>
            <a:srgbClr val="F0F6F9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4434840" y="2724912"/>
            <a:ext cx="73152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4590288" y="27614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 (Alta)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90288" y="2980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Letalidad: Moderada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óptima OMS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34840" y="3255264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>
            <a:off x="4434840" y="3255264"/>
            <a:ext cx="73152" cy="47548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4590288" y="3291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85–100% (Muy alta)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90288" y="3511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Letalidad: Moderada-Alta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presión operativa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34840" y="3785616"/>
            <a:ext cx="4389120" cy="475488"/>
          </a:xfrm>
          <a:prstGeom prst="rect">
            <a:avLst/>
          </a:prstGeom>
          <a:solidFill>
            <a:srgbClr val="F0F6F9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4434840" y="3785616"/>
            <a:ext cx="7315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4590288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&gt;100% (Crítica)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90288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Letalidad: Variable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Sobreocupación: emergencia sistémica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384048" y="464515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 letalidad está determinada principalmente por la complejidad clínica del área, no por el nivel de ocupación global del hospital.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7772400" cy="45720"/>
          </a:xfrm>
          <a:prstGeom prst="rect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4069080" cy="1874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40080" y="932688"/>
            <a:ext cx="502920" cy="502920"/>
          </a:xfrm>
          <a:prstGeom prst="ellipse">
            <a:avLst/>
          </a:prstGeom>
          <a:solidFill>
            <a:srgbClr val="00A8C6"/>
          </a:solidFill>
          <a:ln w="12700">
            <a:solidFill>
              <a:srgbClr val="00A8C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969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post-pandemia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hospitalario chileno demostró capacidad de recuperación ante el impacto COVID-19, retornando a niveles de actividad previos hacia 2022–2023.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069080" cy="1874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892040" y="932688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89204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04688" y="969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Inequidad en recursos críticos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y áreas de alta complejidad operan cerca o sobre el umbral de saturación (85%), requiriendo planificación específica de camas críticas.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4069080" cy="1874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40080" y="2944368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4008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2980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estadías prolongadas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Psiquiatría requiere intervenciones específicas de gestión clínica; sus estadías prolongadas generan presión acumulada sobre la capacidad hospitalaria.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069080" cy="1874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892040" y="2944368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89204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04688" y="2980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&gt; Ocupación en letalidad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35204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de mejora en mortalidad debe enfocarse en la calidad clínica por área, no únicamente en la optimización de camas disponibles.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Análisis de Datos · Dataset REM20 · 2014–2025 · Chile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1247</Words>
  <Application>Microsoft Office PowerPoint</Application>
  <PresentationFormat>On-screen Show (16:9)</PresentationFormat>
  <Paragraphs>183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Indicadores de Hospitalización REM20</dc:title>
  <dc:subject>PptxGenJS Presentation</dc:subject>
  <dc:creator>PptxGenJS</dc:creator>
  <cp:lastModifiedBy>benjamin bravo</cp:lastModifiedBy>
  <cp:revision>2</cp:revision>
  <dcterms:created xsi:type="dcterms:W3CDTF">2026-04-01T16:12:12Z</dcterms:created>
  <dcterms:modified xsi:type="dcterms:W3CDTF">2026-04-06T00:33:04Z</dcterms:modified>
</cp:coreProperties>
</file>