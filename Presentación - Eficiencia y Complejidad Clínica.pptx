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elvetica World" charset="1" panose="020B0500040000020004"/>
      <p:regular r:id="rId17"/>
    </p:embeddedFont>
    <p:embeddedFont>
      <p:font typeface="Georgia Pro Condensed" charset="1" panose="02040506050405020303"/>
      <p:regular r:id="rId18"/>
    </p:embeddedFont>
    <p:embeddedFont>
      <p:font typeface="Georgia Pro Condensed Bold" charset="1" panose="02040806050405020203"/>
      <p:regular r:id="rId19"/>
    </p:embeddedFont>
    <p:embeddedFont>
      <p:font typeface="Helvetica World Bold" charset="1" panose="020B080004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4F90C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 descr="Sala hospitalaria isométrica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-48812" t="0" r="-48812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7153910"/>
            <a:ext cx="6886575" cy="246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  <a:spcBef>
                <a:spcPct val="0"/>
              </a:spcBef>
            </a:pPr>
            <a:r>
              <a:rPr lang="en-US" sz="3800" spc="-57" strike="noStrike" u="none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Benjamin Bravo </a:t>
            </a:r>
          </a:p>
          <a:p>
            <a:pPr algn="l" marL="0" indent="0" lvl="0">
              <a:lnSpc>
                <a:spcPts val="4940"/>
              </a:lnSpc>
              <a:spcBef>
                <a:spcPct val="0"/>
              </a:spcBef>
            </a:pPr>
            <a:r>
              <a:rPr lang="en-US" sz="3800" spc="-57" strike="noStrike" u="none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Universidad del Desarrollo  Análisis de Datos e Inferencia Estadística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75068"/>
            <a:ext cx="9754495" cy="579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  <a:spcBef>
                <a:spcPct val="0"/>
              </a:spcBef>
            </a:pPr>
            <a:r>
              <a:rPr lang="en-US" sz="14956" spc="-523" strike="noStrike" u="none">
                <a:solidFill>
                  <a:srgbClr val="E8F0F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Eficiencia y Complejidad Clínica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64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2D64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strike="noStrike" u="none">
                <a:solidFill>
                  <a:srgbClr val="E8F0F7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El Problema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016750"/>
            <a:ext cx="6886575" cy="260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Chile tiene solo 2 camas por 1.000 habitantes, frente al promedio de 4,2 de la OCDE. No existen análisis longitudinales que integren eficiencia operacional y complejidad clínica usando el dataset REM20 completo (2014–2025). Ese es el gap que este proyecto aborda.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F9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1A3E5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619500"/>
            <a:chOff x="0" y="0"/>
            <a:chExt cx="17259300" cy="48260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E8F0F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Pregunta de Investigación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 strike="noStrike" u="none">
                  <a:solidFill>
                    <a:srgbClr val="A3BAD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Análisis REM20 · DEIS/MINSAL · 2014–2025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56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E8F0F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¿Cómo han evolucionado la </a:t>
              </a:r>
              <a:r>
                <a:rPr lang="en-US" b="true" sz="2499" spc="-37">
                  <a:solidFill>
                    <a:srgbClr val="E8F0F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eficiencia operacional</a:t>
              </a:r>
              <a:r>
                <a:rPr lang="en-US" sz="2499" spc="-37">
                  <a:solidFill>
                    <a:srgbClr val="E8F0F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y la complejidad clínica del sistema hospitalario chileno entre 2014 y 2025, y cuál es la relación entre ocupación de camas y letalidad?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A3E5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E8F0F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Dataset REM20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4117905"/>
            <a:ext cx="6886575" cy="260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Fuente: DEIS/MINSAL · Portal datos.gob.cl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157.996 registros válidos · 20 variables · 313 establecimientos · 31 áreas funcionales · 2014–2025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Granularidad: mensual por establecimiento y área funcional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64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4F90C5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4438650"/>
            <a:chOff x="0" y="0"/>
            <a:chExt cx="17259300" cy="5918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E8F0F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Metodología de Análisis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111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 strike="noStrike" u="none">
                  <a:solidFill>
                    <a:srgbClr val="E8F0F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Limpieza → EDA → Estadística descriptiva → 5 preguntas de análisis → Estimación estadística IC 95%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627966"/>
              <a:ext cx="13512134" cy="2290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E8F0F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Estudio observacional retrospectivo descriptivo-analítico. Se eliminaron 1.792 registros con inconsistencias lógicas. Las áreas funcionales se clasificaron en alta, media y baja complejidad para comparaciones entre grupos.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A3E5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52706" y="5143500"/>
            <a:ext cx="17582589" cy="4788897"/>
            <a:chOff x="0" y="0"/>
            <a:chExt cx="4960116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60116" cy="1350966"/>
            </a:xfrm>
            <a:custGeom>
              <a:avLst/>
              <a:gdLst/>
              <a:ahLst/>
              <a:cxnLst/>
              <a:rect r="r" b="b" t="t" l="l"/>
              <a:pathLst>
                <a:path h="1350966" w="4960116">
                  <a:moveTo>
                    <a:pt x="0" y="0"/>
                  </a:moveTo>
                  <a:lnTo>
                    <a:pt x="4960116" y="0"/>
                  </a:lnTo>
                  <a:lnTo>
                    <a:pt x="4960116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254" r="0" b="-254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49720" y="1152525"/>
            <a:ext cx="5843036" cy="373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75"/>
              </a:lnSpc>
              <a:spcBef>
                <a:spcPct val="0"/>
              </a:spcBef>
            </a:pPr>
            <a:r>
              <a:rPr lang="en-US" sz="7275" strike="noStrike" u="none">
                <a:solidFill>
                  <a:srgbClr val="E8F0F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Hallazgo 1</a:t>
            </a:r>
          </a:p>
          <a:p>
            <a:pPr algn="l" marL="0" indent="0" lvl="0">
              <a:lnSpc>
                <a:spcPts val="7275"/>
              </a:lnSpc>
              <a:spcBef>
                <a:spcPct val="0"/>
              </a:spcBef>
            </a:pPr>
            <a:r>
              <a:rPr lang="en-US" sz="7275" strike="noStrike" u="none">
                <a:solidFill>
                  <a:srgbClr val="E8F0F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Evolución de Patrones de Hospitalización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31242" y="1871700"/>
            <a:ext cx="5065177" cy="260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Egresos estables sobre 1M (2014–2019). Caída del 19% en 2020 por COVID-19 (840K). Recuperación progresiva sin alcanzar niveles previos. Índice ocupacional nacional: 62–67%, bajo el umbral del 70%.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64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7250" y="795325"/>
            <a:ext cx="16573500" cy="5143500"/>
          </a:xfrm>
          <a:custGeom>
            <a:avLst/>
            <a:gdLst/>
            <a:ahLst/>
            <a:cxnLst/>
            <a:rect r="r" b="b" t="t" l="l"/>
            <a:pathLst>
              <a:path h="5143500" w="16573500">
                <a:moveTo>
                  <a:pt x="0" y="0"/>
                </a:moveTo>
                <a:lnTo>
                  <a:pt x="16573500" y="0"/>
                </a:lnTo>
                <a:lnTo>
                  <a:pt x="1657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4" b="-17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45342" y="6466846"/>
            <a:ext cx="8485408" cy="3505831"/>
          </a:xfrm>
          <a:custGeom>
            <a:avLst/>
            <a:gdLst/>
            <a:ahLst/>
            <a:cxnLst/>
            <a:rect r="r" b="b" t="t" l="l"/>
            <a:pathLst>
              <a:path h="3505831" w="8485408">
                <a:moveTo>
                  <a:pt x="0" y="0"/>
                </a:moveTo>
                <a:lnTo>
                  <a:pt x="8485408" y="0"/>
                </a:lnTo>
                <a:lnTo>
                  <a:pt x="8485408" y="3505830"/>
                </a:lnTo>
                <a:lnTo>
                  <a:pt x="0" y="350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78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57250" y="6092345"/>
            <a:ext cx="6837833" cy="3880331"/>
            <a:chOff x="0" y="0"/>
            <a:chExt cx="9117110" cy="517377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7625"/>
              <a:ext cx="9117110" cy="3169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63"/>
                </a:lnSpc>
                <a:spcBef>
                  <a:spcPct val="0"/>
                </a:spcBef>
              </a:pPr>
              <a:r>
                <a:rPr lang="en-US" sz="5603" spc="-168" strike="noStrike" u="none">
                  <a:solidFill>
                    <a:srgbClr val="E8F0F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Hallazgo 2</a:t>
              </a:r>
            </a:p>
            <a:p>
              <a:pPr algn="l" marL="0" indent="0" lvl="0">
                <a:lnSpc>
                  <a:spcPts val="6163"/>
                </a:lnSpc>
                <a:spcBef>
                  <a:spcPct val="0"/>
                </a:spcBef>
              </a:pPr>
              <a:r>
                <a:rPr lang="en-US" sz="5603" spc="-168" strike="noStrike" u="none">
                  <a:solidFill>
                    <a:srgbClr val="E8F0F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Cambios en Complejidad Clínica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208328" y="3207407"/>
              <a:ext cx="6553815" cy="19663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1"/>
                </a:lnSpc>
                <a:spcBef>
                  <a:spcPct val="0"/>
                </a:spcBef>
              </a:pPr>
              <a:r>
                <a:rPr lang="en-US" b="true" sz="1750" spc="-26" strike="noStrike" u="none">
                  <a:solidFill>
                    <a:srgbClr val="E8F0F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El sistema se desplaza hacia más casos de alta y media complejidad. Egresos de baja complejidad cayeron de 680K a 400K. Alta complejidad creció de 25K a 60K, lo que explica la baja en letalidad porcentual.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88139" y="3867885"/>
            <a:ext cx="13311722" cy="6142719"/>
          </a:xfrm>
          <a:custGeom>
            <a:avLst/>
            <a:gdLst/>
            <a:ahLst/>
            <a:cxnLst/>
            <a:rect r="r" b="b" t="t" l="l"/>
            <a:pathLst>
              <a:path h="6142719" w="13311722">
                <a:moveTo>
                  <a:pt x="0" y="0"/>
                </a:moveTo>
                <a:lnTo>
                  <a:pt x="13311722" y="0"/>
                </a:lnTo>
                <a:lnTo>
                  <a:pt x="13311722" y="6142719"/>
                </a:lnTo>
                <a:lnTo>
                  <a:pt x="0" y="6142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1085" y="179334"/>
            <a:ext cx="15458200" cy="3524250"/>
            <a:chOff x="0" y="0"/>
            <a:chExt cx="20610933" cy="46990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20610933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E8F0F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Hallazgo 3</a:t>
              </a:r>
            </a:p>
            <a:p>
              <a:pPr algn="l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E8F0F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Eficiencia en el Uso de Camas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81400"/>
              <a:ext cx="20610933" cy="111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 strike="noStrike" u="none">
                  <a:solidFill>
                    <a:srgbClr val="E8F0F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Alta complejidad opera en 74–80%, crónicamente sobre el umbral OMS del 70%. Media y baja por debajo, arrastrando el promedio nacional. Heterogeneidad oculta detrás del promedio agregado.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64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2D64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05000" y="4000500"/>
            <a:ext cx="14478000" cy="5715000"/>
            <a:chOff x="0" y="0"/>
            <a:chExt cx="3460977" cy="13661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60977" cy="1366175"/>
            </a:xfrm>
            <a:custGeom>
              <a:avLst/>
              <a:gdLst/>
              <a:ahLst/>
              <a:cxnLst/>
              <a:rect r="r" b="b" t="t" l="l"/>
              <a:pathLst>
                <a:path h="1366175" w="3460977">
                  <a:moveTo>
                    <a:pt x="0" y="0"/>
                  </a:moveTo>
                  <a:lnTo>
                    <a:pt x="3460977" y="0"/>
                  </a:lnTo>
                  <a:lnTo>
                    <a:pt x="3460977" y="1366175"/>
                  </a:lnTo>
                  <a:lnTo>
                    <a:pt x="0" y="1366175"/>
                  </a:lnTo>
                  <a:close/>
                </a:path>
              </a:pathLst>
            </a:custGeom>
            <a:blipFill>
              <a:blip r:embed="rId2"/>
              <a:stretch>
                <a:fillRect l="-926" t="0" r="0" b="-1554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681358"/>
            <a:ext cx="6424812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E8F0F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Hallazgo 4</a:t>
            </a:r>
          </a:p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E8F0F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Ocupación vs Letalidad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36158" y="833758"/>
            <a:ext cx="6886575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Correlación global débil (r=0,226). En alta complejidad la pendiente es pronunciada: a mayor ocupación, mayor letalidad. El análisis agregado oculta relaciones importantes que solo son visibles al segmentar por complejidad.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F9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4F90C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5767" y="4132570"/>
            <a:ext cx="16856465" cy="5953444"/>
            <a:chOff x="0" y="0"/>
            <a:chExt cx="3656092" cy="12912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6092" cy="1291275"/>
            </a:xfrm>
            <a:custGeom>
              <a:avLst/>
              <a:gdLst/>
              <a:ahLst/>
              <a:cxnLst/>
              <a:rect r="r" b="b" t="t" l="l"/>
              <a:pathLst>
                <a:path h="1291275" w="3656092">
                  <a:moveTo>
                    <a:pt x="0" y="0"/>
                  </a:moveTo>
                  <a:lnTo>
                    <a:pt x="3656092" y="0"/>
                  </a:lnTo>
                  <a:lnTo>
                    <a:pt x="3656092" y="1291275"/>
                  </a:lnTo>
                  <a:lnTo>
                    <a:pt x="0" y="1291275"/>
                  </a:lnTo>
                  <a:close/>
                </a:path>
              </a:pathLst>
            </a:custGeom>
            <a:blipFill>
              <a:blip r:embed="rId2"/>
              <a:stretch>
                <a:fillRect l="0" t="-316" r="0" b="-31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1152525"/>
            <a:ext cx="6886575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00"/>
              </a:lnSpc>
              <a:spcBef>
                <a:spcPct val="0"/>
              </a:spcBef>
            </a:pPr>
            <a:r>
              <a:rPr lang="en-US" sz="15000" spc="-450" strike="noStrike" u="none">
                <a:solidFill>
                  <a:srgbClr val="E8F0F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IC 95%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525756" y="519645"/>
            <a:ext cx="7353815" cy="3304110"/>
            <a:chOff x="0" y="0"/>
            <a:chExt cx="9805086" cy="44054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805086" cy="44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2"/>
                </a:lnSpc>
                <a:spcBef>
                  <a:spcPct val="0"/>
                </a:spcBef>
              </a:pPr>
              <a:r>
                <a:rPr lang="en-US" b="true" sz="2010" spc="-30" strike="noStrike" u="none">
                  <a:solidFill>
                    <a:srgbClr val="E8F0F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Estimación Estadística — Conclusiones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76854"/>
              <a:ext cx="9805086" cy="37286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14"/>
                </a:lnSpc>
                <a:spcBef>
                  <a:spcPct val="0"/>
                </a:spcBef>
              </a:pPr>
              <a:r>
                <a:rPr lang="en-US" sz="2010" spc="-30" strike="noStrike" u="none">
                  <a:solidFill>
                    <a:srgbClr val="E8F0F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Alta complejidad: IO=76,2% · Letalidad=29,9%</a:t>
              </a:r>
            </a:p>
            <a:p>
              <a:pPr algn="l" marL="0" indent="0" lvl="0">
                <a:lnSpc>
                  <a:spcPts val="2814"/>
                </a:lnSpc>
                <a:spcBef>
                  <a:spcPct val="0"/>
                </a:spcBef>
              </a:pPr>
              <a:r>
                <a:rPr lang="en-US" sz="2010" spc="-30" strike="noStrike" u="none">
                  <a:solidFill>
                    <a:srgbClr val="E8F0F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Media complejidad: IO=58,3% · Letalidad=1,8%</a:t>
              </a:r>
            </a:p>
            <a:p>
              <a:pPr algn="l" marL="0" indent="0" lvl="0">
                <a:lnSpc>
                  <a:spcPts val="2814"/>
                </a:lnSpc>
                <a:spcBef>
                  <a:spcPct val="0"/>
                </a:spcBef>
              </a:pPr>
              <a:r>
                <a:rPr lang="en-US" sz="2010" spc="-30" strike="noStrike" u="none">
                  <a:solidFill>
                    <a:srgbClr val="E8F0F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Baja complejidad: IO=62,4% · Letalidad=2,5%</a:t>
              </a:r>
            </a:p>
            <a:p>
              <a:pPr algn="l" marL="0" indent="0" lvl="0">
                <a:lnSpc>
                  <a:spcPts val="2814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814"/>
                </a:lnSpc>
                <a:spcBef>
                  <a:spcPct val="0"/>
                </a:spcBef>
              </a:pPr>
              <a:r>
                <a:rPr lang="en-US" sz="2010" spc="-30" strike="noStrike" u="none">
                  <a:solidFill>
                    <a:srgbClr val="E8F0F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Respuesta: El sistema opera con eficiencia heterogénea. Alta complejidad está crónicamente saturada mientras otras áreas tienen capacidad ociosa. La ocupación se asocia a mayor letalidad solo en unidades críticas.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64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4F90C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 descr="Cama hospitalaria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-20908" t="0" r="-20908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4296410"/>
            <a:ext cx="8324850" cy="532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  <a:spcBef>
                <a:spcPct val="0"/>
              </a:spcBef>
            </a:pPr>
            <a:r>
              <a:rPr lang="en-US" b="true" sz="3800" spc="-57" strike="noStrike" u="none">
                <a:solidFill>
                  <a:srgbClr val="E8F0F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Los patrones se mantuvieron estables salvo en 2020. El sistema se desplaza hacia mayor complejidad. La eficiencia es heterogénea: alta complejidad saturada, baja subutilizada. La pandemia fue el único quiebre estructural del período.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14400"/>
            <a:ext cx="8317491" cy="177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275"/>
              </a:lnSpc>
              <a:spcBef>
                <a:spcPct val="0"/>
              </a:spcBef>
            </a:pPr>
            <a:r>
              <a:rPr lang="en-US" sz="13275" spc="-464" strike="noStrike" u="none">
                <a:solidFill>
                  <a:srgbClr val="E8F0F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Conclusiones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Eficiencia y Complejidad Clínica</dc:description>
  <dc:identifier>DAHF7CFeb8k</dc:identifier>
  <dcterms:modified xsi:type="dcterms:W3CDTF">2011-08-01T06:04:30Z</dcterms:modified>
  <cp:revision>1</cp:revision>
  <dc:title>Presentación - Eficiencia y Complejidad Clínica</dc:title>
</cp:coreProperties>
</file>