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elvetica World" panose="020B0604020202020204" charset="-128"/>
      <p:regular r:id="rId13"/>
    </p:embeddedFont>
    <p:embeddedFont>
      <p:font typeface="Helvetica World Bold" panose="020B0604020202020204" charset="-128"/>
      <p:regular r:id="rId14"/>
    </p:embeddedFont>
    <p:embeddedFont>
      <p:font typeface="Georgia Pro Condensed" panose="020B0604020202020204" charset="0"/>
      <p:regular r:id="rId15"/>
    </p:embeddedFont>
    <p:embeddedFont>
      <p:font typeface="Georgia Pro Condensed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7" d="100"/>
          <a:sy n="27" d="100"/>
        </p:scale>
        <p:origin x="8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4F90C5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 descr="Sala hospitalaria isométrica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-48812" r="-4881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6750" y="7153910"/>
            <a:ext cx="6886575" cy="2466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  <a:spcBef>
                <a:spcPct val="0"/>
              </a:spcBef>
            </a:pPr>
            <a:r>
              <a:rPr lang="en-US" sz="3800" u="none" strike="noStrike" spc="-57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Benjamin Bravo </a:t>
            </a:r>
          </a:p>
          <a:p>
            <a:pPr marL="0" lvl="0" indent="0" algn="l">
              <a:lnSpc>
                <a:spcPts val="4940"/>
              </a:lnSpc>
              <a:spcBef>
                <a:spcPct val="0"/>
              </a:spcBef>
            </a:pPr>
            <a:r>
              <a:rPr lang="en-US" sz="3800" u="none" strike="noStrike" spc="-57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Universidad del Desarrollo  Análisis de Datos e Inferencia Estadística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  <a:spcBef>
                <a:spcPct val="0"/>
              </a:spcBef>
            </a:pPr>
            <a:r>
              <a:rPr lang="en-US" sz="14956" u="none" strike="noStrike" spc="-523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Eficiencia y Complejidad Clínica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D648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b="1" u="none" strike="noStrike">
                <a:solidFill>
                  <a:srgbClr val="E8F0F7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El Problema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8622" y="3352800"/>
            <a:ext cx="6886575" cy="260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Chile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tiene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solo 2 camas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por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1.000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habitantes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frente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promedio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4,2 de la OCDE. No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existen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análisis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longitudinales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que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integren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eficiencia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operacional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y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complejidad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clínica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usando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dataset REM20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completo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(2014–2025). Ese es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gap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que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este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proyecto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u="none" strike="noStrike" spc="-37" dirty="0" err="1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aborda</a:t>
            </a:r>
            <a:r>
              <a:rPr lang="en-US" sz="2499" u="none" strike="noStrike" spc="-37" dirty="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9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A3E5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3619500"/>
            <a:chOff x="0" y="0"/>
            <a:chExt cx="17259300" cy="48260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Pregunta de Investigación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2593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u="none" strike="noStrike" spc="-37">
                  <a:solidFill>
                    <a:srgbClr val="A3BAD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Análisis REM20 · DEIS/MINSAL · 2014–2025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69166"/>
              <a:ext cx="13512134" cy="1756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¿Cómo han evolucionado la </a:t>
              </a:r>
              <a:r>
                <a:rPr lang="en-US" sz="2499" b="1" spc="-37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eficiencia operacional</a:t>
              </a:r>
              <a:r>
                <a:rPr lang="en-US" sz="2499" spc="-37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 la complejidad clínica del sistema hospitalario chileno entre 2014 y 2025, y cuál es la relación entre ocupación de camas y letalidad?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3E5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REM20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4117905"/>
            <a:ext cx="6886575" cy="260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Fuente: DEIS/MINSAL · Portal datos.gob.cl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157.996 registros válidos · 20 variables · 313 establecimientos · 31 áreas funcionales · 2014–2025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Granularidad: mensual por establecimiento y área funcional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4F90C5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4438650"/>
            <a:chOff x="0" y="0"/>
            <a:chExt cx="17259300" cy="59182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Metodología de Análisis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25930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u="none" strike="noStrike" spc="-37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Limpieza → EDA → Estadística descriptiva → 5 preguntas de análisis → Estimación estadística IC 95%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627966"/>
              <a:ext cx="13512134" cy="2290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Estudio observacional retrospectivo descriptivo-analítico. Se eliminaron 1.792 registros con inconsistencias lógicas. Las áreas funcionales se clasificaron en alta, media y baja complejidad para comparaciones entre grupos.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3E5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2706" y="5143500"/>
            <a:ext cx="17582589" cy="4788897"/>
            <a:chOff x="0" y="0"/>
            <a:chExt cx="4960116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60116" cy="1350966"/>
            </a:xfrm>
            <a:custGeom>
              <a:avLst/>
              <a:gdLst/>
              <a:ahLst/>
              <a:cxnLst/>
              <a:rect l="l" t="t" r="r" b="b"/>
              <a:pathLst>
                <a:path w="4960116" h="1350966">
                  <a:moveTo>
                    <a:pt x="0" y="0"/>
                  </a:moveTo>
                  <a:lnTo>
                    <a:pt x="4960116" y="0"/>
                  </a:lnTo>
                  <a:lnTo>
                    <a:pt x="4960116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254" b="-25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9720" y="1152525"/>
            <a:ext cx="5843036" cy="373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5"/>
              </a:lnSpc>
              <a:spcBef>
                <a:spcPct val="0"/>
              </a:spcBef>
            </a:pPr>
            <a:r>
              <a:rPr lang="en-US" sz="7275" u="none" strike="noStrik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Hallazgo 1</a:t>
            </a:r>
          </a:p>
          <a:p>
            <a:pPr marL="0" lvl="0" indent="0" algn="l">
              <a:lnSpc>
                <a:spcPts val="7275"/>
              </a:lnSpc>
              <a:spcBef>
                <a:spcPct val="0"/>
              </a:spcBef>
            </a:pPr>
            <a:r>
              <a:rPr lang="en-US" sz="7275" u="none" strike="noStrik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Evolución de Patrones de Hospitalización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31242" y="1871700"/>
            <a:ext cx="5065177" cy="260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Egresos estables sobre 1M (2014–2019). Caída del 19% en 2020 por COVID-19 (840K). Recuperación progresiva sin alcanzar niveles previos. Índice ocupacional nacional: 62–67%, bajo el umbral del 70%.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7250" y="795325"/>
            <a:ext cx="16573500" cy="5143500"/>
          </a:xfrm>
          <a:custGeom>
            <a:avLst/>
            <a:gdLst/>
            <a:ahLst/>
            <a:cxnLst/>
            <a:rect l="l" t="t" r="r" b="b"/>
            <a:pathLst>
              <a:path w="16573500" h="5143500">
                <a:moveTo>
                  <a:pt x="0" y="0"/>
                </a:moveTo>
                <a:lnTo>
                  <a:pt x="16573500" y="0"/>
                </a:lnTo>
                <a:lnTo>
                  <a:pt x="1657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14" b="-17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8945342" y="6466846"/>
            <a:ext cx="8485408" cy="3505831"/>
          </a:xfrm>
          <a:custGeom>
            <a:avLst/>
            <a:gdLst/>
            <a:ahLst/>
            <a:cxnLst/>
            <a:rect l="l" t="t" r="r" b="b"/>
            <a:pathLst>
              <a:path w="8485408" h="3505831">
                <a:moveTo>
                  <a:pt x="0" y="0"/>
                </a:moveTo>
                <a:lnTo>
                  <a:pt x="8485408" y="0"/>
                </a:lnTo>
                <a:lnTo>
                  <a:pt x="8485408" y="3505830"/>
                </a:lnTo>
                <a:lnTo>
                  <a:pt x="0" y="350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78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857250" y="6092345"/>
            <a:ext cx="6837833" cy="3880331"/>
            <a:chOff x="0" y="0"/>
            <a:chExt cx="9117110" cy="5173775"/>
          </a:xfrm>
        </p:grpSpPr>
        <p:sp>
          <p:nvSpPr>
            <p:cNvPr id="5" name="TextBox 5"/>
            <p:cNvSpPr txBox="1"/>
            <p:nvPr/>
          </p:nvSpPr>
          <p:spPr>
            <a:xfrm>
              <a:off x="0" y="47625"/>
              <a:ext cx="9117110" cy="3169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163"/>
                </a:lnSpc>
                <a:spcBef>
                  <a:spcPct val="0"/>
                </a:spcBef>
              </a:pPr>
              <a:r>
                <a:rPr lang="en-US" sz="5603" u="none" strike="noStrike" spc="-168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Hallazgo 2</a:t>
              </a:r>
            </a:p>
            <a:p>
              <a:pPr marL="0" lvl="0" indent="0" algn="l">
                <a:lnSpc>
                  <a:spcPts val="6163"/>
                </a:lnSpc>
                <a:spcBef>
                  <a:spcPct val="0"/>
                </a:spcBef>
              </a:pPr>
              <a:r>
                <a:rPr lang="en-US" sz="5603" u="none" strike="noStrike" spc="-168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Cambios en Complejidad Clínica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328" y="3207407"/>
              <a:ext cx="6553815" cy="1966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01"/>
                </a:lnSpc>
                <a:spcBef>
                  <a:spcPct val="0"/>
                </a:spcBef>
              </a:pPr>
              <a:r>
                <a:rPr lang="en-US" sz="1750" b="1" u="none" strike="noStrike" spc="-26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El sistema se desplaza hacia más casos de alta y media complejidad. Egresos de baja complejidad cayeron de 680K a 400K. Alta complejidad creció de 25K a 60K, lo que explica la baja en letalidad porcentual.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8139" y="3867885"/>
            <a:ext cx="13311722" cy="6142719"/>
          </a:xfrm>
          <a:custGeom>
            <a:avLst/>
            <a:gdLst/>
            <a:ahLst/>
            <a:cxnLst/>
            <a:rect l="l" t="t" r="r" b="b"/>
            <a:pathLst>
              <a:path w="13311722" h="6142719">
                <a:moveTo>
                  <a:pt x="0" y="0"/>
                </a:moveTo>
                <a:lnTo>
                  <a:pt x="13311722" y="0"/>
                </a:lnTo>
                <a:lnTo>
                  <a:pt x="13311722" y="6142719"/>
                </a:lnTo>
                <a:lnTo>
                  <a:pt x="0" y="6142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371085" y="179334"/>
            <a:ext cx="15458200" cy="3524250"/>
            <a:chOff x="0" y="0"/>
            <a:chExt cx="20610933" cy="4699000"/>
          </a:xfrm>
        </p:grpSpPr>
        <p:sp>
          <p:nvSpPr>
            <p:cNvPr id="4" name="TextBox 4"/>
            <p:cNvSpPr txBox="1"/>
            <p:nvPr/>
          </p:nvSpPr>
          <p:spPr>
            <a:xfrm>
              <a:off x="0" y="66675"/>
              <a:ext cx="20610933" cy="3040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Hallazgo 3</a:t>
              </a:r>
            </a:p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E8F0F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Eficiencia en el Uso de Camas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81400"/>
              <a:ext cx="20610933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u="none" strike="noStrike" spc="-37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Alta complejidad opera en 74–80%, crónicamente sobre el umbral OMS del 70%. Media y baja por debajo, arrastrando el promedio nacional. Heterogeneidad oculta detrás del promedio agregado.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D648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05000" y="4000500"/>
            <a:ext cx="14478000" cy="5715000"/>
            <a:chOff x="0" y="0"/>
            <a:chExt cx="3460977" cy="13661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60977" cy="1366175"/>
            </a:xfrm>
            <a:custGeom>
              <a:avLst/>
              <a:gdLst/>
              <a:ahLst/>
              <a:cxnLst/>
              <a:rect l="l" t="t" r="r" b="b"/>
              <a:pathLst>
                <a:path w="3460977" h="1366175">
                  <a:moveTo>
                    <a:pt x="0" y="0"/>
                  </a:moveTo>
                  <a:lnTo>
                    <a:pt x="3460977" y="0"/>
                  </a:lnTo>
                  <a:lnTo>
                    <a:pt x="3460977" y="1366175"/>
                  </a:lnTo>
                  <a:lnTo>
                    <a:pt x="0" y="1366175"/>
                  </a:lnTo>
                  <a:close/>
                </a:path>
              </a:pathLst>
            </a:custGeom>
            <a:blipFill>
              <a:blip r:embed="rId2"/>
              <a:stretch>
                <a:fillRect l="-926" b="-155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681358"/>
            <a:ext cx="6424812" cy="308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Hallazgo 4</a:t>
            </a: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Ocupación vs Letalidad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36158" y="833758"/>
            <a:ext cx="6886575" cy="21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Correlación global débil (r=0,226). En alta complejidad la pendiente es pronunciada: a mayor ocupación, mayor letalidad. El análisis agregado oculta relaciones importantes que solo son visibles al segmentar por complejidad.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9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F90C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5767" y="4132570"/>
            <a:ext cx="16856465" cy="5953444"/>
            <a:chOff x="0" y="0"/>
            <a:chExt cx="3656092" cy="1291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56092" cy="1291275"/>
            </a:xfrm>
            <a:custGeom>
              <a:avLst/>
              <a:gdLst/>
              <a:ahLst/>
              <a:cxnLst/>
              <a:rect l="l" t="t" r="r" b="b"/>
              <a:pathLst>
                <a:path w="3656092" h="1291275">
                  <a:moveTo>
                    <a:pt x="0" y="0"/>
                  </a:moveTo>
                  <a:lnTo>
                    <a:pt x="3656092" y="0"/>
                  </a:lnTo>
                  <a:lnTo>
                    <a:pt x="3656092" y="1291275"/>
                  </a:lnTo>
                  <a:lnTo>
                    <a:pt x="0" y="1291275"/>
                  </a:lnTo>
                  <a:close/>
                </a:path>
              </a:pathLst>
            </a:custGeom>
            <a:blipFill>
              <a:blip r:embed="rId2"/>
              <a:stretch>
                <a:fillRect t="-316" b="-31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1152525"/>
            <a:ext cx="6886575" cy="216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00"/>
              </a:lnSpc>
              <a:spcBef>
                <a:spcPct val="0"/>
              </a:spcBef>
            </a:pPr>
            <a:r>
              <a:rPr lang="en-US" sz="15000" u="none" strike="noStrike" spc="-450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IC 95%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25756" y="519645"/>
            <a:ext cx="7353815" cy="3304110"/>
            <a:chOff x="0" y="0"/>
            <a:chExt cx="9805086" cy="440548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9805086" cy="44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12"/>
                </a:lnSpc>
                <a:spcBef>
                  <a:spcPct val="0"/>
                </a:spcBef>
              </a:pPr>
              <a:r>
                <a:rPr lang="en-US" sz="2010" b="1" u="none" strike="noStrike" spc="-30">
                  <a:solidFill>
                    <a:srgbClr val="E8F0F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Estimación Estadística — Conclusiones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76854"/>
              <a:ext cx="9805086" cy="3728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14"/>
                </a:lnSpc>
                <a:spcBef>
                  <a:spcPct val="0"/>
                </a:spcBef>
              </a:pPr>
              <a:r>
                <a:rPr lang="en-US" sz="2010" u="none" strike="noStrike" spc="-30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Alta complejidad: IO=76,2% · Letalidad=29,9%</a:t>
              </a:r>
            </a:p>
            <a:p>
              <a:pPr marL="0" lvl="0" indent="0" algn="l">
                <a:lnSpc>
                  <a:spcPts val="2814"/>
                </a:lnSpc>
                <a:spcBef>
                  <a:spcPct val="0"/>
                </a:spcBef>
              </a:pPr>
              <a:r>
                <a:rPr lang="en-US" sz="2010" u="none" strike="noStrike" spc="-30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Media complejidad: IO=58,3% · Letalidad=1,8%</a:t>
              </a:r>
            </a:p>
            <a:p>
              <a:pPr marL="0" lvl="0" indent="0" algn="l">
                <a:lnSpc>
                  <a:spcPts val="2814"/>
                </a:lnSpc>
                <a:spcBef>
                  <a:spcPct val="0"/>
                </a:spcBef>
              </a:pPr>
              <a:r>
                <a:rPr lang="en-US" sz="2010" u="none" strike="noStrike" spc="-30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Baja complejidad: IO=62,4% · Letalidad=2,5%</a:t>
              </a:r>
            </a:p>
            <a:p>
              <a:pPr marL="0" lvl="0" indent="0" algn="l">
                <a:lnSpc>
                  <a:spcPts val="2814"/>
                </a:lnSpc>
                <a:spcBef>
                  <a:spcPct val="0"/>
                </a:spcBef>
              </a:pPr>
              <a:endParaRPr lang="en-US" sz="2010" u="none" strike="noStrike" spc="-30">
                <a:solidFill>
                  <a:srgbClr val="E8F0F7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marL="0" lvl="0" indent="0" algn="l">
                <a:lnSpc>
                  <a:spcPts val="2814"/>
                </a:lnSpc>
                <a:spcBef>
                  <a:spcPct val="0"/>
                </a:spcBef>
              </a:pPr>
              <a:r>
                <a:rPr lang="en-US" sz="2010" u="none" strike="noStrike" spc="-30">
                  <a:solidFill>
                    <a:srgbClr val="E8F0F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Respuesta: El sistema opera con eficiencia heterogénea. Alta complejidad está crónicamente saturada mientras otras áreas tienen capacidad ociosa. La ocupación se asocia a mayor letalidad solo en unidades críticas.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F90C5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 descr="Cama hospitalaria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-20908" r="-2090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96400" y="4296410"/>
            <a:ext cx="8324850" cy="532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  <a:spcBef>
                <a:spcPct val="0"/>
              </a:spcBef>
            </a:pPr>
            <a:r>
              <a:rPr lang="en-US" sz="3800" b="1" u="none" strike="noStrike" spc="-57">
                <a:solidFill>
                  <a:srgbClr val="E8F0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Los patrones se mantuvieron estables salvo en 2020. El sistema se desplaza hacia mayor complejidad. La eficiencia es heterogénea: alta complejidad saturada, baja subutilizada. La pandemia fue el único quiebre estructural del período.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3759" y="914400"/>
            <a:ext cx="8317491" cy="177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75"/>
              </a:lnSpc>
              <a:spcBef>
                <a:spcPct val="0"/>
              </a:spcBef>
            </a:pPr>
            <a:r>
              <a:rPr lang="en-US" sz="13275" u="none" strike="noStrike" spc="-464">
                <a:solidFill>
                  <a:srgbClr val="E8F0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Conclusiones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Custom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Georgia Pro Condensed Bold</vt:lpstr>
      <vt:lpstr>Arial</vt:lpstr>
      <vt:lpstr>Helvetica World</vt:lpstr>
      <vt:lpstr>Georgia Pro Condensed</vt:lpstr>
      <vt:lpstr>Helvetica World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Eficiencia y Complejidad Clínica</dc:title>
  <dc:description>Presentación - Eficiencia y Complejidad Clínica</dc:description>
  <cp:lastModifiedBy>benjamin bravo</cp:lastModifiedBy>
  <cp:revision>2</cp:revision>
  <dcterms:created xsi:type="dcterms:W3CDTF">2006-08-16T00:00:00Z</dcterms:created>
  <dcterms:modified xsi:type="dcterms:W3CDTF">2026-04-06T00:35:09Z</dcterms:modified>
  <dc:identifier>DAHF7CFeb8k</dc:identifier>
</cp:coreProperties>
</file>