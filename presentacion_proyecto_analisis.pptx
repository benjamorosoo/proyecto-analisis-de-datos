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05" r:id="rId2"/>
    <p:sldId id="300" r:id="rId3"/>
    <p:sldId id="301" r:id="rId4"/>
    <p:sldId id="302" r:id="rId5"/>
    <p:sldId id="303" r:id="rId6"/>
    <p:sldId id="304" r:id="rId7"/>
    <p:sldId id="306" r:id="rId8"/>
    <p:sldId id="307" r:id="rId9"/>
    <p:sldId id="308" r:id="rId10"/>
    <p:sldId id="309" r:id="rId11"/>
    <p:sldId id="310" r:id="rId12"/>
    <p:sldId id="311" r:id="rId13"/>
    <p:sldId id="312" r:id="rId14"/>
    <p:sldId id="313" r:id="rId15"/>
    <p:sldId id="314"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A7C92"/>
          </a:solidFill>
          <a:ln/>
        </p:spPr>
        <p:txBody>
          <a:bodyPr/>
          <a:lstStyle/>
          <a:p>
            <a:endParaRPr lang="es-CL"/>
          </a:p>
        </p:txBody>
      </p:sp>
      <p:sp>
        <p:nvSpPr>
          <p:cNvPr id="3" name="Shape 1"/>
          <p:cNvSpPr/>
          <p:nvPr/>
        </p:nvSpPr>
        <p:spPr>
          <a:xfrm>
            <a:off x="6400800" y="-914400"/>
            <a:ext cx="5029200" cy="5029200"/>
          </a:xfrm>
          <a:prstGeom prst="ellipse">
            <a:avLst/>
          </a:prstGeom>
          <a:solidFill>
            <a:srgbClr val="0A7C92">
              <a:alpha val="9000"/>
            </a:srgbClr>
          </a:solidFill>
          <a:ln/>
        </p:spPr>
        <p:txBody>
          <a:bodyPr/>
          <a:lstStyle/>
          <a:p>
            <a:endParaRPr lang="es-CL"/>
          </a:p>
        </p:txBody>
      </p:sp>
      <p:sp>
        <p:nvSpPr>
          <p:cNvPr id="4" name="Shape 2"/>
          <p:cNvSpPr/>
          <p:nvPr/>
        </p:nvSpPr>
        <p:spPr>
          <a:xfrm>
            <a:off x="7132320" y="2743200"/>
            <a:ext cx="2743200" cy="2743200"/>
          </a:xfrm>
          <a:prstGeom prst="ellipse">
            <a:avLst/>
          </a:prstGeom>
          <a:solidFill>
            <a:srgbClr val="12A3BE">
              <a:alpha val="7000"/>
            </a:srgbClr>
          </a:solidFill>
          <a:ln/>
        </p:spPr>
        <p:txBody>
          <a:bodyPr/>
          <a:lstStyle/>
          <a:p>
            <a:endParaRPr lang="es-CL"/>
          </a:p>
        </p:txBody>
      </p:sp>
      <p:sp>
        <p:nvSpPr>
          <p:cNvPr id="5" name="Text 3"/>
          <p:cNvSpPr/>
          <p:nvPr/>
        </p:nvSpPr>
        <p:spPr>
          <a:xfrm>
            <a:off x="365760" y="685800"/>
            <a:ext cx="8229600" cy="292608"/>
          </a:xfrm>
          <a:prstGeom prst="rect">
            <a:avLst/>
          </a:prstGeom>
          <a:noFill/>
          <a:ln/>
        </p:spPr>
        <p:txBody>
          <a:bodyPr wrap="square" rtlCol="0" anchor="ctr"/>
          <a:lstStyle/>
          <a:p>
            <a:pPr marL="0" indent="0">
              <a:buNone/>
            </a:pPr>
            <a:r>
              <a:rPr lang="en-US" sz="950" b="1" kern="0" spc="350" dirty="0">
                <a:solidFill>
                  <a:srgbClr val="12A3BE"/>
                </a:solidFill>
                <a:latin typeface="Calibri" pitchFamily="34" charset="0"/>
                <a:ea typeface="Calibri" pitchFamily="34" charset="-122"/>
                <a:cs typeface="Calibri" pitchFamily="34" charset="-120"/>
              </a:rPr>
              <a:t>REM20 · DEIS/MINSAL · 2014–2025</a:t>
            </a:r>
            <a:endParaRPr lang="en-US" sz="950" dirty="0"/>
          </a:p>
        </p:txBody>
      </p:sp>
      <p:sp>
        <p:nvSpPr>
          <p:cNvPr id="6" name="Text 4"/>
          <p:cNvSpPr/>
          <p:nvPr/>
        </p:nvSpPr>
        <p:spPr>
          <a:xfrm>
            <a:off x="365760" y="1051560"/>
            <a:ext cx="7772400" cy="16916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Análisis de los Indicadores</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de Hospitalización Pública</a:t>
            </a:r>
            <a:endParaRPr lang="en-US" sz="4000" dirty="0"/>
          </a:p>
        </p:txBody>
      </p:sp>
      <p:sp>
        <p:nvSpPr>
          <p:cNvPr id="7" name="Text 5"/>
          <p:cNvSpPr/>
          <p:nvPr/>
        </p:nvSpPr>
        <p:spPr>
          <a:xfrm>
            <a:off x="365760" y="2834640"/>
            <a:ext cx="8229600" cy="347472"/>
          </a:xfrm>
          <a:prstGeom prst="rect">
            <a:avLst/>
          </a:prstGeom>
          <a:noFill/>
          <a:ln/>
        </p:spPr>
        <p:txBody>
          <a:bodyPr wrap="square" rtlCol="0" anchor="ctr"/>
          <a:lstStyle/>
          <a:p>
            <a:pPr marL="0" indent="0">
              <a:buNone/>
            </a:pPr>
            <a:r>
              <a:rPr lang="en-US" sz="1300" dirty="0">
                <a:solidFill>
                  <a:srgbClr val="12A3BE"/>
                </a:solidFill>
                <a:latin typeface="Calibri" pitchFamily="34" charset="0"/>
                <a:ea typeface="Calibri" pitchFamily="34" charset="-122"/>
                <a:cs typeface="Calibri" pitchFamily="34" charset="-120"/>
              </a:rPr>
              <a:t>5 Preguntas de Investigación · Narración de resultados y respuestas</a:t>
            </a:r>
            <a:endParaRPr lang="en-US" sz="1300" dirty="0"/>
          </a:p>
        </p:txBody>
      </p:sp>
      <p:sp>
        <p:nvSpPr>
          <p:cNvPr id="8" name="Shape 6"/>
          <p:cNvSpPr/>
          <p:nvPr/>
        </p:nvSpPr>
        <p:spPr>
          <a:xfrm>
            <a:off x="365760" y="3310128"/>
            <a:ext cx="4114800" cy="0"/>
          </a:xfrm>
          <a:prstGeom prst="line">
            <a:avLst/>
          </a:prstGeom>
          <a:noFill/>
          <a:ln w="12700">
            <a:solidFill>
              <a:srgbClr val="0A7C92"/>
            </a:solidFill>
            <a:prstDash val="solid"/>
          </a:ln>
        </p:spPr>
        <p:txBody>
          <a:bodyPr/>
          <a:lstStyle/>
          <a:p>
            <a:endParaRPr lang="es-CL"/>
          </a:p>
        </p:txBody>
      </p:sp>
      <p:sp>
        <p:nvSpPr>
          <p:cNvPr id="9" name="Text 7"/>
          <p:cNvSpPr/>
          <p:nvPr/>
        </p:nvSpPr>
        <p:spPr>
          <a:xfrm>
            <a:off x="365760" y="3474720"/>
            <a:ext cx="8229600" cy="256032"/>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Benjamín Bravo  ·  Universidad del Desarrollo  ·  8 de abril 2026</a:t>
            </a:r>
            <a:endParaRPr lang="en-US" sz="1050" dirty="0"/>
          </a:p>
        </p:txBody>
      </p:sp>
      <p:sp>
        <p:nvSpPr>
          <p:cNvPr id="10" name="Shape 8"/>
          <p:cNvSpPr/>
          <p:nvPr/>
        </p:nvSpPr>
        <p:spPr>
          <a:xfrm>
            <a:off x="347472" y="3968496"/>
            <a:ext cx="128016" cy="128016"/>
          </a:xfrm>
          <a:prstGeom prst="ellipse">
            <a:avLst/>
          </a:prstGeom>
          <a:solidFill>
            <a:srgbClr val="0A7C92"/>
          </a:solidFill>
          <a:ln/>
        </p:spPr>
        <p:txBody>
          <a:bodyPr/>
          <a:lstStyle/>
          <a:p>
            <a:endParaRPr lang="es-CL"/>
          </a:p>
        </p:txBody>
      </p:sp>
      <p:sp>
        <p:nvSpPr>
          <p:cNvPr id="11" name="Text 9"/>
          <p:cNvSpPr/>
          <p:nvPr/>
        </p:nvSpPr>
        <p:spPr>
          <a:xfrm>
            <a:off x="530352" y="3913632"/>
            <a:ext cx="457200" cy="228600"/>
          </a:xfrm>
          <a:prstGeom prst="rect">
            <a:avLst/>
          </a:prstGeom>
          <a:noFill/>
          <a:ln/>
        </p:spPr>
        <p:txBody>
          <a:bodyPr wrap="square" rtlCol="0" anchor="ctr"/>
          <a:lstStyle/>
          <a:p>
            <a:pPr marL="0" indent="0">
              <a:buNone/>
            </a:pPr>
            <a:r>
              <a:rPr lang="en-US" sz="900" b="1" dirty="0">
                <a:solidFill>
                  <a:srgbClr val="12A3BE"/>
                </a:solidFill>
                <a:latin typeface="Calibri" pitchFamily="34" charset="0"/>
                <a:ea typeface="Calibri" pitchFamily="34" charset="-122"/>
                <a:cs typeface="Calibri" pitchFamily="34" charset="-120"/>
              </a:rPr>
              <a:t>P1</a:t>
            </a:r>
            <a:endParaRPr lang="en-US" sz="900" dirty="0"/>
          </a:p>
        </p:txBody>
      </p:sp>
      <p:sp>
        <p:nvSpPr>
          <p:cNvPr id="12" name="Text 10"/>
          <p:cNvSpPr/>
          <p:nvPr/>
        </p:nvSpPr>
        <p:spPr>
          <a:xfrm>
            <a:off x="1005840" y="3913632"/>
            <a:ext cx="4572000" cy="228600"/>
          </a:xfrm>
          <a:prstGeom prst="rect">
            <a:avLst/>
          </a:prstGeom>
          <a:noFill/>
          <a:ln/>
        </p:spPr>
        <p:txBody>
          <a:bodyPr wrap="square" rtlCol="0" anchor="ctr"/>
          <a:lstStyle/>
          <a:p>
            <a:pPr marL="0" indent="0">
              <a:buNone/>
            </a:pPr>
            <a:r>
              <a:rPr lang="en-US" sz="900" dirty="0">
                <a:solidFill>
                  <a:srgbClr val="E2E8F0"/>
                </a:solidFill>
                <a:latin typeface="Calibri" pitchFamily="34" charset="0"/>
                <a:ea typeface="Calibri" pitchFamily="34" charset="-122"/>
                <a:cs typeface="Calibri" pitchFamily="34" charset="-120"/>
              </a:rPr>
              <a:t>Evolución de patrones de hospitalización</a:t>
            </a:r>
            <a:endParaRPr lang="en-US" sz="900" dirty="0"/>
          </a:p>
        </p:txBody>
      </p:sp>
      <p:sp>
        <p:nvSpPr>
          <p:cNvPr id="13" name="Shape 11"/>
          <p:cNvSpPr/>
          <p:nvPr/>
        </p:nvSpPr>
        <p:spPr>
          <a:xfrm>
            <a:off x="347472" y="4197096"/>
            <a:ext cx="128016" cy="128016"/>
          </a:xfrm>
          <a:prstGeom prst="ellipse">
            <a:avLst/>
          </a:prstGeom>
          <a:solidFill>
            <a:srgbClr val="0A7C92"/>
          </a:solidFill>
          <a:ln/>
        </p:spPr>
        <p:txBody>
          <a:bodyPr/>
          <a:lstStyle/>
          <a:p>
            <a:endParaRPr lang="es-CL"/>
          </a:p>
        </p:txBody>
      </p:sp>
      <p:sp>
        <p:nvSpPr>
          <p:cNvPr id="14" name="Text 12"/>
          <p:cNvSpPr/>
          <p:nvPr/>
        </p:nvSpPr>
        <p:spPr>
          <a:xfrm>
            <a:off x="530352" y="4142232"/>
            <a:ext cx="457200" cy="228600"/>
          </a:xfrm>
          <a:prstGeom prst="rect">
            <a:avLst/>
          </a:prstGeom>
          <a:noFill/>
          <a:ln/>
        </p:spPr>
        <p:txBody>
          <a:bodyPr wrap="square" rtlCol="0" anchor="ctr"/>
          <a:lstStyle/>
          <a:p>
            <a:pPr marL="0" indent="0">
              <a:buNone/>
            </a:pPr>
            <a:r>
              <a:rPr lang="en-US" sz="900" b="1" dirty="0">
                <a:solidFill>
                  <a:srgbClr val="12A3BE"/>
                </a:solidFill>
                <a:latin typeface="Calibri" pitchFamily="34" charset="0"/>
                <a:ea typeface="Calibri" pitchFamily="34" charset="-122"/>
                <a:cs typeface="Calibri" pitchFamily="34" charset="-120"/>
              </a:rPr>
              <a:t>P2</a:t>
            </a:r>
            <a:endParaRPr lang="en-US" sz="900" dirty="0"/>
          </a:p>
        </p:txBody>
      </p:sp>
      <p:sp>
        <p:nvSpPr>
          <p:cNvPr id="15" name="Text 13"/>
          <p:cNvSpPr/>
          <p:nvPr/>
        </p:nvSpPr>
        <p:spPr>
          <a:xfrm>
            <a:off x="1005840" y="4142232"/>
            <a:ext cx="4572000" cy="228600"/>
          </a:xfrm>
          <a:prstGeom prst="rect">
            <a:avLst/>
          </a:prstGeom>
          <a:noFill/>
          <a:ln/>
        </p:spPr>
        <p:txBody>
          <a:bodyPr wrap="square" rtlCol="0" anchor="ctr"/>
          <a:lstStyle/>
          <a:p>
            <a:pPr marL="0" indent="0">
              <a:buNone/>
            </a:pPr>
            <a:r>
              <a:rPr lang="en-US" sz="900" dirty="0">
                <a:solidFill>
                  <a:srgbClr val="E2E8F0"/>
                </a:solidFill>
                <a:latin typeface="Calibri" pitchFamily="34" charset="0"/>
                <a:ea typeface="Calibri" pitchFamily="34" charset="-122"/>
                <a:cs typeface="Calibri" pitchFamily="34" charset="-120"/>
              </a:rPr>
              <a:t>Cambios en complejidad clínica</a:t>
            </a:r>
            <a:endParaRPr lang="en-US" sz="900" dirty="0"/>
          </a:p>
        </p:txBody>
      </p:sp>
      <p:sp>
        <p:nvSpPr>
          <p:cNvPr id="16" name="Shape 14"/>
          <p:cNvSpPr/>
          <p:nvPr/>
        </p:nvSpPr>
        <p:spPr>
          <a:xfrm>
            <a:off x="347472" y="4425696"/>
            <a:ext cx="128016" cy="128016"/>
          </a:xfrm>
          <a:prstGeom prst="ellipse">
            <a:avLst/>
          </a:prstGeom>
          <a:solidFill>
            <a:srgbClr val="0A7C92"/>
          </a:solidFill>
          <a:ln/>
        </p:spPr>
        <p:txBody>
          <a:bodyPr/>
          <a:lstStyle/>
          <a:p>
            <a:endParaRPr lang="es-CL"/>
          </a:p>
        </p:txBody>
      </p:sp>
      <p:sp>
        <p:nvSpPr>
          <p:cNvPr id="17" name="Text 15"/>
          <p:cNvSpPr/>
          <p:nvPr/>
        </p:nvSpPr>
        <p:spPr>
          <a:xfrm>
            <a:off x="530352" y="4370832"/>
            <a:ext cx="457200" cy="228600"/>
          </a:xfrm>
          <a:prstGeom prst="rect">
            <a:avLst/>
          </a:prstGeom>
          <a:noFill/>
          <a:ln/>
        </p:spPr>
        <p:txBody>
          <a:bodyPr wrap="square" rtlCol="0" anchor="ctr"/>
          <a:lstStyle/>
          <a:p>
            <a:pPr marL="0" indent="0">
              <a:buNone/>
            </a:pPr>
            <a:r>
              <a:rPr lang="en-US" sz="900" b="1" dirty="0">
                <a:solidFill>
                  <a:srgbClr val="12A3BE"/>
                </a:solidFill>
                <a:latin typeface="Calibri" pitchFamily="34" charset="0"/>
                <a:ea typeface="Calibri" pitchFamily="34" charset="-122"/>
                <a:cs typeface="Calibri" pitchFamily="34" charset="-120"/>
              </a:rPr>
              <a:t>P3</a:t>
            </a:r>
            <a:endParaRPr lang="en-US" sz="900" dirty="0"/>
          </a:p>
        </p:txBody>
      </p:sp>
      <p:sp>
        <p:nvSpPr>
          <p:cNvPr id="18" name="Text 16"/>
          <p:cNvSpPr/>
          <p:nvPr/>
        </p:nvSpPr>
        <p:spPr>
          <a:xfrm>
            <a:off x="1005840" y="4370832"/>
            <a:ext cx="4572000" cy="228600"/>
          </a:xfrm>
          <a:prstGeom prst="rect">
            <a:avLst/>
          </a:prstGeom>
          <a:noFill/>
          <a:ln/>
        </p:spPr>
        <p:txBody>
          <a:bodyPr wrap="square" rtlCol="0" anchor="ctr"/>
          <a:lstStyle/>
          <a:p>
            <a:pPr marL="0" indent="0">
              <a:buNone/>
            </a:pPr>
            <a:r>
              <a:rPr lang="en-US" sz="900" dirty="0">
                <a:solidFill>
                  <a:srgbClr val="E2E8F0"/>
                </a:solidFill>
                <a:latin typeface="Calibri" pitchFamily="34" charset="0"/>
                <a:ea typeface="Calibri" pitchFamily="34" charset="-122"/>
                <a:cs typeface="Calibri" pitchFamily="34" charset="-120"/>
              </a:rPr>
              <a:t>Duración promedio de hospitalización</a:t>
            </a:r>
            <a:endParaRPr lang="en-US" sz="900" dirty="0"/>
          </a:p>
        </p:txBody>
      </p:sp>
      <p:sp>
        <p:nvSpPr>
          <p:cNvPr id="19" name="Shape 17"/>
          <p:cNvSpPr/>
          <p:nvPr/>
        </p:nvSpPr>
        <p:spPr>
          <a:xfrm>
            <a:off x="347472" y="4654296"/>
            <a:ext cx="128016" cy="128016"/>
          </a:xfrm>
          <a:prstGeom prst="ellipse">
            <a:avLst/>
          </a:prstGeom>
          <a:solidFill>
            <a:srgbClr val="0A7C92"/>
          </a:solidFill>
          <a:ln/>
        </p:spPr>
        <p:txBody>
          <a:bodyPr/>
          <a:lstStyle/>
          <a:p>
            <a:endParaRPr lang="es-CL"/>
          </a:p>
        </p:txBody>
      </p:sp>
      <p:sp>
        <p:nvSpPr>
          <p:cNvPr id="20" name="Text 18"/>
          <p:cNvSpPr/>
          <p:nvPr/>
        </p:nvSpPr>
        <p:spPr>
          <a:xfrm>
            <a:off x="530352" y="4599432"/>
            <a:ext cx="457200" cy="228600"/>
          </a:xfrm>
          <a:prstGeom prst="rect">
            <a:avLst/>
          </a:prstGeom>
          <a:noFill/>
          <a:ln/>
        </p:spPr>
        <p:txBody>
          <a:bodyPr wrap="square" rtlCol="0" anchor="ctr"/>
          <a:lstStyle/>
          <a:p>
            <a:pPr marL="0" indent="0">
              <a:buNone/>
            </a:pPr>
            <a:r>
              <a:rPr lang="en-US" sz="900" b="1" dirty="0">
                <a:solidFill>
                  <a:srgbClr val="12A3BE"/>
                </a:solidFill>
                <a:latin typeface="Calibri" pitchFamily="34" charset="0"/>
                <a:ea typeface="Calibri" pitchFamily="34" charset="-122"/>
                <a:cs typeface="Calibri" pitchFamily="34" charset="-120"/>
              </a:rPr>
              <a:t>P4</a:t>
            </a:r>
            <a:endParaRPr lang="en-US" sz="900" dirty="0"/>
          </a:p>
        </p:txBody>
      </p:sp>
      <p:sp>
        <p:nvSpPr>
          <p:cNvPr id="21" name="Text 19"/>
          <p:cNvSpPr/>
          <p:nvPr/>
        </p:nvSpPr>
        <p:spPr>
          <a:xfrm>
            <a:off x="1005840" y="4599432"/>
            <a:ext cx="4572000" cy="228600"/>
          </a:xfrm>
          <a:prstGeom prst="rect">
            <a:avLst/>
          </a:prstGeom>
          <a:noFill/>
          <a:ln/>
        </p:spPr>
        <p:txBody>
          <a:bodyPr wrap="square" rtlCol="0" anchor="ctr"/>
          <a:lstStyle/>
          <a:p>
            <a:pPr marL="0" indent="0">
              <a:buNone/>
            </a:pPr>
            <a:r>
              <a:rPr lang="en-US" sz="900" dirty="0">
                <a:solidFill>
                  <a:srgbClr val="E2E8F0"/>
                </a:solidFill>
                <a:latin typeface="Calibri" pitchFamily="34" charset="0"/>
                <a:ea typeface="Calibri" pitchFamily="34" charset="-122"/>
                <a:cs typeface="Calibri" pitchFamily="34" charset="-120"/>
              </a:rPr>
              <a:t>Eficiencia en el uso de camas</a:t>
            </a:r>
            <a:endParaRPr lang="en-US" sz="900" dirty="0"/>
          </a:p>
        </p:txBody>
      </p:sp>
      <p:sp>
        <p:nvSpPr>
          <p:cNvPr id="22" name="Shape 20"/>
          <p:cNvSpPr/>
          <p:nvPr/>
        </p:nvSpPr>
        <p:spPr>
          <a:xfrm>
            <a:off x="347472" y="4882896"/>
            <a:ext cx="128016" cy="128016"/>
          </a:xfrm>
          <a:prstGeom prst="ellipse">
            <a:avLst/>
          </a:prstGeom>
          <a:solidFill>
            <a:srgbClr val="0A7C92"/>
          </a:solidFill>
          <a:ln/>
        </p:spPr>
        <p:txBody>
          <a:bodyPr/>
          <a:lstStyle/>
          <a:p>
            <a:endParaRPr lang="es-CL"/>
          </a:p>
        </p:txBody>
      </p:sp>
      <p:sp>
        <p:nvSpPr>
          <p:cNvPr id="23" name="Text 21"/>
          <p:cNvSpPr/>
          <p:nvPr/>
        </p:nvSpPr>
        <p:spPr>
          <a:xfrm>
            <a:off x="530352" y="4828032"/>
            <a:ext cx="457200" cy="228600"/>
          </a:xfrm>
          <a:prstGeom prst="rect">
            <a:avLst/>
          </a:prstGeom>
          <a:noFill/>
          <a:ln/>
        </p:spPr>
        <p:txBody>
          <a:bodyPr wrap="square" rtlCol="0" anchor="ctr"/>
          <a:lstStyle/>
          <a:p>
            <a:pPr marL="0" indent="0">
              <a:buNone/>
            </a:pPr>
            <a:r>
              <a:rPr lang="en-US" sz="900" b="1" dirty="0">
                <a:solidFill>
                  <a:srgbClr val="12A3BE"/>
                </a:solidFill>
                <a:latin typeface="Calibri" pitchFamily="34" charset="0"/>
                <a:ea typeface="Calibri" pitchFamily="34" charset="-122"/>
                <a:cs typeface="Calibri" pitchFamily="34" charset="-120"/>
              </a:rPr>
              <a:t>P5</a:t>
            </a:r>
            <a:endParaRPr lang="en-US" sz="900" dirty="0"/>
          </a:p>
        </p:txBody>
      </p:sp>
      <p:sp>
        <p:nvSpPr>
          <p:cNvPr id="24" name="Text 22"/>
          <p:cNvSpPr/>
          <p:nvPr/>
        </p:nvSpPr>
        <p:spPr>
          <a:xfrm>
            <a:off x="1005840" y="4828032"/>
            <a:ext cx="4572000" cy="228600"/>
          </a:xfrm>
          <a:prstGeom prst="rect">
            <a:avLst/>
          </a:prstGeom>
          <a:noFill/>
          <a:ln/>
        </p:spPr>
        <p:txBody>
          <a:bodyPr wrap="square" rtlCol="0" anchor="ctr"/>
          <a:lstStyle/>
          <a:p>
            <a:pPr marL="0" indent="0">
              <a:buNone/>
            </a:pPr>
            <a:r>
              <a:rPr lang="en-US" sz="900" dirty="0">
                <a:solidFill>
                  <a:srgbClr val="E2E8F0"/>
                </a:solidFill>
                <a:latin typeface="Calibri" pitchFamily="34" charset="0"/>
                <a:ea typeface="Calibri" pitchFamily="34" charset="-122"/>
                <a:cs typeface="Calibri" pitchFamily="34" charset="-120"/>
              </a:rPr>
              <a:t>Relación ocupación vs letalidad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274320" y="164592"/>
            <a:ext cx="2011680" cy="256032"/>
          </a:xfrm>
          <a:prstGeom prst="roundRect">
            <a:avLst>
              <a:gd name="adj" fmla="val 14286"/>
            </a:avLst>
          </a:prstGeom>
          <a:solidFill>
            <a:srgbClr val="0A7C92"/>
          </a:solidFill>
          <a:ln/>
        </p:spPr>
        <p:txBody>
          <a:bodyPr/>
          <a:lstStyle/>
          <a:p>
            <a:endParaRPr lang="es-CL"/>
          </a:p>
        </p:txBody>
      </p:sp>
      <p:sp>
        <p:nvSpPr>
          <p:cNvPr id="3" name="Text 1"/>
          <p:cNvSpPr/>
          <p:nvPr/>
        </p:nvSpPr>
        <p:spPr>
          <a:xfrm>
            <a:off x="274320" y="173736"/>
            <a:ext cx="2011680" cy="237744"/>
          </a:xfrm>
          <a:prstGeom prst="rect">
            <a:avLst/>
          </a:prstGeom>
          <a:noFill/>
          <a:ln/>
        </p:spPr>
        <p:txBody>
          <a:bodyPr wrap="square" lIns="0" tIns="0" rIns="0" bIns="0" rtlCol="0" anchor="ctr"/>
          <a:lstStyle/>
          <a:p>
            <a:pPr marL="0" indent="0" algn="ctr">
              <a:buNone/>
            </a:pPr>
            <a:r>
              <a:rPr lang="en-US" sz="900" b="1" dirty="0">
                <a:solidFill>
                  <a:srgbClr val="FFFFFF"/>
                </a:solidFill>
              </a:rPr>
              <a:t>FUENTE DE DATOS</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¿Qué es el Dataset REM20?</a:t>
            </a:r>
            <a:endParaRPr lang="en-US" sz="2800" dirty="0"/>
          </a:p>
        </p:txBody>
      </p:sp>
      <p:sp>
        <p:nvSpPr>
          <p:cNvPr id="5" name="Text 3"/>
          <p:cNvSpPr/>
          <p:nvPr/>
        </p:nvSpPr>
        <p:spPr>
          <a:xfrm>
            <a:off x="457200" y="1097280"/>
            <a:ext cx="8229600" cy="320040"/>
          </a:xfrm>
          <a:prstGeom prst="rect">
            <a:avLst/>
          </a:prstGeom>
          <a:noFill/>
          <a:ln/>
        </p:spPr>
        <p:txBody>
          <a:bodyPr wrap="square" rtlCol="0" anchor="ctr"/>
          <a:lstStyle/>
          <a:p>
            <a:pPr marL="0" indent="0">
              <a:buNone/>
            </a:pPr>
            <a:r>
              <a:rPr lang="en-US" sz="1400" dirty="0">
                <a:solidFill>
                  <a:srgbClr val="0A7C92"/>
                </a:solidFill>
                <a:latin typeface="Calibri" pitchFamily="34" charset="0"/>
                <a:ea typeface="Calibri" pitchFamily="34" charset="-122"/>
                <a:cs typeface="Calibri" pitchFamily="34" charset="-120"/>
              </a:rPr>
              <a:t>Origen · Cobertura · Estructura</a:t>
            </a:r>
            <a:endParaRPr lang="en-US" sz="1400" dirty="0"/>
          </a:p>
        </p:txBody>
      </p:sp>
      <p:sp>
        <p:nvSpPr>
          <p:cNvPr id="6" name="Text 4"/>
          <p:cNvSpPr/>
          <p:nvPr/>
        </p:nvSpPr>
        <p:spPr>
          <a:xfrm>
            <a:off x="365760" y="1463040"/>
            <a:ext cx="4206240" cy="3383280"/>
          </a:xfrm>
          <a:prstGeom prst="rect">
            <a:avLst/>
          </a:prstGeom>
          <a:noFill/>
          <a:ln/>
        </p:spPr>
        <p:txBody>
          <a:bodyPr wrap="square" rtlCol="0" anchor="ctr"/>
          <a:lstStyle/>
          <a:p>
            <a:pPr marL="0" indent="0">
              <a:buNone/>
            </a:pPr>
            <a:r>
              <a:rPr lang="en-US" sz="1200" b="1" dirty="0">
                <a:solidFill>
                  <a:srgbClr val="0A7C92"/>
                </a:solidFill>
                <a:latin typeface="Calibri" pitchFamily="34" charset="0"/>
                <a:ea typeface="Calibri" pitchFamily="34" charset="-122"/>
                <a:cs typeface="Calibri" pitchFamily="34" charset="-120"/>
              </a:rPr>
              <a:t>Origen
</a:t>
            </a:r>
            <a:r>
              <a:rPr lang="en-US" sz="1100" dirty="0">
                <a:solidFill>
                  <a:srgbClr val="0D1B2A"/>
                </a:solidFill>
                <a:latin typeface="Calibri" pitchFamily="34" charset="0"/>
                <a:ea typeface="Calibri" pitchFamily="34" charset="-122"/>
                <a:cs typeface="Calibri" pitchFamily="34" charset="-120"/>
              </a:rPr>
              <a:t>Registro Estadístico Mensual N°20 (REM20)
del DEIS/MINSAL. Disponible en datos.gob.cl.
Cubre toda la red pública del SNSS.
</a:t>
            </a:r>
            <a:r>
              <a:rPr lang="en-US" sz="1200" b="1" dirty="0">
                <a:solidFill>
                  <a:srgbClr val="0A7C92"/>
                </a:solidFill>
                <a:latin typeface="Calibri" pitchFamily="34" charset="0"/>
                <a:ea typeface="Calibri" pitchFamily="34" charset="-122"/>
                <a:cs typeface="Calibri" pitchFamily="34" charset="-120"/>
              </a:rPr>
              <a:t>Cobertura temporal
</a:t>
            </a:r>
            <a:r>
              <a:rPr lang="en-US" sz="1100" dirty="0">
                <a:solidFill>
                  <a:srgbClr val="0D1B2A"/>
                </a:solidFill>
                <a:latin typeface="Calibri" pitchFamily="34" charset="0"/>
                <a:ea typeface="Calibri" pitchFamily="34" charset="-122"/>
                <a:cs typeface="Calibri" pitchFamily="34" charset="-120"/>
              </a:rPr>
              <a:t>2014 – 2025  (11 años completos)
</a:t>
            </a:r>
            <a:r>
              <a:rPr lang="en-US" sz="1200" b="1" dirty="0">
                <a:solidFill>
                  <a:srgbClr val="0A7C92"/>
                </a:solidFill>
                <a:latin typeface="Calibri" pitchFamily="34" charset="0"/>
                <a:ea typeface="Calibri" pitchFamily="34" charset="-122"/>
                <a:cs typeface="Calibri" pitchFamily="34" charset="-120"/>
              </a:rPr>
              <a:t>Estructura de cada fila
</a:t>
            </a:r>
            <a:r>
              <a:rPr lang="en-US" sz="1100" dirty="0">
                <a:solidFill>
                  <a:srgbClr val="0D1B2A"/>
                </a:solidFill>
                <a:latin typeface="Calibri" pitchFamily="34" charset="0"/>
                <a:ea typeface="Calibri" pitchFamily="34" charset="-122"/>
                <a:cs typeface="Calibri" pitchFamily="34" charset="-120"/>
              </a:rPr>
              <a:t>Cada fila = 1 mes + 1 área funcional + 1 establecimiento.</a:t>
            </a:r>
            <a:endParaRPr lang="en-US" sz="1200" dirty="0"/>
          </a:p>
          <a:p>
            <a:pPr marL="0" indent="0">
              <a:buNone/>
            </a:pPr>
            <a:r>
              <a:rPr lang="en-US" sz="1100" dirty="0">
                <a:solidFill>
                  <a:srgbClr val="0D1B2A"/>
                </a:solidFill>
                <a:latin typeface="Calibri" pitchFamily="34" charset="0"/>
                <a:ea typeface="Calibri" pitchFamily="34" charset="-122"/>
                <a:cs typeface="Calibri" pitchFamily="34" charset="-120"/>
              </a:rPr>
              <a:t>Ejemplo: Hospital San José · UCI Adultos · marzo 2022.</a:t>
            </a:r>
            <a:endParaRPr lang="en-US" sz="1200" dirty="0"/>
          </a:p>
          <a:p>
            <a:pPr marL="0" indent="0">
              <a:buNone/>
            </a:pPr>
            <a:r>
              <a:rPr lang="en-US" sz="1100" dirty="0">
                <a:solidFill>
                  <a:srgbClr val="0D1B2A"/>
                </a:solidFill>
                <a:latin typeface="Calibri" pitchFamily="34" charset="0"/>
                <a:ea typeface="Calibri" pitchFamily="34" charset="-122"/>
                <a:cs typeface="Calibri" pitchFamily="34" charset="-120"/>
              </a:rPr>
              <a:t>En esa única fila está resumido todo lo ocurrido ese mes en esa unidad.</a:t>
            </a:r>
            <a:endParaRPr lang="en-US" sz="1200" dirty="0"/>
          </a:p>
        </p:txBody>
      </p:sp>
      <p:sp>
        <p:nvSpPr>
          <p:cNvPr id="7" name="Shape 5"/>
          <p:cNvSpPr/>
          <p:nvPr/>
        </p:nvSpPr>
        <p:spPr>
          <a:xfrm>
            <a:off x="4937760" y="1417320"/>
            <a:ext cx="182880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s-CL"/>
          </a:p>
        </p:txBody>
      </p:sp>
      <p:sp>
        <p:nvSpPr>
          <p:cNvPr id="8" name="Shape 6"/>
          <p:cNvSpPr/>
          <p:nvPr/>
        </p:nvSpPr>
        <p:spPr>
          <a:xfrm>
            <a:off x="4937760" y="1417320"/>
            <a:ext cx="1828800" cy="54864"/>
          </a:xfrm>
          <a:prstGeom prst="rect">
            <a:avLst/>
          </a:prstGeom>
          <a:solidFill>
            <a:srgbClr val="0A7C92"/>
          </a:solidFill>
          <a:ln/>
        </p:spPr>
        <p:txBody>
          <a:bodyPr/>
          <a:lstStyle/>
          <a:p>
            <a:endParaRPr lang="es-CL"/>
          </a:p>
        </p:txBody>
      </p:sp>
      <p:sp>
        <p:nvSpPr>
          <p:cNvPr id="9" name="Text 7"/>
          <p:cNvSpPr/>
          <p:nvPr/>
        </p:nvSpPr>
        <p:spPr>
          <a:xfrm>
            <a:off x="4937760" y="1554480"/>
            <a:ext cx="1828800" cy="553212"/>
          </a:xfrm>
          <a:prstGeom prst="rect">
            <a:avLst/>
          </a:prstGeom>
          <a:noFill/>
          <a:ln/>
        </p:spPr>
        <p:txBody>
          <a:bodyPr wrap="square" rtlCol="0" anchor="ctr"/>
          <a:lstStyle/>
          <a:p>
            <a:pPr marL="0" indent="0" algn="ctr">
              <a:buNone/>
            </a:pPr>
            <a:r>
              <a:rPr lang="en-US" sz="3200" b="1" dirty="0">
                <a:solidFill>
                  <a:srgbClr val="0A7C92"/>
                </a:solidFill>
                <a:latin typeface="Calibri" pitchFamily="34" charset="0"/>
                <a:ea typeface="Calibri" pitchFamily="34" charset="-122"/>
                <a:cs typeface="Calibri" pitchFamily="34" charset="-120"/>
              </a:rPr>
              <a:t>159.788</a:t>
            </a:r>
            <a:endParaRPr lang="en-US" sz="3200" dirty="0"/>
          </a:p>
        </p:txBody>
      </p:sp>
      <p:sp>
        <p:nvSpPr>
          <p:cNvPr id="10" name="Text 8"/>
          <p:cNvSpPr/>
          <p:nvPr/>
        </p:nvSpPr>
        <p:spPr>
          <a:xfrm>
            <a:off x="5029200" y="2020824"/>
            <a:ext cx="1645920" cy="382219"/>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Registros originales</a:t>
            </a:r>
            <a:endParaRPr lang="en-US" sz="1000" dirty="0"/>
          </a:p>
        </p:txBody>
      </p:sp>
      <p:sp>
        <p:nvSpPr>
          <p:cNvPr id="11" name="Shape 9"/>
          <p:cNvSpPr/>
          <p:nvPr/>
        </p:nvSpPr>
        <p:spPr>
          <a:xfrm>
            <a:off x="6949440" y="1417320"/>
            <a:ext cx="182880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s-CL"/>
          </a:p>
        </p:txBody>
      </p:sp>
      <p:sp>
        <p:nvSpPr>
          <p:cNvPr id="12" name="Shape 10"/>
          <p:cNvSpPr/>
          <p:nvPr/>
        </p:nvSpPr>
        <p:spPr>
          <a:xfrm>
            <a:off x="6949440" y="1417320"/>
            <a:ext cx="1828800" cy="54864"/>
          </a:xfrm>
          <a:prstGeom prst="rect">
            <a:avLst/>
          </a:prstGeom>
          <a:solidFill>
            <a:srgbClr val="2EAA6A"/>
          </a:solidFill>
          <a:ln/>
        </p:spPr>
        <p:txBody>
          <a:bodyPr/>
          <a:lstStyle/>
          <a:p>
            <a:endParaRPr lang="es-CL"/>
          </a:p>
        </p:txBody>
      </p:sp>
      <p:sp>
        <p:nvSpPr>
          <p:cNvPr id="13" name="Text 11"/>
          <p:cNvSpPr/>
          <p:nvPr/>
        </p:nvSpPr>
        <p:spPr>
          <a:xfrm>
            <a:off x="6949440" y="1554480"/>
            <a:ext cx="1828800" cy="553212"/>
          </a:xfrm>
          <a:prstGeom prst="rect">
            <a:avLst/>
          </a:prstGeom>
          <a:noFill/>
          <a:ln/>
        </p:spPr>
        <p:txBody>
          <a:bodyPr wrap="square" rtlCol="0" anchor="ctr"/>
          <a:lstStyle/>
          <a:p>
            <a:pPr marL="0" indent="0" algn="ctr">
              <a:buNone/>
            </a:pPr>
            <a:r>
              <a:rPr lang="en-US" sz="3200" b="1" dirty="0">
                <a:solidFill>
                  <a:srgbClr val="2EAA6A"/>
                </a:solidFill>
                <a:latin typeface="Calibri" pitchFamily="34" charset="0"/>
                <a:ea typeface="Calibri" pitchFamily="34" charset="-122"/>
                <a:cs typeface="Calibri" pitchFamily="34" charset="-120"/>
              </a:rPr>
              <a:t>157.996</a:t>
            </a:r>
            <a:endParaRPr lang="en-US" sz="3200" dirty="0"/>
          </a:p>
        </p:txBody>
      </p:sp>
      <p:sp>
        <p:nvSpPr>
          <p:cNvPr id="14" name="Text 12"/>
          <p:cNvSpPr/>
          <p:nvPr/>
        </p:nvSpPr>
        <p:spPr>
          <a:xfrm>
            <a:off x="7040880" y="2020824"/>
            <a:ext cx="1645920" cy="382219"/>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Tras limpieza</a:t>
            </a:r>
            <a:endParaRPr lang="en-US" sz="1000" dirty="0"/>
          </a:p>
        </p:txBody>
      </p:sp>
      <p:sp>
        <p:nvSpPr>
          <p:cNvPr id="15" name="Shape 13"/>
          <p:cNvSpPr/>
          <p:nvPr/>
        </p:nvSpPr>
        <p:spPr>
          <a:xfrm>
            <a:off x="4937760" y="2606040"/>
            <a:ext cx="182880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s-CL"/>
          </a:p>
        </p:txBody>
      </p:sp>
      <p:sp>
        <p:nvSpPr>
          <p:cNvPr id="16" name="Shape 14"/>
          <p:cNvSpPr/>
          <p:nvPr/>
        </p:nvSpPr>
        <p:spPr>
          <a:xfrm>
            <a:off x="4937760" y="2606040"/>
            <a:ext cx="1828800" cy="54864"/>
          </a:xfrm>
          <a:prstGeom prst="rect">
            <a:avLst/>
          </a:prstGeom>
          <a:solidFill>
            <a:srgbClr val="0A7C92"/>
          </a:solidFill>
          <a:ln/>
        </p:spPr>
        <p:txBody>
          <a:bodyPr/>
          <a:lstStyle/>
          <a:p>
            <a:endParaRPr lang="es-CL"/>
          </a:p>
        </p:txBody>
      </p:sp>
      <p:sp>
        <p:nvSpPr>
          <p:cNvPr id="17" name="Text 15"/>
          <p:cNvSpPr/>
          <p:nvPr/>
        </p:nvSpPr>
        <p:spPr>
          <a:xfrm>
            <a:off x="4937760" y="2743200"/>
            <a:ext cx="1828800" cy="553212"/>
          </a:xfrm>
          <a:prstGeom prst="rect">
            <a:avLst/>
          </a:prstGeom>
          <a:noFill/>
          <a:ln/>
        </p:spPr>
        <p:txBody>
          <a:bodyPr wrap="square" rtlCol="0" anchor="ctr"/>
          <a:lstStyle/>
          <a:p>
            <a:pPr marL="0" indent="0" algn="ctr">
              <a:buNone/>
            </a:pPr>
            <a:r>
              <a:rPr lang="en-US" sz="3200" b="1" dirty="0">
                <a:solidFill>
                  <a:srgbClr val="0A7C92"/>
                </a:solidFill>
                <a:latin typeface="Calibri" pitchFamily="34" charset="0"/>
                <a:ea typeface="Calibri" pitchFamily="34" charset="-122"/>
                <a:cs typeface="Calibri" pitchFamily="34" charset="-120"/>
              </a:rPr>
              <a:t>313</a:t>
            </a:r>
            <a:endParaRPr lang="en-US" sz="3200" dirty="0"/>
          </a:p>
        </p:txBody>
      </p:sp>
      <p:sp>
        <p:nvSpPr>
          <p:cNvPr id="18" name="Text 16"/>
          <p:cNvSpPr/>
          <p:nvPr/>
        </p:nvSpPr>
        <p:spPr>
          <a:xfrm>
            <a:off x="5029200" y="3209544"/>
            <a:ext cx="1645920" cy="382219"/>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Establecimientos</a:t>
            </a:r>
            <a:endParaRPr lang="en-US" sz="1000" dirty="0"/>
          </a:p>
        </p:txBody>
      </p:sp>
      <p:sp>
        <p:nvSpPr>
          <p:cNvPr id="19" name="Shape 17"/>
          <p:cNvSpPr/>
          <p:nvPr/>
        </p:nvSpPr>
        <p:spPr>
          <a:xfrm>
            <a:off x="6949440" y="2606040"/>
            <a:ext cx="182880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s-CL"/>
          </a:p>
        </p:txBody>
      </p:sp>
      <p:sp>
        <p:nvSpPr>
          <p:cNvPr id="20" name="Shape 18"/>
          <p:cNvSpPr/>
          <p:nvPr/>
        </p:nvSpPr>
        <p:spPr>
          <a:xfrm>
            <a:off x="6949440" y="2606040"/>
            <a:ext cx="1828800" cy="54864"/>
          </a:xfrm>
          <a:prstGeom prst="rect">
            <a:avLst/>
          </a:prstGeom>
          <a:solidFill>
            <a:srgbClr val="4A90D9"/>
          </a:solidFill>
          <a:ln/>
        </p:spPr>
        <p:txBody>
          <a:bodyPr/>
          <a:lstStyle/>
          <a:p>
            <a:endParaRPr lang="es-CL"/>
          </a:p>
        </p:txBody>
      </p:sp>
      <p:sp>
        <p:nvSpPr>
          <p:cNvPr id="21" name="Text 19"/>
          <p:cNvSpPr/>
          <p:nvPr/>
        </p:nvSpPr>
        <p:spPr>
          <a:xfrm>
            <a:off x="6949440" y="2743200"/>
            <a:ext cx="1828800" cy="553212"/>
          </a:xfrm>
          <a:prstGeom prst="rect">
            <a:avLst/>
          </a:prstGeom>
          <a:noFill/>
          <a:ln/>
        </p:spPr>
        <p:txBody>
          <a:bodyPr wrap="square" rtlCol="0" anchor="ctr"/>
          <a:lstStyle/>
          <a:p>
            <a:pPr marL="0" indent="0" algn="ctr">
              <a:buNone/>
            </a:pPr>
            <a:r>
              <a:rPr lang="en-US" sz="3200" b="1" dirty="0">
                <a:solidFill>
                  <a:srgbClr val="4A90D9"/>
                </a:solidFill>
                <a:latin typeface="Calibri" pitchFamily="34" charset="0"/>
                <a:ea typeface="Calibri" pitchFamily="34" charset="-122"/>
                <a:cs typeface="Calibri" pitchFamily="34" charset="-120"/>
              </a:rPr>
              <a:t>31</a:t>
            </a:r>
            <a:endParaRPr lang="en-US" sz="3200" dirty="0"/>
          </a:p>
        </p:txBody>
      </p:sp>
      <p:sp>
        <p:nvSpPr>
          <p:cNvPr id="22" name="Text 20"/>
          <p:cNvSpPr/>
          <p:nvPr/>
        </p:nvSpPr>
        <p:spPr>
          <a:xfrm>
            <a:off x="7040880" y="3209544"/>
            <a:ext cx="1645920" cy="382219"/>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Áreas funcionales</a:t>
            </a:r>
            <a:endParaRPr lang="en-US" sz="1000" dirty="0"/>
          </a:p>
        </p:txBody>
      </p:sp>
      <p:sp>
        <p:nvSpPr>
          <p:cNvPr id="23" name="Shape 21"/>
          <p:cNvSpPr/>
          <p:nvPr/>
        </p:nvSpPr>
        <p:spPr>
          <a:xfrm>
            <a:off x="4937760" y="3749040"/>
            <a:ext cx="182880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s-CL"/>
          </a:p>
        </p:txBody>
      </p:sp>
      <p:sp>
        <p:nvSpPr>
          <p:cNvPr id="24" name="Shape 22"/>
          <p:cNvSpPr/>
          <p:nvPr/>
        </p:nvSpPr>
        <p:spPr>
          <a:xfrm>
            <a:off x="4937760" y="3749040"/>
            <a:ext cx="1828800" cy="54864"/>
          </a:xfrm>
          <a:prstGeom prst="rect">
            <a:avLst/>
          </a:prstGeom>
          <a:solidFill>
            <a:srgbClr val="0A7C92"/>
          </a:solidFill>
          <a:ln/>
        </p:spPr>
        <p:txBody>
          <a:bodyPr/>
          <a:lstStyle/>
          <a:p>
            <a:endParaRPr lang="es-CL"/>
          </a:p>
        </p:txBody>
      </p:sp>
      <p:sp>
        <p:nvSpPr>
          <p:cNvPr id="25" name="Text 23"/>
          <p:cNvSpPr/>
          <p:nvPr/>
        </p:nvSpPr>
        <p:spPr>
          <a:xfrm>
            <a:off x="4937760" y="3886200"/>
            <a:ext cx="1828800" cy="553212"/>
          </a:xfrm>
          <a:prstGeom prst="rect">
            <a:avLst/>
          </a:prstGeom>
          <a:noFill/>
          <a:ln/>
        </p:spPr>
        <p:txBody>
          <a:bodyPr wrap="square" rtlCol="0" anchor="ctr"/>
          <a:lstStyle/>
          <a:p>
            <a:pPr marL="0" indent="0" algn="ctr">
              <a:buNone/>
            </a:pPr>
            <a:r>
              <a:rPr lang="en-US" sz="3200" b="1" dirty="0">
                <a:solidFill>
                  <a:srgbClr val="0A7C92"/>
                </a:solidFill>
                <a:latin typeface="Calibri" pitchFamily="34" charset="0"/>
                <a:ea typeface="Calibri" pitchFamily="34" charset="-122"/>
                <a:cs typeface="Calibri" pitchFamily="34" charset="-120"/>
              </a:rPr>
              <a:t>20</a:t>
            </a:r>
            <a:endParaRPr lang="en-US" sz="3200" dirty="0"/>
          </a:p>
        </p:txBody>
      </p:sp>
      <p:sp>
        <p:nvSpPr>
          <p:cNvPr id="26" name="Text 24"/>
          <p:cNvSpPr/>
          <p:nvPr/>
        </p:nvSpPr>
        <p:spPr>
          <a:xfrm>
            <a:off x="5029200" y="4352544"/>
            <a:ext cx="1645920" cy="382219"/>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Variables</a:t>
            </a:r>
            <a:endParaRPr lang="en-US" sz="1000" dirty="0"/>
          </a:p>
        </p:txBody>
      </p:sp>
      <p:sp>
        <p:nvSpPr>
          <p:cNvPr id="27" name="Shape 25"/>
          <p:cNvSpPr/>
          <p:nvPr/>
        </p:nvSpPr>
        <p:spPr>
          <a:xfrm>
            <a:off x="6949440" y="3749040"/>
            <a:ext cx="182880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s-CL"/>
          </a:p>
        </p:txBody>
      </p:sp>
      <p:sp>
        <p:nvSpPr>
          <p:cNvPr id="28" name="Shape 26"/>
          <p:cNvSpPr/>
          <p:nvPr/>
        </p:nvSpPr>
        <p:spPr>
          <a:xfrm>
            <a:off x="6949440" y="3749040"/>
            <a:ext cx="1828800" cy="54864"/>
          </a:xfrm>
          <a:prstGeom prst="rect">
            <a:avLst/>
          </a:prstGeom>
          <a:solidFill>
            <a:srgbClr val="F5A623"/>
          </a:solidFill>
          <a:ln/>
        </p:spPr>
        <p:txBody>
          <a:bodyPr/>
          <a:lstStyle/>
          <a:p>
            <a:endParaRPr lang="es-CL"/>
          </a:p>
        </p:txBody>
      </p:sp>
      <p:sp>
        <p:nvSpPr>
          <p:cNvPr id="29" name="Text 27"/>
          <p:cNvSpPr/>
          <p:nvPr/>
        </p:nvSpPr>
        <p:spPr>
          <a:xfrm>
            <a:off x="6949440" y="3886200"/>
            <a:ext cx="1828800" cy="553212"/>
          </a:xfrm>
          <a:prstGeom prst="rect">
            <a:avLst/>
          </a:prstGeom>
          <a:noFill/>
          <a:ln/>
        </p:spPr>
        <p:txBody>
          <a:bodyPr wrap="square" rtlCol="0" anchor="ctr"/>
          <a:lstStyle/>
          <a:p>
            <a:pPr marL="0" indent="0" algn="ctr">
              <a:buNone/>
            </a:pPr>
            <a:r>
              <a:rPr lang="en-US" sz="3200" b="1" dirty="0">
                <a:solidFill>
                  <a:srgbClr val="F5A623"/>
                </a:solidFill>
                <a:latin typeface="Calibri" pitchFamily="34" charset="0"/>
                <a:ea typeface="Calibri" pitchFamily="34" charset="-122"/>
                <a:cs typeface="Calibri" pitchFamily="34" charset="-120"/>
              </a:rPr>
              <a:t>29</a:t>
            </a:r>
            <a:endParaRPr lang="en-US" sz="3200" dirty="0"/>
          </a:p>
        </p:txBody>
      </p:sp>
      <p:sp>
        <p:nvSpPr>
          <p:cNvPr id="30" name="Text 28"/>
          <p:cNvSpPr/>
          <p:nvPr/>
        </p:nvSpPr>
        <p:spPr>
          <a:xfrm>
            <a:off x="7040880" y="4352544"/>
            <a:ext cx="1645920" cy="382219"/>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Servicios de salud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74320" y="164592"/>
            <a:ext cx="2011680" cy="256032"/>
          </a:xfrm>
          <a:prstGeom prst="roundRect">
            <a:avLst>
              <a:gd name="adj" fmla="val 14286"/>
            </a:avLst>
          </a:prstGeom>
          <a:solidFill>
            <a:srgbClr val="0A7C92"/>
          </a:solidFill>
          <a:ln/>
        </p:spPr>
        <p:txBody>
          <a:bodyPr/>
          <a:lstStyle/>
          <a:p>
            <a:endParaRPr lang="es-CL"/>
          </a:p>
        </p:txBody>
      </p:sp>
      <p:sp>
        <p:nvSpPr>
          <p:cNvPr id="3" name="Text 1"/>
          <p:cNvSpPr/>
          <p:nvPr/>
        </p:nvSpPr>
        <p:spPr>
          <a:xfrm>
            <a:off x="274320" y="173736"/>
            <a:ext cx="2011680" cy="237744"/>
          </a:xfrm>
          <a:prstGeom prst="rect">
            <a:avLst/>
          </a:prstGeom>
          <a:noFill/>
          <a:ln/>
        </p:spPr>
        <p:txBody>
          <a:bodyPr wrap="square" lIns="0" tIns="0" rIns="0" bIns="0" rtlCol="0" anchor="ctr"/>
          <a:lstStyle/>
          <a:p>
            <a:pPr marL="0" indent="0" algn="ctr">
              <a:buNone/>
            </a:pPr>
            <a:r>
              <a:rPr lang="en-US" sz="900" b="1" dirty="0">
                <a:solidFill>
                  <a:srgbClr val="FFFFFF"/>
                </a:solidFill>
              </a:rPr>
              <a:t>VARIABLES</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Variables Utilizadas y Justificación</a:t>
            </a:r>
            <a:endParaRPr lang="en-US" sz="2800" dirty="0"/>
          </a:p>
        </p:txBody>
      </p:sp>
      <p:sp>
        <p:nvSpPr>
          <p:cNvPr id="5" name="Shape 3"/>
          <p:cNvSpPr/>
          <p:nvPr/>
        </p:nvSpPr>
        <p:spPr>
          <a:xfrm>
            <a:off x="320040" y="1417320"/>
            <a:ext cx="4160520" cy="1005840"/>
          </a:xfrm>
          <a:prstGeom prst="rect">
            <a:avLst/>
          </a:prstGeom>
          <a:solidFill>
            <a:srgbClr val="F4F8F9"/>
          </a:solidFill>
          <a:ln/>
          <a:effectLst>
            <a:outerShdw blurRad="50800" dist="12700" dir="8100000" algn="bl" rotWithShape="0">
              <a:srgbClr val="000000">
                <a:alpha val="6000"/>
              </a:srgbClr>
            </a:outerShdw>
          </a:effectLst>
        </p:spPr>
        <p:txBody>
          <a:bodyPr/>
          <a:lstStyle/>
          <a:p>
            <a:endParaRPr lang="es-CL"/>
          </a:p>
        </p:txBody>
      </p:sp>
      <p:sp>
        <p:nvSpPr>
          <p:cNvPr id="6" name="Shape 4"/>
          <p:cNvSpPr/>
          <p:nvPr/>
        </p:nvSpPr>
        <p:spPr>
          <a:xfrm>
            <a:off x="320040" y="1417320"/>
            <a:ext cx="64008" cy="1005840"/>
          </a:xfrm>
          <a:prstGeom prst="rect">
            <a:avLst/>
          </a:prstGeom>
          <a:solidFill>
            <a:srgbClr val="0A7C92"/>
          </a:solidFill>
          <a:ln/>
        </p:spPr>
        <p:txBody>
          <a:bodyPr/>
          <a:lstStyle/>
          <a:p>
            <a:endParaRPr lang="es-CL"/>
          </a:p>
        </p:txBody>
      </p:sp>
      <p:sp>
        <p:nvSpPr>
          <p:cNvPr id="7" name="Text 5"/>
          <p:cNvSpPr/>
          <p:nvPr/>
        </p:nvSpPr>
        <p:spPr>
          <a:xfrm>
            <a:off x="457200" y="1490472"/>
            <a:ext cx="3931920" cy="228600"/>
          </a:xfrm>
          <a:prstGeom prst="rect">
            <a:avLst/>
          </a:prstGeom>
          <a:noFill/>
          <a:ln/>
        </p:spPr>
        <p:txBody>
          <a:bodyPr wrap="square" rtlCol="0" anchor="ctr"/>
          <a:lstStyle/>
          <a:p>
            <a:pPr marL="0" indent="0">
              <a:buNone/>
            </a:pPr>
            <a:r>
              <a:rPr lang="en-US" sz="1000" b="1" dirty="0">
                <a:solidFill>
                  <a:srgbClr val="0A7C92"/>
                </a:solidFill>
                <a:latin typeface="Courier New" pitchFamily="34" charset="0"/>
                <a:ea typeface="Courier New" pitchFamily="34" charset="-122"/>
                <a:cs typeface="Courier New" pitchFamily="34" charset="-120"/>
              </a:rPr>
              <a:t>INDICE_OCUPACIONAL</a:t>
            </a:r>
            <a:endParaRPr lang="en-US" sz="1000" dirty="0"/>
          </a:p>
        </p:txBody>
      </p:sp>
      <p:sp>
        <p:nvSpPr>
          <p:cNvPr id="8" name="Text 6"/>
          <p:cNvSpPr/>
          <p:nvPr/>
        </p:nvSpPr>
        <p:spPr>
          <a:xfrm>
            <a:off x="457200" y="1719072"/>
            <a:ext cx="3931920" cy="201168"/>
          </a:xfrm>
          <a:prstGeom prst="rect">
            <a:avLst/>
          </a:prstGeom>
          <a:noFill/>
          <a:ln/>
        </p:spPr>
        <p:txBody>
          <a:bodyPr wrap="square" rtlCol="0" anchor="ctr"/>
          <a:lstStyle/>
          <a:p>
            <a:pPr marL="0" indent="0">
              <a:buNone/>
            </a:pPr>
            <a:r>
              <a:rPr lang="en-US" sz="950" dirty="0">
                <a:solidFill>
                  <a:srgbClr val="0D1B2A"/>
                </a:solidFill>
                <a:latin typeface="Calibri" pitchFamily="34" charset="0"/>
                <a:ea typeface="Calibri" pitchFamily="34" charset="-122"/>
                <a:cs typeface="Calibri" pitchFamily="34" charset="-120"/>
              </a:rPr>
              <a:t>% camas ocupadas / disponibles</a:t>
            </a:r>
            <a:endParaRPr lang="en-US" sz="950" dirty="0"/>
          </a:p>
        </p:txBody>
      </p:sp>
      <p:sp>
        <p:nvSpPr>
          <p:cNvPr id="9" name="Text 7"/>
          <p:cNvSpPr/>
          <p:nvPr/>
        </p:nvSpPr>
        <p:spPr>
          <a:xfrm>
            <a:off x="457200" y="1920240"/>
            <a:ext cx="3931920" cy="4114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Mide eficiencia operacional del servicio. Umbral OMS: 70–85%.</a:t>
            </a:r>
            <a:endParaRPr lang="en-US" sz="850" dirty="0"/>
          </a:p>
        </p:txBody>
      </p:sp>
      <p:sp>
        <p:nvSpPr>
          <p:cNvPr id="10" name="Shape 8"/>
          <p:cNvSpPr/>
          <p:nvPr/>
        </p:nvSpPr>
        <p:spPr>
          <a:xfrm>
            <a:off x="320040" y="2532888"/>
            <a:ext cx="4160520"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s-CL"/>
          </a:p>
        </p:txBody>
      </p:sp>
      <p:sp>
        <p:nvSpPr>
          <p:cNvPr id="11" name="Shape 9"/>
          <p:cNvSpPr/>
          <p:nvPr/>
        </p:nvSpPr>
        <p:spPr>
          <a:xfrm>
            <a:off x="320040" y="2532888"/>
            <a:ext cx="64008" cy="1005840"/>
          </a:xfrm>
          <a:prstGeom prst="rect">
            <a:avLst/>
          </a:prstGeom>
          <a:solidFill>
            <a:srgbClr val="0A7C92"/>
          </a:solidFill>
          <a:ln/>
        </p:spPr>
        <p:txBody>
          <a:bodyPr/>
          <a:lstStyle/>
          <a:p>
            <a:endParaRPr lang="es-CL"/>
          </a:p>
        </p:txBody>
      </p:sp>
      <p:sp>
        <p:nvSpPr>
          <p:cNvPr id="12" name="Text 10"/>
          <p:cNvSpPr/>
          <p:nvPr/>
        </p:nvSpPr>
        <p:spPr>
          <a:xfrm>
            <a:off x="457200" y="2606040"/>
            <a:ext cx="3931920" cy="228600"/>
          </a:xfrm>
          <a:prstGeom prst="rect">
            <a:avLst/>
          </a:prstGeom>
          <a:noFill/>
          <a:ln/>
        </p:spPr>
        <p:txBody>
          <a:bodyPr wrap="square" rtlCol="0" anchor="ctr"/>
          <a:lstStyle/>
          <a:p>
            <a:pPr marL="0" indent="0">
              <a:buNone/>
            </a:pPr>
            <a:r>
              <a:rPr lang="en-US" sz="1000" b="1" dirty="0">
                <a:solidFill>
                  <a:srgbClr val="0A7C92"/>
                </a:solidFill>
                <a:latin typeface="Courier New" pitchFamily="34" charset="0"/>
                <a:ea typeface="Courier New" pitchFamily="34" charset="-122"/>
                <a:cs typeface="Courier New" pitchFamily="34" charset="-120"/>
              </a:rPr>
              <a:t>LETALIDAD</a:t>
            </a:r>
            <a:endParaRPr lang="en-US" sz="1000" dirty="0"/>
          </a:p>
        </p:txBody>
      </p:sp>
      <p:sp>
        <p:nvSpPr>
          <p:cNvPr id="13" name="Text 11"/>
          <p:cNvSpPr/>
          <p:nvPr/>
        </p:nvSpPr>
        <p:spPr>
          <a:xfrm>
            <a:off x="457200" y="2834640"/>
            <a:ext cx="3931920" cy="201168"/>
          </a:xfrm>
          <a:prstGeom prst="rect">
            <a:avLst/>
          </a:prstGeom>
          <a:noFill/>
          <a:ln/>
        </p:spPr>
        <p:txBody>
          <a:bodyPr wrap="square" rtlCol="0" anchor="ctr"/>
          <a:lstStyle/>
          <a:p>
            <a:pPr marL="0" indent="0">
              <a:buNone/>
            </a:pPr>
            <a:r>
              <a:rPr lang="en-US" sz="950" dirty="0">
                <a:solidFill>
                  <a:srgbClr val="0D1B2A"/>
                </a:solidFill>
                <a:latin typeface="Calibri" pitchFamily="34" charset="0"/>
                <a:ea typeface="Calibri" pitchFamily="34" charset="-122"/>
                <a:cs typeface="Calibri" pitchFamily="34" charset="-120"/>
              </a:rPr>
              <a:t>% egresos que son fallecimientos</a:t>
            </a:r>
            <a:endParaRPr lang="en-US" sz="950" dirty="0"/>
          </a:p>
        </p:txBody>
      </p:sp>
      <p:sp>
        <p:nvSpPr>
          <p:cNvPr id="14" name="Text 12"/>
          <p:cNvSpPr/>
          <p:nvPr/>
        </p:nvSpPr>
        <p:spPr>
          <a:xfrm>
            <a:off x="457200" y="3035808"/>
            <a:ext cx="3931920" cy="4114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Indicador de resultado clínico. Permite evaluar relación con ocupación.</a:t>
            </a:r>
            <a:endParaRPr lang="en-US" sz="850" dirty="0"/>
          </a:p>
        </p:txBody>
      </p:sp>
      <p:sp>
        <p:nvSpPr>
          <p:cNvPr id="15" name="Shape 13"/>
          <p:cNvSpPr/>
          <p:nvPr/>
        </p:nvSpPr>
        <p:spPr>
          <a:xfrm>
            <a:off x="320040" y="3648456"/>
            <a:ext cx="4160520" cy="1005840"/>
          </a:xfrm>
          <a:prstGeom prst="rect">
            <a:avLst/>
          </a:prstGeom>
          <a:solidFill>
            <a:srgbClr val="F4F8F9"/>
          </a:solidFill>
          <a:ln/>
          <a:effectLst>
            <a:outerShdw blurRad="50800" dist="12700" dir="8100000" algn="bl" rotWithShape="0">
              <a:srgbClr val="000000">
                <a:alpha val="6000"/>
              </a:srgbClr>
            </a:outerShdw>
          </a:effectLst>
        </p:spPr>
        <p:txBody>
          <a:bodyPr/>
          <a:lstStyle/>
          <a:p>
            <a:endParaRPr lang="es-CL"/>
          </a:p>
        </p:txBody>
      </p:sp>
      <p:sp>
        <p:nvSpPr>
          <p:cNvPr id="16" name="Shape 14"/>
          <p:cNvSpPr/>
          <p:nvPr/>
        </p:nvSpPr>
        <p:spPr>
          <a:xfrm>
            <a:off x="320040" y="3648456"/>
            <a:ext cx="64008" cy="1005840"/>
          </a:xfrm>
          <a:prstGeom prst="rect">
            <a:avLst/>
          </a:prstGeom>
          <a:solidFill>
            <a:srgbClr val="0A7C92"/>
          </a:solidFill>
          <a:ln/>
        </p:spPr>
        <p:txBody>
          <a:bodyPr/>
          <a:lstStyle/>
          <a:p>
            <a:endParaRPr lang="es-CL"/>
          </a:p>
        </p:txBody>
      </p:sp>
      <p:sp>
        <p:nvSpPr>
          <p:cNvPr id="17" name="Text 15"/>
          <p:cNvSpPr/>
          <p:nvPr/>
        </p:nvSpPr>
        <p:spPr>
          <a:xfrm>
            <a:off x="457200" y="3721608"/>
            <a:ext cx="3931920" cy="228600"/>
          </a:xfrm>
          <a:prstGeom prst="rect">
            <a:avLst/>
          </a:prstGeom>
          <a:noFill/>
          <a:ln/>
        </p:spPr>
        <p:txBody>
          <a:bodyPr wrap="square" rtlCol="0" anchor="ctr"/>
          <a:lstStyle/>
          <a:p>
            <a:pPr marL="0" indent="0">
              <a:buNone/>
            </a:pPr>
            <a:r>
              <a:rPr lang="en-US" sz="1000" b="1" dirty="0">
                <a:solidFill>
                  <a:srgbClr val="0A7C92"/>
                </a:solidFill>
                <a:latin typeface="Courier New" pitchFamily="34" charset="0"/>
                <a:ea typeface="Courier New" pitchFamily="34" charset="-122"/>
                <a:cs typeface="Courier New" pitchFamily="34" charset="-120"/>
              </a:rPr>
              <a:t>PROMEDIO_DIAS_ESTADA</a:t>
            </a:r>
            <a:endParaRPr lang="en-US" sz="1000" dirty="0"/>
          </a:p>
        </p:txBody>
      </p:sp>
      <p:sp>
        <p:nvSpPr>
          <p:cNvPr id="18" name="Text 16"/>
          <p:cNvSpPr/>
          <p:nvPr/>
        </p:nvSpPr>
        <p:spPr>
          <a:xfrm>
            <a:off x="457200" y="3950208"/>
            <a:ext cx="3931920" cy="201168"/>
          </a:xfrm>
          <a:prstGeom prst="rect">
            <a:avLst/>
          </a:prstGeom>
          <a:noFill/>
          <a:ln/>
        </p:spPr>
        <p:txBody>
          <a:bodyPr wrap="square" rtlCol="0" anchor="ctr"/>
          <a:lstStyle/>
          <a:p>
            <a:pPr marL="0" indent="0">
              <a:buNone/>
            </a:pPr>
            <a:r>
              <a:rPr lang="en-US" sz="950" dirty="0">
                <a:solidFill>
                  <a:srgbClr val="0D1B2A"/>
                </a:solidFill>
                <a:latin typeface="Calibri" pitchFamily="34" charset="0"/>
                <a:ea typeface="Calibri" pitchFamily="34" charset="-122"/>
                <a:cs typeface="Calibri" pitchFamily="34" charset="-120"/>
              </a:rPr>
              <a:t>Días promedio por egreso</a:t>
            </a:r>
            <a:endParaRPr lang="en-US" sz="950" dirty="0"/>
          </a:p>
        </p:txBody>
      </p:sp>
      <p:sp>
        <p:nvSpPr>
          <p:cNvPr id="19" name="Text 17"/>
          <p:cNvSpPr/>
          <p:nvPr/>
        </p:nvSpPr>
        <p:spPr>
          <a:xfrm>
            <a:off x="457200" y="4151376"/>
            <a:ext cx="3931920" cy="4114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Proxy de complejidad clínica. Mayor estadía = casos más graves o crónicos.</a:t>
            </a:r>
            <a:endParaRPr lang="en-US" sz="850" dirty="0"/>
          </a:p>
        </p:txBody>
      </p:sp>
      <p:sp>
        <p:nvSpPr>
          <p:cNvPr id="20" name="Shape 18"/>
          <p:cNvSpPr/>
          <p:nvPr/>
        </p:nvSpPr>
        <p:spPr>
          <a:xfrm>
            <a:off x="4754880" y="1417320"/>
            <a:ext cx="4160520"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s-CL"/>
          </a:p>
        </p:txBody>
      </p:sp>
      <p:sp>
        <p:nvSpPr>
          <p:cNvPr id="21" name="Shape 19"/>
          <p:cNvSpPr/>
          <p:nvPr/>
        </p:nvSpPr>
        <p:spPr>
          <a:xfrm>
            <a:off x="4754880" y="1417320"/>
            <a:ext cx="64008" cy="1005840"/>
          </a:xfrm>
          <a:prstGeom prst="rect">
            <a:avLst/>
          </a:prstGeom>
          <a:solidFill>
            <a:srgbClr val="0A7C92"/>
          </a:solidFill>
          <a:ln/>
        </p:spPr>
        <p:txBody>
          <a:bodyPr/>
          <a:lstStyle/>
          <a:p>
            <a:endParaRPr lang="es-CL"/>
          </a:p>
        </p:txBody>
      </p:sp>
      <p:sp>
        <p:nvSpPr>
          <p:cNvPr id="22" name="Text 20"/>
          <p:cNvSpPr/>
          <p:nvPr/>
        </p:nvSpPr>
        <p:spPr>
          <a:xfrm>
            <a:off x="4892040" y="1490472"/>
            <a:ext cx="3931920" cy="228600"/>
          </a:xfrm>
          <a:prstGeom prst="rect">
            <a:avLst/>
          </a:prstGeom>
          <a:noFill/>
          <a:ln/>
        </p:spPr>
        <p:txBody>
          <a:bodyPr wrap="square" rtlCol="0" anchor="ctr"/>
          <a:lstStyle/>
          <a:p>
            <a:pPr marL="0" indent="0">
              <a:buNone/>
            </a:pPr>
            <a:r>
              <a:rPr lang="en-US" sz="1000" b="1" dirty="0">
                <a:solidFill>
                  <a:srgbClr val="0A7C92"/>
                </a:solidFill>
                <a:latin typeface="Courier New" pitchFamily="34" charset="0"/>
                <a:ea typeface="Courier New" pitchFamily="34" charset="-122"/>
                <a:cs typeface="Courier New" pitchFamily="34" charset="-120"/>
              </a:rPr>
              <a:t>INDICE_ROTACION</a:t>
            </a:r>
            <a:endParaRPr lang="en-US" sz="1000" dirty="0"/>
          </a:p>
        </p:txBody>
      </p:sp>
      <p:sp>
        <p:nvSpPr>
          <p:cNvPr id="23" name="Text 21"/>
          <p:cNvSpPr/>
          <p:nvPr/>
        </p:nvSpPr>
        <p:spPr>
          <a:xfrm>
            <a:off x="4892040" y="1719072"/>
            <a:ext cx="3931920" cy="201168"/>
          </a:xfrm>
          <a:prstGeom prst="rect">
            <a:avLst/>
          </a:prstGeom>
          <a:noFill/>
          <a:ln/>
        </p:spPr>
        <p:txBody>
          <a:bodyPr wrap="square" rtlCol="0" anchor="ctr"/>
          <a:lstStyle/>
          <a:p>
            <a:pPr marL="0" indent="0">
              <a:buNone/>
            </a:pPr>
            <a:r>
              <a:rPr lang="en-US" sz="950" dirty="0">
                <a:solidFill>
                  <a:srgbClr val="0D1B2A"/>
                </a:solidFill>
                <a:latin typeface="Calibri" pitchFamily="34" charset="0"/>
                <a:ea typeface="Calibri" pitchFamily="34" charset="-122"/>
                <a:cs typeface="Calibri" pitchFamily="34" charset="-120"/>
              </a:rPr>
              <a:t>Pacientes por cama en el período</a:t>
            </a:r>
            <a:endParaRPr lang="en-US" sz="950" dirty="0"/>
          </a:p>
        </p:txBody>
      </p:sp>
      <p:sp>
        <p:nvSpPr>
          <p:cNvPr id="24" name="Text 22"/>
          <p:cNvSpPr/>
          <p:nvPr/>
        </p:nvSpPr>
        <p:spPr>
          <a:xfrm>
            <a:off x="4892040" y="1920240"/>
            <a:ext cx="3931920" cy="4114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Eficiencia del uso de camas. Complementa índice ocupacional.</a:t>
            </a:r>
            <a:endParaRPr lang="en-US" sz="850" dirty="0"/>
          </a:p>
        </p:txBody>
      </p:sp>
      <p:sp>
        <p:nvSpPr>
          <p:cNvPr id="25" name="Shape 23"/>
          <p:cNvSpPr/>
          <p:nvPr/>
        </p:nvSpPr>
        <p:spPr>
          <a:xfrm>
            <a:off x="4754880" y="2532888"/>
            <a:ext cx="4160520" cy="1005840"/>
          </a:xfrm>
          <a:prstGeom prst="rect">
            <a:avLst/>
          </a:prstGeom>
          <a:solidFill>
            <a:srgbClr val="F4F8F9"/>
          </a:solidFill>
          <a:ln/>
          <a:effectLst>
            <a:outerShdw blurRad="50800" dist="12700" dir="8100000" algn="bl" rotWithShape="0">
              <a:srgbClr val="000000">
                <a:alpha val="6000"/>
              </a:srgbClr>
            </a:outerShdw>
          </a:effectLst>
        </p:spPr>
        <p:txBody>
          <a:bodyPr/>
          <a:lstStyle/>
          <a:p>
            <a:endParaRPr lang="es-CL"/>
          </a:p>
        </p:txBody>
      </p:sp>
      <p:sp>
        <p:nvSpPr>
          <p:cNvPr id="26" name="Shape 24"/>
          <p:cNvSpPr/>
          <p:nvPr/>
        </p:nvSpPr>
        <p:spPr>
          <a:xfrm>
            <a:off x="4754880" y="2532888"/>
            <a:ext cx="64008" cy="1005840"/>
          </a:xfrm>
          <a:prstGeom prst="rect">
            <a:avLst/>
          </a:prstGeom>
          <a:solidFill>
            <a:srgbClr val="0A7C92"/>
          </a:solidFill>
          <a:ln/>
        </p:spPr>
        <p:txBody>
          <a:bodyPr/>
          <a:lstStyle/>
          <a:p>
            <a:endParaRPr lang="es-CL"/>
          </a:p>
        </p:txBody>
      </p:sp>
      <p:sp>
        <p:nvSpPr>
          <p:cNvPr id="27" name="Text 25"/>
          <p:cNvSpPr/>
          <p:nvPr/>
        </p:nvSpPr>
        <p:spPr>
          <a:xfrm>
            <a:off x="4892040" y="2606040"/>
            <a:ext cx="3931920" cy="228600"/>
          </a:xfrm>
          <a:prstGeom prst="rect">
            <a:avLst/>
          </a:prstGeom>
          <a:noFill/>
          <a:ln/>
        </p:spPr>
        <p:txBody>
          <a:bodyPr wrap="square" rtlCol="0" anchor="ctr"/>
          <a:lstStyle/>
          <a:p>
            <a:pPr marL="0" indent="0">
              <a:buNone/>
            </a:pPr>
            <a:r>
              <a:rPr lang="en-US" sz="1000" b="1" dirty="0">
                <a:solidFill>
                  <a:srgbClr val="0A7C92"/>
                </a:solidFill>
                <a:latin typeface="Courier New" pitchFamily="34" charset="0"/>
                <a:ea typeface="Courier New" pitchFamily="34" charset="-122"/>
                <a:cs typeface="Courier New" pitchFamily="34" charset="-120"/>
              </a:rPr>
              <a:t>NUMERO_EGRESOS</a:t>
            </a:r>
            <a:endParaRPr lang="en-US" sz="1000" dirty="0"/>
          </a:p>
        </p:txBody>
      </p:sp>
      <p:sp>
        <p:nvSpPr>
          <p:cNvPr id="28" name="Text 26"/>
          <p:cNvSpPr/>
          <p:nvPr/>
        </p:nvSpPr>
        <p:spPr>
          <a:xfrm>
            <a:off x="4892040" y="2834640"/>
            <a:ext cx="3931920" cy="201168"/>
          </a:xfrm>
          <a:prstGeom prst="rect">
            <a:avLst/>
          </a:prstGeom>
          <a:noFill/>
          <a:ln/>
        </p:spPr>
        <p:txBody>
          <a:bodyPr wrap="square" rtlCol="0" anchor="ctr"/>
          <a:lstStyle/>
          <a:p>
            <a:pPr marL="0" indent="0">
              <a:buNone/>
            </a:pPr>
            <a:r>
              <a:rPr lang="en-US" sz="950" dirty="0">
                <a:solidFill>
                  <a:srgbClr val="0D1B2A"/>
                </a:solidFill>
                <a:latin typeface="Calibri" pitchFamily="34" charset="0"/>
                <a:ea typeface="Calibri" pitchFamily="34" charset="-122"/>
                <a:cs typeface="Calibri" pitchFamily="34" charset="-120"/>
              </a:rPr>
              <a:t>Total altas del período</a:t>
            </a:r>
            <a:endParaRPr lang="en-US" sz="950" dirty="0"/>
          </a:p>
        </p:txBody>
      </p:sp>
      <p:sp>
        <p:nvSpPr>
          <p:cNvPr id="29" name="Text 27"/>
          <p:cNvSpPr/>
          <p:nvPr/>
        </p:nvSpPr>
        <p:spPr>
          <a:xfrm>
            <a:off x="4892040" y="3035808"/>
            <a:ext cx="3931920" cy="4114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Volumen de producción hospitalaria. Permite tendencias y comparaciones.</a:t>
            </a:r>
            <a:endParaRPr lang="en-US" sz="850" dirty="0"/>
          </a:p>
        </p:txBody>
      </p:sp>
      <p:sp>
        <p:nvSpPr>
          <p:cNvPr id="30" name="Shape 28"/>
          <p:cNvSpPr/>
          <p:nvPr/>
        </p:nvSpPr>
        <p:spPr>
          <a:xfrm>
            <a:off x="4754880" y="3648456"/>
            <a:ext cx="4160520"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s-CL"/>
          </a:p>
        </p:txBody>
      </p:sp>
      <p:sp>
        <p:nvSpPr>
          <p:cNvPr id="31" name="Shape 29"/>
          <p:cNvSpPr/>
          <p:nvPr/>
        </p:nvSpPr>
        <p:spPr>
          <a:xfrm>
            <a:off x="4754880" y="3648456"/>
            <a:ext cx="64008" cy="1005840"/>
          </a:xfrm>
          <a:prstGeom prst="rect">
            <a:avLst/>
          </a:prstGeom>
          <a:solidFill>
            <a:srgbClr val="0A7C92"/>
          </a:solidFill>
          <a:ln/>
        </p:spPr>
        <p:txBody>
          <a:bodyPr/>
          <a:lstStyle/>
          <a:p>
            <a:endParaRPr lang="es-CL"/>
          </a:p>
        </p:txBody>
      </p:sp>
      <p:sp>
        <p:nvSpPr>
          <p:cNvPr id="32" name="Text 30"/>
          <p:cNvSpPr/>
          <p:nvPr/>
        </p:nvSpPr>
        <p:spPr>
          <a:xfrm>
            <a:off x="4892040" y="3721608"/>
            <a:ext cx="3931920" cy="228600"/>
          </a:xfrm>
          <a:prstGeom prst="rect">
            <a:avLst/>
          </a:prstGeom>
          <a:noFill/>
          <a:ln/>
        </p:spPr>
        <p:txBody>
          <a:bodyPr wrap="square" rtlCol="0" anchor="ctr"/>
          <a:lstStyle/>
          <a:p>
            <a:pPr marL="0" indent="0">
              <a:buNone/>
            </a:pPr>
            <a:r>
              <a:rPr lang="en-US" sz="1000" b="1" dirty="0">
                <a:solidFill>
                  <a:srgbClr val="0A7C92"/>
                </a:solidFill>
                <a:latin typeface="Courier New" pitchFamily="34" charset="0"/>
                <a:ea typeface="Courier New" pitchFamily="34" charset="-122"/>
                <a:cs typeface="Courier New" pitchFamily="34" charset="-120"/>
              </a:rPr>
              <a:t>DIAS_CAMAS_OCUPADAS</a:t>
            </a:r>
            <a:endParaRPr lang="en-US" sz="1000" dirty="0"/>
          </a:p>
        </p:txBody>
      </p:sp>
      <p:sp>
        <p:nvSpPr>
          <p:cNvPr id="33" name="Text 31"/>
          <p:cNvSpPr/>
          <p:nvPr/>
        </p:nvSpPr>
        <p:spPr>
          <a:xfrm>
            <a:off x="4892040" y="3950208"/>
            <a:ext cx="3931920" cy="201168"/>
          </a:xfrm>
          <a:prstGeom prst="rect">
            <a:avLst/>
          </a:prstGeom>
          <a:noFill/>
          <a:ln/>
        </p:spPr>
        <p:txBody>
          <a:bodyPr wrap="square" rtlCol="0" anchor="ctr"/>
          <a:lstStyle/>
          <a:p>
            <a:pPr marL="0" indent="0">
              <a:buNone/>
            </a:pPr>
            <a:r>
              <a:rPr lang="en-US" sz="950" dirty="0">
                <a:solidFill>
                  <a:srgbClr val="0D1B2A"/>
                </a:solidFill>
                <a:latin typeface="Calibri" pitchFamily="34" charset="0"/>
                <a:ea typeface="Calibri" pitchFamily="34" charset="-122"/>
                <a:cs typeface="Calibri" pitchFamily="34" charset="-120"/>
              </a:rPr>
              <a:t>Camas × días con paciente</a:t>
            </a:r>
            <a:endParaRPr lang="en-US" sz="950" dirty="0"/>
          </a:p>
        </p:txBody>
      </p:sp>
      <p:sp>
        <p:nvSpPr>
          <p:cNvPr id="34" name="Text 32"/>
          <p:cNvSpPr/>
          <p:nvPr/>
        </p:nvSpPr>
        <p:spPr>
          <a:xfrm>
            <a:off x="4892040" y="4151376"/>
            <a:ext cx="3931920" cy="4114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Base para calcular ocupación. Un día-cama = 1 cama habilitada 1 día.</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274320" y="164592"/>
            <a:ext cx="2011680" cy="256032"/>
          </a:xfrm>
          <a:prstGeom prst="roundRect">
            <a:avLst>
              <a:gd name="adj" fmla="val 14286"/>
            </a:avLst>
          </a:prstGeom>
          <a:solidFill>
            <a:srgbClr val="0A7C92"/>
          </a:solidFill>
          <a:ln/>
        </p:spPr>
        <p:txBody>
          <a:bodyPr/>
          <a:lstStyle/>
          <a:p>
            <a:endParaRPr lang="es-CL"/>
          </a:p>
        </p:txBody>
      </p:sp>
      <p:sp>
        <p:nvSpPr>
          <p:cNvPr id="3" name="Text 1"/>
          <p:cNvSpPr/>
          <p:nvPr/>
        </p:nvSpPr>
        <p:spPr>
          <a:xfrm>
            <a:off x="274320" y="173736"/>
            <a:ext cx="2011680" cy="237744"/>
          </a:xfrm>
          <a:prstGeom prst="rect">
            <a:avLst/>
          </a:prstGeom>
          <a:noFill/>
          <a:ln/>
        </p:spPr>
        <p:txBody>
          <a:bodyPr wrap="square" lIns="0" tIns="0" rIns="0" bIns="0" rtlCol="0" anchor="ctr"/>
          <a:lstStyle/>
          <a:p>
            <a:pPr marL="0" indent="0" algn="ctr">
              <a:buNone/>
            </a:pPr>
            <a:r>
              <a:rPr lang="en-US" sz="900" b="1" dirty="0">
                <a:solidFill>
                  <a:srgbClr val="FFFFFF"/>
                </a:solidFill>
              </a:rPr>
              <a:t>DECISIÓN METODOLÓGICA</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Outliers: ¿Por qué no se eliminaron?</a:t>
            </a:r>
            <a:endParaRPr lang="en-US" sz="2800" dirty="0"/>
          </a:p>
        </p:txBody>
      </p:sp>
      <p:sp>
        <p:nvSpPr>
          <p:cNvPr id="5" name="Text 3"/>
          <p:cNvSpPr/>
          <p:nvPr/>
        </p:nvSpPr>
        <p:spPr>
          <a:xfrm>
            <a:off x="457200" y="1097280"/>
            <a:ext cx="8229600" cy="320040"/>
          </a:xfrm>
          <a:prstGeom prst="rect">
            <a:avLst/>
          </a:prstGeom>
          <a:noFill/>
          <a:ln/>
        </p:spPr>
        <p:txBody>
          <a:bodyPr wrap="square" rtlCol="0" anchor="ctr"/>
          <a:lstStyle/>
          <a:p>
            <a:pPr marL="0" indent="0">
              <a:buNone/>
            </a:pPr>
            <a:r>
              <a:rPr lang="en-US" sz="1400" dirty="0">
                <a:solidFill>
                  <a:srgbClr val="0A7C92"/>
                </a:solidFill>
                <a:latin typeface="Calibri" pitchFamily="34" charset="0"/>
                <a:ea typeface="Calibri" pitchFamily="34" charset="-122"/>
                <a:cs typeface="Calibri" pitchFamily="34" charset="-120"/>
              </a:rPr>
              <a:t>Son datos reales con significado clínico</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417320"/>
          <a:ext cx="4206240" cy="1463040"/>
        </p:xfrm>
        <a:graphic>
          <a:graphicData uri="http://schemas.openxmlformats.org/drawingml/2006/table">
            <a:tbl>
              <a:tblPr/>
              <a:tblGrid>
                <a:gridCol w="22860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FFFFFF"/>
                          </a:solidFill>
                        </a:rPr>
                        <a:t>Variable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7C92"/>
                    </a:solidFill>
                  </a:tcPr>
                </a:tc>
                <a:tc>
                  <a:txBody>
                    <a:bodyPr/>
                    <a:lstStyle/>
                    <a:p>
                      <a:pPr marL="0" indent="0">
                        <a:buNone/>
                      </a:pPr>
                      <a:r>
                        <a:rPr lang="en-US" sz="1000" b="1" dirty="0">
                          <a:solidFill>
                            <a:srgbClr val="FFFFFF"/>
                          </a:solidFill>
                        </a:rPr>
                        <a:t>Outliers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7C92"/>
                    </a:solidFill>
                  </a:tcPr>
                </a:tc>
                <a:tc>
                  <a:txBody>
                    <a:bodyPr/>
                    <a:lstStyle/>
                    <a:p>
                      <a:pPr marL="0" indent="0">
                        <a:buNone/>
                      </a:pPr>
                      <a:r>
                        <a:rPr lang="en-US" sz="1000" b="1" dirty="0">
                          <a:solidFill>
                            <a:srgbClr val="FFFFFF"/>
                          </a:solidFill>
                        </a:rPr>
                        <a:t>% del total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7C92"/>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0D1B2A"/>
                          </a:solidFill>
                        </a:rPr>
                        <a:t>LETALIDAD</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rPr>
                        <a:t>22.835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rPr>
                        <a:t>14,45%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0D1B2A"/>
                          </a:solidFill>
                        </a:rPr>
                        <a:t>PROMEDIO_DIAS_ESTADA</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8F9"/>
                    </a:solidFill>
                  </a:tcPr>
                </a:tc>
                <a:tc>
                  <a:txBody>
                    <a:bodyPr/>
                    <a:lstStyle/>
                    <a:p>
                      <a:pPr marL="0" indent="0">
                        <a:buNone/>
                      </a:pPr>
                      <a:r>
                        <a:rPr lang="en-US" sz="1000" dirty="0">
                          <a:solidFill>
                            <a:srgbClr val="0D1B2A"/>
                          </a:solidFill>
                        </a:rPr>
                        <a:t>19.293</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8F9"/>
                    </a:solidFill>
                  </a:tcPr>
                </a:tc>
                <a:tc>
                  <a:txBody>
                    <a:bodyPr/>
                    <a:lstStyle/>
                    <a:p>
                      <a:pPr marL="0" indent="0">
                        <a:buNone/>
                      </a:pPr>
                      <a:r>
                        <a:rPr lang="en-US" sz="1000" dirty="0">
                          <a:solidFill>
                            <a:srgbClr val="0D1B2A"/>
                          </a:solidFill>
                        </a:rPr>
                        <a:t>12,21%</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8F9"/>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0D1B2A"/>
                          </a:solidFill>
                        </a:rPr>
                        <a:t>NUMERO_EGRESOS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rPr>
                        <a:t>16.376</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rPr>
                        <a:t>10,36%</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0D1B2A"/>
                          </a:solidFill>
                        </a:rPr>
                        <a:t>DIAS_CAMAS_OCUPADAS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8F9"/>
                    </a:solidFill>
                  </a:tcPr>
                </a:tc>
                <a:tc>
                  <a:txBody>
                    <a:bodyPr/>
                    <a:lstStyle/>
                    <a:p>
                      <a:pPr marL="0" indent="0">
                        <a:buNone/>
                      </a:pPr>
                      <a:r>
                        <a:rPr lang="en-US" sz="1000" dirty="0">
                          <a:solidFill>
                            <a:srgbClr val="0D1B2A"/>
                          </a:solidFill>
                        </a:rPr>
                        <a:t>14.905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8F9"/>
                    </a:solidFill>
                  </a:tcPr>
                </a:tc>
                <a:tc>
                  <a:txBody>
                    <a:bodyPr/>
                    <a:lstStyle/>
                    <a:p>
                      <a:pPr marL="0" indent="0">
                        <a:buNone/>
                      </a:pPr>
                      <a:r>
                        <a:rPr lang="en-US" sz="1000" dirty="0">
                          <a:solidFill>
                            <a:srgbClr val="0D1B2A"/>
                          </a:solidFill>
                        </a:rPr>
                        <a:t>9,43%</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8F9"/>
                    </a:solidFill>
                  </a:tcPr>
                </a:tc>
                <a:extLst>
                  <a:ext uri="{0D108BD9-81ED-4DB2-BD59-A6C34878D82A}">
                    <a16:rowId xmlns:a16="http://schemas.microsoft.com/office/drawing/2014/main" val="10004"/>
                  </a:ext>
                </a:extLst>
              </a:tr>
              <a:tr h="0">
                <a:tc>
                  <a:txBody>
                    <a:bodyPr/>
                    <a:lstStyle/>
                    <a:p>
                      <a:pPr marL="0" indent="0">
                        <a:buNone/>
                      </a:pPr>
                      <a:r>
                        <a:rPr lang="en-US" sz="1000" dirty="0">
                          <a:solidFill>
                            <a:srgbClr val="0D1B2A"/>
                          </a:solidFill>
                        </a:rPr>
                        <a:t>INDICE_OCUPACIONAL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rPr>
                        <a:t>0</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rPr>
                        <a:t>0%  ✅</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4754880" y="1417320"/>
            <a:ext cx="4114800" cy="1078992"/>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8" name="Shape 5"/>
          <p:cNvSpPr/>
          <p:nvPr/>
        </p:nvSpPr>
        <p:spPr>
          <a:xfrm>
            <a:off x="4754880" y="1691640"/>
            <a:ext cx="320040" cy="320040"/>
          </a:xfrm>
          <a:prstGeom prst="ellipse">
            <a:avLst/>
          </a:prstGeom>
          <a:solidFill>
            <a:srgbClr val="0A7C92"/>
          </a:solidFill>
          <a:ln/>
        </p:spPr>
        <p:txBody>
          <a:bodyPr/>
          <a:lstStyle/>
          <a:p>
            <a:endParaRPr lang="es-CL"/>
          </a:p>
        </p:txBody>
      </p:sp>
      <p:sp>
        <p:nvSpPr>
          <p:cNvPr id="9" name="Text 6"/>
          <p:cNvSpPr/>
          <p:nvPr/>
        </p:nvSpPr>
        <p:spPr>
          <a:xfrm>
            <a:off x="4754880" y="1691640"/>
            <a:ext cx="320040" cy="320040"/>
          </a:xfrm>
          <a:prstGeom prst="rect">
            <a:avLst/>
          </a:prstGeom>
          <a:noFill/>
          <a:ln/>
        </p:spPr>
        <p:txBody>
          <a:bodyPr wrap="square" rtlCol="0" anchor="ctr"/>
          <a:lstStyle/>
          <a:p>
            <a:pPr marL="0" indent="0" algn="ctr">
              <a:buNone/>
            </a:pPr>
            <a:r>
              <a:rPr lang="en-US" sz="1100" b="1" dirty="0">
                <a:solidFill>
                  <a:srgbClr val="FFFFFF"/>
                </a:solidFill>
              </a:rPr>
              <a:t>1</a:t>
            </a:r>
            <a:endParaRPr lang="en-US" sz="1100" dirty="0"/>
          </a:p>
        </p:txBody>
      </p:sp>
      <p:sp>
        <p:nvSpPr>
          <p:cNvPr id="10" name="Text 7"/>
          <p:cNvSpPr/>
          <p:nvPr/>
        </p:nvSpPr>
        <p:spPr>
          <a:xfrm>
            <a:off x="5166360" y="1490472"/>
            <a:ext cx="3566160" cy="256032"/>
          </a:xfrm>
          <a:prstGeom prst="rect">
            <a:avLst/>
          </a:prstGeom>
          <a:noFill/>
          <a:ln/>
        </p:spPr>
        <p:txBody>
          <a:bodyPr wrap="square" rtlCol="0" anchor="ctr"/>
          <a:lstStyle/>
          <a:p>
            <a:pPr marL="0" indent="0">
              <a:buNone/>
            </a:pPr>
            <a:r>
              <a:rPr lang="en-US" sz="1000" b="1" dirty="0">
                <a:solidFill>
                  <a:srgbClr val="0A7C92"/>
                </a:solidFill>
                <a:latin typeface="Calibri" pitchFamily="34" charset="0"/>
                <a:ea typeface="Calibri" pitchFamily="34" charset="-122"/>
                <a:cs typeface="Calibri" pitchFamily="34" charset="-120"/>
              </a:rPr>
              <a:t>Son datos reales, no errores</a:t>
            </a:r>
            <a:endParaRPr lang="en-US" sz="1000" dirty="0"/>
          </a:p>
        </p:txBody>
      </p:sp>
      <p:sp>
        <p:nvSpPr>
          <p:cNvPr id="11" name="Text 8"/>
          <p:cNvSpPr/>
          <p:nvPr/>
        </p:nvSpPr>
        <p:spPr>
          <a:xfrm>
            <a:off x="5166360" y="1746504"/>
            <a:ext cx="3566160" cy="694944"/>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Psiquiatría de larga estadía puede tener hasta 18.512 días. Una persona en cama 2 años es clínicamente posible —</a:t>
            </a:r>
            <a:endParaRPr lang="en-US" sz="900" dirty="0"/>
          </a:p>
          <a:p>
            <a:pPr marL="0" indent="0">
              <a:buNone/>
            </a:pPr>
            <a:r>
              <a:rPr lang="en-US" sz="900" dirty="0">
                <a:solidFill>
                  <a:srgbClr val="0D1B2A"/>
                </a:solidFill>
                <a:latin typeface="Calibri" pitchFamily="34" charset="0"/>
                <a:ea typeface="Calibri" pitchFamily="34" charset="-122"/>
                <a:cs typeface="Calibri" pitchFamily="34" charset="-120"/>
              </a:rPr>
              <a:t>pacientes psiquiátricos crónicos o sociosanitarios. Eliminarlos sería perder información valiosa.</a:t>
            </a:r>
            <a:endParaRPr lang="en-US" sz="900" dirty="0"/>
          </a:p>
        </p:txBody>
      </p:sp>
      <p:sp>
        <p:nvSpPr>
          <p:cNvPr id="12" name="Shape 9"/>
          <p:cNvSpPr/>
          <p:nvPr/>
        </p:nvSpPr>
        <p:spPr>
          <a:xfrm>
            <a:off x="4754880" y="2587752"/>
            <a:ext cx="4114800" cy="1078992"/>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3" name="Shape 10"/>
          <p:cNvSpPr/>
          <p:nvPr/>
        </p:nvSpPr>
        <p:spPr>
          <a:xfrm>
            <a:off x="4754880" y="2862072"/>
            <a:ext cx="320040" cy="320040"/>
          </a:xfrm>
          <a:prstGeom prst="ellipse">
            <a:avLst/>
          </a:prstGeom>
          <a:solidFill>
            <a:srgbClr val="0A7C92"/>
          </a:solidFill>
          <a:ln/>
        </p:spPr>
        <p:txBody>
          <a:bodyPr/>
          <a:lstStyle/>
          <a:p>
            <a:endParaRPr lang="es-CL"/>
          </a:p>
        </p:txBody>
      </p:sp>
      <p:sp>
        <p:nvSpPr>
          <p:cNvPr id="14" name="Text 11"/>
          <p:cNvSpPr/>
          <p:nvPr/>
        </p:nvSpPr>
        <p:spPr>
          <a:xfrm>
            <a:off x="4754880" y="2862072"/>
            <a:ext cx="320040" cy="320040"/>
          </a:xfrm>
          <a:prstGeom prst="rect">
            <a:avLst/>
          </a:prstGeom>
          <a:noFill/>
          <a:ln/>
        </p:spPr>
        <p:txBody>
          <a:bodyPr wrap="square" rtlCol="0" anchor="ctr"/>
          <a:lstStyle/>
          <a:p>
            <a:pPr marL="0" indent="0" algn="ctr">
              <a:buNone/>
            </a:pPr>
            <a:r>
              <a:rPr lang="en-US" sz="1100" b="1" dirty="0">
                <a:solidFill>
                  <a:srgbClr val="FFFFFF"/>
                </a:solidFill>
              </a:rPr>
              <a:t>2</a:t>
            </a:r>
            <a:endParaRPr lang="en-US" sz="1100" dirty="0"/>
          </a:p>
        </p:txBody>
      </p:sp>
      <p:sp>
        <p:nvSpPr>
          <p:cNvPr id="15" name="Text 12"/>
          <p:cNvSpPr/>
          <p:nvPr/>
        </p:nvSpPr>
        <p:spPr>
          <a:xfrm>
            <a:off x="5166360" y="2660904"/>
            <a:ext cx="3566160" cy="256032"/>
          </a:xfrm>
          <a:prstGeom prst="rect">
            <a:avLst/>
          </a:prstGeom>
          <a:noFill/>
          <a:ln/>
        </p:spPr>
        <p:txBody>
          <a:bodyPr wrap="square" rtlCol="0" anchor="ctr"/>
          <a:lstStyle/>
          <a:p>
            <a:pPr marL="0" indent="0">
              <a:buNone/>
            </a:pPr>
            <a:r>
              <a:rPr lang="en-US" sz="1000" b="1" dirty="0">
                <a:solidFill>
                  <a:srgbClr val="0A7C92"/>
                </a:solidFill>
                <a:latin typeface="Calibri" pitchFamily="34" charset="0"/>
                <a:ea typeface="Calibri" pitchFamily="34" charset="-122"/>
                <a:cs typeface="Calibri" pitchFamily="34" charset="-120"/>
              </a:rPr>
              <a:t>Aportan información de complejidad</a:t>
            </a:r>
            <a:endParaRPr lang="en-US" sz="1000" dirty="0"/>
          </a:p>
        </p:txBody>
      </p:sp>
      <p:sp>
        <p:nvSpPr>
          <p:cNvPr id="16" name="Text 13"/>
          <p:cNvSpPr/>
          <p:nvPr/>
        </p:nvSpPr>
        <p:spPr>
          <a:xfrm>
            <a:off x="5166360" y="2916936"/>
            <a:ext cx="3566160" cy="694944"/>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Las áreas de alta complejidad (UCI, neonatología) tienen distribuciones muy distintas a baja complejidad.</a:t>
            </a:r>
            <a:endParaRPr lang="en-US" sz="900" dirty="0"/>
          </a:p>
          <a:p>
            <a:pPr marL="0" indent="0">
              <a:buNone/>
            </a:pPr>
            <a:r>
              <a:rPr lang="en-US" sz="900" dirty="0">
                <a:solidFill>
                  <a:srgbClr val="0D1B2A"/>
                </a:solidFill>
                <a:latin typeface="Calibri" pitchFamily="34" charset="0"/>
                <a:ea typeface="Calibri" pitchFamily="34" charset="-122"/>
                <a:cs typeface="Calibri" pitchFamily="34" charset="-120"/>
              </a:rPr>
              <a:t>Esa heterogeneidad es precisamente lo que el análisis busca revelar.</a:t>
            </a:r>
            <a:endParaRPr lang="en-US" sz="900" dirty="0"/>
          </a:p>
        </p:txBody>
      </p:sp>
      <p:sp>
        <p:nvSpPr>
          <p:cNvPr id="17" name="Shape 14"/>
          <p:cNvSpPr/>
          <p:nvPr/>
        </p:nvSpPr>
        <p:spPr>
          <a:xfrm>
            <a:off x="4754880" y="3758184"/>
            <a:ext cx="4114800" cy="1078992"/>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8" name="Shape 15"/>
          <p:cNvSpPr/>
          <p:nvPr/>
        </p:nvSpPr>
        <p:spPr>
          <a:xfrm>
            <a:off x="4754880" y="4032504"/>
            <a:ext cx="320040" cy="320040"/>
          </a:xfrm>
          <a:prstGeom prst="ellipse">
            <a:avLst/>
          </a:prstGeom>
          <a:solidFill>
            <a:srgbClr val="0A7C92"/>
          </a:solidFill>
          <a:ln/>
        </p:spPr>
        <p:txBody>
          <a:bodyPr/>
          <a:lstStyle/>
          <a:p>
            <a:endParaRPr lang="es-CL"/>
          </a:p>
        </p:txBody>
      </p:sp>
      <p:sp>
        <p:nvSpPr>
          <p:cNvPr id="19" name="Text 16"/>
          <p:cNvSpPr/>
          <p:nvPr/>
        </p:nvSpPr>
        <p:spPr>
          <a:xfrm>
            <a:off x="4754880" y="4032504"/>
            <a:ext cx="320040" cy="320040"/>
          </a:xfrm>
          <a:prstGeom prst="rect">
            <a:avLst/>
          </a:prstGeom>
          <a:noFill/>
          <a:ln/>
        </p:spPr>
        <p:txBody>
          <a:bodyPr wrap="square" rtlCol="0" anchor="ctr"/>
          <a:lstStyle/>
          <a:p>
            <a:pPr marL="0" indent="0" algn="ctr">
              <a:buNone/>
            </a:pPr>
            <a:r>
              <a:rPr lang="en-US" sz="1100" b="1" dirty="0">
                <a:solidFill>
                  <a:srgbClr val="FFFFFF"/>
                </a:solidFill>
              </a:rPr>
              <a:t>3</a:t>
            </a:r>
            <a:endParaRPr lang="en-US" sz="1100" dirty="0"/>
          </a:p>
        </p:txBody>
      </p:sp>
      <p:sp>
        <p:nvSpPr>
          <p:cNvPr id="20" name="Text 17"/>
          <p:cNvSpPr/>
          <p:nvPr/>
        </p:nvSpPr>
        <p:spPr>
          <a:xfrm>
            <a:off x="5166360" y="3831336"/>
            <a:ext cx="3566160" cy="256032"/>
          </a:xfrm>
          <a:prstGeom prst="rect">
            <a:avLst/>
          </a:prstGeom>
          <a:noFill/>
          <a:ln/>
        </p:spPr>
        <p:txBody>
          <a:bodyPr wrap="square" rtlCol="0" anchor="ctr"/>
          <a:lstStyle/>
          <a:p>
            <a:pPr marL="0" indent="0">
              <a:buNone/>
            </a:pPr>
            <a:r>
              <a:rPr lang="en-US" sz="1000" b="1" dirty="0">
                <a:solidFill>
                  <a:srgbClr val="0A7C92"/>
                </a:solidFill>
                <a:latin typeface="Calibri" pitchFamily="34" charset="0"/>
                <a:ea typeface="Calibri" pitchFamily="34" charset="-122"/>
                <a:cs typeface="Calibri" pitchFamily="34" charset="-120"/>
              </a:rPr>
              <a:t>La segmentación por complejidad los controla</a:t>
            </a:r>
            <a:endParaRPr lang="en-US" sz="1000" dirty="0"/>
          </a:p>
        </p:txBody>
      </p:sp>
      <p:sp>
        <p:nvSpPr>
          <p:cNvPr id="21" name="Text 18"/>
          <p:cNvSpPr/>
          <p:nvPr/>
        </p:nvSpPr>
        <p:spPr>
          <a:xfrm>
            <a:off x="5166360" y="4087368"/>
            <a:ext cx="3566160" cy="694944"/>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Al analizar por nivel de complejidad, cada grupo tiene su propio rango esperado.</a:t>
            </a:r>
            <a:endParaRPr lang="en-US" sz="900" dirty="0"/>
          </a:p>
          <a:p>
            <a:pPr marL="0" indent="0">
              <a:buNone/>
            </a:pPr>
            <a:r>
              <a:rPr lang="en-US" sz="900" dirty="0">
                <a:solidFill>
                  <a:srgbClr val="0D1B2A"/>
                </a:solidFill>
                <a:latin typeface="Calibri" pitchFamily="34" charset="0"/>
                <a:ea typeface="Calibri" pitchFamily="34" charset="-122"/>
                <a:cs typeface="Calibri" pitchFamily="34" charset="-120"/>
              </a:rPr>
              <a:t>No se mezclan outliers de psiquiatría con indicadores de cirugía básica.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7C92"/>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0A7C92"/>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1</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0A7C92"/>
                </a:solidFill>
                <a:latin typeface="Calibri" pitchFamily="34" charset="0"/>
                <a:ea typeface="Calibri" pitchFamily="34" charset="-122"/>
                <a:cs typeface="Calibri" pitchFamily="34" charset="-120"/>
              </a:rPr>
              <a:t>P1 — ¿Cómo han evolucionado los patrones de hospitalización?</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Egresos · Días-cama disponibles vs ocupadas · Índice Ocupacional  (2014–2025)</a:t>
            </a:r>
            <a:endParaRPr lang="en-US" sz="1800" dirty="0"/>
          </a:p>
        </p:txBody>
      </p:sp>
      <p:pic>
        <p:nvPicPr>
          <p:cNvPr id="7" name="Image 0" descr="preencoded.png"/>
          <p:cNvPicPr>
            <a:picLocks noChangeAspect="1"/>
          </p:cNvPicPr>
          <p:nvPr/>
        </p:nvPicPr>
        <p:blipFill>
          <a:blip r:embed="rId2"/>
          <a:srcRect/>
          <a:stretch/>
        </p:blipFill>
        <p:spPr>
          <a:xfrm>
            <a:off x="137160" y="1371600"/>
            <a:ext cx="8869680" cy="2377440"/>
          </a:xfrm>
          <a:prstGeom prst="rect">
            <a:avLst/>
          </a:prstGeom>
        </p:spPr>
      </p:pic>
      <p:sp>
        <p:nvSpPr>
          <p:cNvPr id="8" name="Shape 5"/>
          <p:cNvSpPr/>
          <p:nvPr/>
        </p:nvSpPr>
        <p:spPr>
          <a:xfrm>
            <a:off x="137160" y="3858768"/>
            <a:ext cx="2852928"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137160" y="3858768"/>
            <a:ext cx="2852928" cy="45720"/>
          </a:xfrm>
          <a:prstGeom prst="rect">
            <a:avLst/>
          </a:prstGeom>
          <a:solidFill>
            <a:srgbClr val="0A7C92"/>
          </a:solidFill>
          <a:ln/>
        </p:spPr>
        <p:txBody>
          <a:bodyPr/>
          <a:lstStyle/>
          <a:p>
            <a:endParaRPr lang="es-CL"/>
          </a:p>
        </p:txBody>
      </p:sp>
      <p:sp>
        <p:nvSpPr>
          <p:cNvPr id="10" name="Text 7"/>
          <p:cNvSpPr/>
          <p:nvPr/>
        </p:nvSpPr>
        <p:spPr>
          <a:xfrm>
            <a:off x="228600" y="3950208"/>
            <a:ext cx="2670048"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Los egresos se mantuvieron sobre 1 millón anual entre 2014–2019. En 2020 caen abruptamente a ~840.000 (−19%) por COVID-19, que suspendió cirugías electivas y hospitalizaciones no urgentes. Desde 2021 hay recuperación progresiva pero sin alcanzar completamente los niveles previos.</a:t>
            </a:r>
            <a:endParaRPr lang="en-US" sz="850" dirty="0"/>
          </a:p>
        </p:txBody>
      </p:sp>
      <p:sp>
        <p:nvSpPr>
          <p:cNvPr id="11" name="Shape 8"/>
          <p:cNvSpPr/>
          <p:nvPr/>
        </p:nvSpPr>
        <p:spPr>
          <a:xfrm>
            <a:off x="3090672" y="3858768"/>
            <a:ext cx="2852928"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2" name="Shape 9"/>
          <p:cNvSpPr/>
          <p:nvPr/>
        </p:nvSpPr>
        <p:spPr>
          <a:xfrm>
            <a:off x="3090672" y="3858768"/>
            <a:ext cx="2852928" cy="45720"/>
          </a:xfrm>
          <a:prstGeom prst="rect">
            <a:avLst/>
          </a:prstGeom>
          <a:solidFill>
            <a:srgbClr val="0A7C92"/>
          </a:solidFill>
          <a:ln/>
        </p:spPr>
        <p:txBody>
          <a:bodyPr/>
          <a:lstStyle/>
          <a:p>
            <a:endParaRPr lang="es-CL"/>
          </a:p>
        </p:txBody>
      </p:sp>
      <p:sp>
        <p:nvSpPr>
          <p:cNvPr id="13" name="Text 10"/>
          <p:cNvSpPr/>
          <p:nvPr/>
        </p:nvSpPr>
        <p:spPr>
          <a:xfrm>
            <a:off x="3182112" y="3950208"/>
            <a:ext cx="2670048"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capacidad instalada creció de forma sostenida entre 9 y 9,5 millones de días-cama anuales. Los días ocupados también subieron, pero persiste una brecha de ~2 millones de días-cama ociosos (20–22%). En 2020 esa brecha se amplió drásticamente por la caída en la ocupación.</a:t>
            </a:r>
            <a:endParaRPr lang="en-US" sz="850" dirty="0"/>
          </a:p>
        </p:txBody>
      </p:sp>
      <p:sp>
        <p:nvSpPr>
          <p:cNvPr id="14" name="Shape 11"/>
          <p:cNvSpPr/>
          <p:nvPr/>
        </p:nvSpPr>
        <p:spPr>
          <a:xfrm>
            <a:off x="6035040" y="3858768"/>
            <a:ext cx="2834640"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5" name="Shape 12"/>
          <p:cNvSpPr/>
          <p:nvPr/>
        </p:nvSpPr>
        <p:spPr>
          <a:xfrm>
            <a:off x="6035040" y="3858768"/>
            <a:ext cx="2834640" cy="45720"/>
          </a:xfrm>
          <a:prstGeom prst="rect">
            <a:avLst/>
          </a:prstGeom>
          <a:solidFill>
            <a:srgbClr val="0A7C92"/>
          </a:solidFill>
          <a:ln/>
        </p:spPr>
        <p:txBody>
          <a:bodyPr/>
          <a:lstStyle/>
          <a:p>
            <a:endParaRPr lang="es-CL"/>
          </a:p>
        </p:txBody>
      </p:sp>
      <p:sp>
        <p:nvSpPr>
          <p:cNvPr id="16" name="Text 13"/>
          <p:cNvSpPr/>
          <p:nvPr/>
        </p:nvSpPr>
        <p:spPr>
          <a:xfrm>
            <a:off x="6126480" y="3950208"/>
            <a:ext cx="2651760"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El IO promedio oscila entre 62–67%, consistentemente bajo el umbral del 70% (OMS). Las líneas de referencia marcan 70% (eficiencia) y 85% (saturación). Este promedio nacional oculta heterogeneidad crítica: hay áreas crónicamente saturadas mientras otras están subutilizadas.</a:t>
            </a:r>
            <a:endParaRPr lang="en-US" sz="850" dirty="0"/>
          </a:p>
        </p:txBody>
      </p:sp>
      <p:sp>
        <p:nvSpPr>
          <p:cNvPr id="17" name="Shape 14"/>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8" name="Shape 15"/>
          <p:cNvSpPr/>
          <p:nvPr/>
        </p:nvSpPr>
        <p:spPr>
          <a:xfrm>
            <a:off x="137160" y="4572000"/>
            <a:ext cx="64008" cy="502920"/>
          </a:xfrm>
          <a:prstGeom prst="rect">
            <a:avLst/>
          </a:prstGeom>
          <a:solidFill>
            <a:srgbClr val="0A7C92"/>
          </a:solidFill>
          <a:ln/>
        </p:spPr>
        <p:txBody>
          <a:bodyPr/>
          <a:lstStyle/>
          <a:p>
            <a:endParaRPr lang="es-CL"/>
          </a:p>
        </p:txBody>
      </p:sp>
      <p:sp>
        <p:nvSpPr>
          <p:cNvPr id="19" name="Text 16"/>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20" name="Text 17"/>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El sistema se mantuvo estructuralmente estable entre 2014–2025. El único quiebre fue la pandemia de 2020 — transitorio y no estructural. La ocupación nacional aparenta subutilización (62–67%), pero eso es engañoso: el promedio oculta UCIs crónicamente saturadas sobre el 80%.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274320" y="164592"/>
            <a:ext cx="2011680" cy="256032"/>
          </a:xfrm>
          <a:prstGeom prst="roundRect">
            <a:avLst>
              <a:gd name="adj" fmla="val 14286"/>
            </a:avLst>
          </a:prstGeom>
          <a:solidFill>
            <a:srgbClr val="0A7C92"/>
          </a:solidFill>
          <a:ln/>
        </p:spPr>
        <p:txBody>
          <a:bodyPr/>
          <a:lstStyle/>
          <a:p>
            <a:endParaRPr lang="es-CL"/>
          </a:p>
        </p:txBody>
      </p:sp>
      <p:sp>
        <p:nvSpPr>
          <p:cNvPr id="3" name="Text 1"/>
          <p:cNvSpPr/>
          <p:nvPr/>
        </p:nvSpPr>
        <p:spPr>
          <a:xfrm>
            <a:off x="274320" y="173736"/>
            <a:ext cx="2011680" cy="237744"/>
          </a:xfrm>
          <a:prstGeom prst="rect">
            <a:avLst/>
          </a:prstGeom>
          <a:noFill/>
          <a:ln/>
        </p:spPr>
        <p:txBody>
          <a:bodyPr wrap="square" lIns="0" tIns="0" rIns="0" bIns="0" rtlCol="0" anchor="ctr"/>
          <a:lstStyle/>
          <a:p>
            <a:pPr marL="0" indent="0" algn="ctr">
              <a:buNone/>
            </a:pPr>
            <a:r>
              <a:rPr lang="en-US" sz="900" b="1" dirty="0">
                <a:solidFill>
                  <a:srgbClr val="FFFFFF"/>
                </a:solidFill>
              </a:rPr>
              <a:t>CLASIFICACIÓN</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Áreas Funcionales por Nivel de Complejidad</a:t>
            </a:r>
            <a:endParaRPr lang="en-US" sz="2800" dirty="0"/>
          </a:p>
        </p:txBody>
      </p:sp>
      <p:sp>
        <p:nvSpPr>
          <p:cNvPr id="5" name="Text 3"/>
          <p:cNvSpPr/>
          <p:nvPr/>
        </p:nvSpPr>
        <p:spPr>
          <a:xfrm>
            <a:off x="457200" y="1097280"/>
            <a:ext cx="8229600" cy="320040"/>
          </a:xfrm>
          <a:prstGeom prst="rect">
            <a:avLst/>
          </a:prstGeom>
          <a:noFill/>
          <a:ln/>
        </p:spPr>
        <p:txBody>
          <a:bodyPr wrap="square" rtlCol="0" anchor="ctr"/>
          <a:lstStyle/>
          <a:p>
            <a:pPr marL="0" indent="0">
              <a:buNone/>
            </a:pPr>
            <a:r>
              <a:rPr lang="en-US" sz="1400" dirty="0">
                <a:solidFill>
                  <a:srgbClr val="0A7C92"/>
                </a:solidFill>
                <a:latin typeface="Calibri" pitchFamily="34" charset="0"/>
                <a:ea typeface="Calibri" pitchFamily="34" charset="-122"/>
                <a:cs typeface="Calibri" pitchFamily="34" charset="-120"/>
              </a:rPr>
              <a:t>Criterio clínico — clasificación manual</a:t>
            </a:r>
            <a:endParaRPr lang="en-US" sz="1400" dirty="0"/>
          </a:p>
        </p:txBody>
      </p:sp>
      <p:sp>
        <p:nvSpPr>
          <p:cNvPr id="6" name="Shape 4"/>
          <p:cNvSpPr/>
          <p:nvPr/>
        </p:nvSpPr>
        <p:spPr>
          <a:xfrm>
            <a:off x="274320" y="1417320"/>
            <a:ext cx="2788920" cy="3520440"/>
          </a:xfrm>
          <a:prstGeom prst="rect">
            <a:avLst/>
          </a:prstGeom>
          <a:solidFill>
            <a:srgbClr val="FFFFFF"/>
          </a:solidFill>
          <a:ln/>
          <a:effectLst>
            <a:outerShdw blurRad="76200" dist="25400" dir="8100000" algn="bl" rotWithShape="0">
              <a:srgbClr val="000000">
                <a:alpha val="9000"/>
              </a:srgbClr>
            </a:outerShdw>
          </a:effectLst>
        </p:spPr>
        <p:txBody>
          <a:bodyPr/>
          <a:lstStyle/>
          <a:p>
            <a:endParaRPr lang="es-CL"/>
          </a:p>
        </p:txBody>
      </p:sp>
      <p:sp>
        <p:nvSpPr>
          <p:cNvPr id="7" name="Shape 5"/>
          <p:cNvSpPr/>
          <p:nvPr/>
        </p:nvSpPr>
        <p:spPr>
          <a:xfrm>
            <a:off x="274320" y="1417320"/>
            <a:ext cx="2788920" cy="411480"/>
          </a:xfrm>
          <a:prstGeom prst="rect">
            <a:avLst/>
          </a:prstGeom>
          <a:solidFill>
            <a:srgbClr val="E05252"/>
          </a:solidFill>
          <a:ln/>
        </p:spPr>
        <p:txBody>
          <a:bodyPr/>
          <a:lstStyle/>
          <a:p>
            <a:endParaRPr lang="es-CL"/>
          </a:p>
        </p:txBody>
      </p:sp>
      <p:sp>
        <p:nvSpPr>
          <p:cNvPr id="8" name="Text 6"/>
          <p:cNvSpPr/>
          <p:nvPr/>
        </p:nvSpPr>
        <p:spPr>
          <a:xfrm>
            <a:off x="365760" y="1444752"/>
            <a:ext cx="2606040" cy="347472"/>
          </a:xfrm>
          <a:prstGeom prst="rect">
            <a:avLst/>
          </a:prstGeom>
          <a:noFill/>
          <a:ln/>
        </p:spPr>
        <p:txBody>
          <a:bodyPr wrap="square" rtlCol="0" anchor="ctr"/>
          <a:lstStyle/>
          <a:p>
            <a:pPr marL="0" indent="0" algn="ctr">
              <a:buNone/>
            </a:pPr>
            <a:r>
              <a:rPr lang="en-US" sz="1050" b="1" dirty="0">
                <a:solidFill>
                  <a:srgbClr val="FFFFFF"/>
                </a:solidFill>
              </a:rPr>
              <a:t>ALTA COMPLEJIDAD</a:t>
            </a:r>
            <a:endParaRPr lang="en-US" sz="1050" dirty="0"/>
          </a:p>
        </p:txBody>
      </p:sp>
      <p:sp>
        <p:nvSpPr>
          <p:cNvPr id="9" name="Text 7"/>
          <p:cNvSpPr/>
          <p:nvPr/>
        </p:nvSpPr>
        <p:spPr>
          <a:xfrm>
            <a:off x="365760" y="1874520"/>
            <a:ext cx="2606040" cy="256032"/>
          </a:xfrm>
          <a:prstGeom prst="rect">
            <a:avLst/>
          </a:prstGeom>
          <a:noFill/>
          <a:ln/>
        </p:spPr>
        <p:txBody>
          <a:bodyPr wrap="square" rtlCol="0" anchor="ctr"/>
          <a:lstStyle/>
          <a:p>
            <a:pPr marL="0" indent="0" algn="ctr">
              <a:buNone/>
            </a:pPr>
            <a:r>
              <a:rPr lang="en-US" sz="850" b="1" dirty="0">
                <a:solidFill>
                  <a:srgbClr val="E05252"/>
                </a:solidFill>
                <a:latin typeface="Calibri" pitchFamily="34" charset="0"/>
                <a:ea typeface="Calibri" pitchFamily="34" charset="-122"/>
                <a:cs typeface="Calibri" pitchFamily="34" charset="-120"/>
              </a:rPr>
              <a:t>5 áreas · 31.947 registros</a:t>
            </a:r>
            <a:endParaRPr lang="en-US" sz="850" dirty="0"/>
          </a:p>
        </p:txBody>
      </p:sp>
      <p:sp>
        <p:nvSpPr>
          <p:cNvPr id="10" name="Shape 8"/>
          <p:cNvSpPr/>
          <p:nvPr/>
        </p:nvSpPr>
        <p:spPr>
          <a:xfrm>
            <a:off x="438912" y="2212848"/>
            <a:ext cx="109728" cy="109728"/>
          </a:xfrm>
          <a:prstGeom prst="ellipse">
            <a:avLst/>
          </a:prstGeom>
          <a:solidFill>
            <a:srgbClr val="E05252"/>
          </a:solidFill>
          <a:ln/>
        </p:spPr>
        <p:txBody>
          <a:bodyPr/>
          <a:lstStyle/>
          <a:p>
            <a:endParaRPr lang="es-CL"/>
          </a:p>
        </p:txBody>
      </p:sp>
      <p:sp>
        <p:nvSpPr>
          <p:cNvPr id="11" name="Text 9"/>
          <p:cNvSpPr/>
          <p:nvPr/>
        </p:nvSpPr>
        <p:spPr>
          <a:xfrm>
            <a:off x="603504" y="217627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Cuidados Intensivos Adultos (UCI)</a:t>
            </a:r>
            <a:endParaRPr lang="en-US" sz="900" dirty="0"/>
          </a:p>
        </p:txBody>
      </p:sp>
      <p:sp>
        <p:nvSpPr>
          <p:cNvPr id="12" name="Shape 10"/>
          <p:cNvSpPr/>
          <p:nvPr/>
        </p:nvSpPr>
        <p:spPr>
          <a:xfrm>
            <a:off x="438912" y="2624328"/>
            <a:ext cx="109728" cy="109728"/>
          </a:xfrm>
          <a:prstGeom prst="ellipse">
            <a:avLst/>
          </a:prstGeom>
          <a:solidFill>
            <a:srgbClr val="E05252"/>
          </a:solidFill>
          <a:ln/>
        </p:spPr>
        <p:txBody>
          <a:bodyPr/>
          <a:lstStyle/>
          <a:p>
            <a:endParaRPr lang="es-CL"/>
          </a:p>
        </p:txBody>
      </p:sp>
      <p:sp>
        <p:nvSpPr>
          <p:cNvPr id="13" name="Text 11"/>
          <p:cNvSpPr/>
          <p:nvPr/>
        </p:nvSpPr>
        <p:spPr>
          <a:xfrm>
            <a:off x="603504" y="258775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Cuidados Intensivos Pediátricos</a:t>
            </a:r>
            <a:endParaRPr lang="en-US" sz="900" dirty="0"/>
          </a:p>
        </p:txBody>
      </p:sp>
      <p:sp>
        <p:nvSpPr>
          <p:cNvPr id="14" name="Shape 12"/>
          <p:cNvSpPr/>
          <p:nvPr/>
        </p:nvSpPr>
        <p:spPr>
          <a:xfrm>
            <a:off x="438912" y="3035808"/>
            <a:ext cx="109728" cy="109728"/>
          </a:xfrm>
          <a:prstGeom prst="ellipse">
            <a:avLst/>
          </a:prstGeom>
          <a:solidFill>
            <a:srgbClr val="E05252"/>
          </a:solidFill>
          <a:ln/>
        </p:spPr>
        <p:txBody>
          <a:bodyPr/>
          <a:lstStyle/>
          <a:p>
            <a:endParaRPr lang="es-CL"/>
          </a:p>
        </p:txBody>
      </p:sp>
      <p:sp>
        <p:nvSpPr>
          <p:cNvPr id="15" name="Text 13"/>
          <p:cNvSpPr/>
          <p:nvPr/>
        </p:nvSpPr>
        <p:spPr>
          <a:xfrm>
            <a:off x="603504" y="299923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Cuidados Intermedios Adultos</a:t>
            </a:r>
            <a:endParaRPr lang="en-US" sz="900" dirty="0"/>
          </a:p>
        </p:txBody>
      </p:sp>
      <p:sp>
        <p:nvSpPr>
          <p:cNvPr id="16" name="Shape 14"/>
          <p:cNvSpPr/>
          <p:nvPr/>
        </p:nvSpPr>
        <p:spPr>
          <a:xfrm>
            <a:off x="438912" y="3447288"/>
            <a:ext cx="109728" cy="109728"/>
          </a:xfrm>
          <a:prstGeom prst="ellipse">
            <a:avLst/>
          </a:prstGeom>
          <a:solidFill>
            <a:srgbClr val="E05252"/>
          </a:solidFill>
          <a:ln/>
        </p:spPr>
        <p:txBody>
          <a:bodyPr/>
          <a:lstStyle/>
          <a:p>
            <a:endParaRPr lang="es-CL"/>
          </a:p>
        </p:txBody>
      </p:sp>
      <p:sp>
        <p:nvSpPr>
          <p:cNvPr id="17" name="Text 15"/>
          <p:cNvSpPr/>
          <p:nvPr/>
        </p:nvSpPr>
        <p:spPr>
          <a:xfrm>
            <a:off x="603504" y="341071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Cuidados Intermedios Pediátricos</a:t>
            </a:r>
            <a:endParaRPr lang="en-US" sz="900" dirty="0"/>
          </a:p>
        </p:txBody>
      </p:sp>
      <p:sp>
        <p:nvSpPr>
          <p:cNvPr id="18" name="Shape 16"/>
          <p:cNvSpPr/>
          <p:nvPr/>
        </p:nvSpPr>
        <p:spPr>
          <a:xfrm>
            <a:off x="438912" y="3858768"/>
            <a:ext cx="109728" cy="109728"/>
          </a:xfrm>
          <a:prstGeom prst="ellipse">
            <a:avLst/>
          </a:prstGeom>
          <a:solidFill>
            <a:srgbClr val="E05252"/>
          </a:solidFill>
          <a:ln/>
        </p:spPr>
        <p:txBody>
          <a:bodyPr/>
          <a:lstStyle/>
          <a:p>
            <a:endParaRPr lang="es-CL"/>
          </a:p>
        </p:txBody>
      </p:sp>
      <p:sp>
        <p:nvSpPr>
          <p:cNvPr id="19" name="Text 17"/>
          <p:cNvSpPr/>
          <p:nvPr/>
        </p:nvSpPr>
        <p:spPr>
          <a:xfrm>
            <a:off x="603504" y="382219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Neonatología Cuidados Intensivos</a:t>
            </a:r>
            <a:endParaRPr lang="en-US" sz="900" dirty="0"/>
          </a:p>
        </p:txBody>
      </p:sp>
      <p:sp>
        <p:nvSpPr>
          <p:cNvPr id="20" name="Shape 18"/>
          <p:cNvSpPr/>
          <p:nvPr/>
        </p:nvSpPr>
        <p:spPr>
          <a:xfrm>
            <a:off x="274320" y="4663440"/>
            <a:ext cx="2788920" cy="274320"/>
          </a:xfrm>
          <a:prstGeom prst="rect">
            <a:avLst/>
          </a:prstGeom>
          <a:solidFill>
            <a:srgbClr val="E05252">
              <a:alpha val="15000"/>
            </a:srgbClr>
          </a:solidFill>
          <a:ln/>
        </p:spPr>
        <p:txBody>
          <a:bodyPr/>
          <a:lstStyle/>
          <a:p>
            <a:endParaRPr lang="es-CL"/>
          </a:p>
        </p:txBody>
      </p:sp>
      <p:sp>
        <p:nvSpPr>
          <p:cNvPr id="21" name="Text 19"/>
          <p:cNvSpPr/>
          <p:nvPr/>
        </p:nvSpPr>
        <p:spPr>
          <a:xfrm>
            <a:off x="347472" y="4690872"/>
            <a:ext cx="2651760" cy="219456"/>
          </a:xfrm>
          <a:prstGeom prst="rect">
            <a:avLst/>
          </a:prstGeom>
          <a:noFill/>
          <a:ln/>
        </p:spPr>
        <p:txBody>
          <a:bodyPr wrap="square" rtlCol="0" anchor="ctr"/>
          <a:lstStyle/>
          <a:p>
            <a:pPr marL="0" indent="0">
              <a:buNone/>
            </a:pPr>
            <a:r>
              <a:rPr lang="en-US" sz="800" b="1" dirty="0">
                <a:solidFill>
                  <a:srgbClr val="0D1B2A"/>
                </a:solidFill>
                <a:latin typeface="Calibri" pitchFamily="34" charset="0"/>
                <a:ea typeface="Calibri" pitchFamily="34" charset="-122"/>
                <a:cs typeface="Calibri" pitchFamily="34" charset="-120"/>
              </a:rPr>
              <a:t>IO media: 76,2%  ·  Letalidad: 29,9%  ·  Días estada: 31,3</a:t>
            </a:r>
            <a:endParaRPr lang="en-US" sz="800" dirty="0"/>
          </a:p>
        </p:txBody>
      </p:sp>
      <p:sp>
        <p:nvSpPr>
          <p:cNvPr id="22" name="Shape 20"/>
          <p:cNvSpPr/>
          <p:nvPr/>
        </p:nvSpPr>
        <p:spPr>
          <a:xfrm>
            <a:off x="3218688" y="1417320"/>
            <a:ext cx="2788920" cy="3520440"/>
          </a:xfrm>
          <a:prstGeom prst="rect">
            <a:avLst/>
          </a:prstGeom>
          <a:solidFill>
            <a:srgbClr val="FFFFFF"/>
          </a:solidFill>
          <a:ln/>
          <a:effectLst>
            <a:outerShdw blurRad="76200" dist="25400" dir="8100000" algn="bl" rotWithShape="0">
              <a:srgbClr val="000000">
                <a:alpha val="9000"/>
              </a:srgbClr>
            </a:outerShdw>
          </a:effectLst>
        </p:spPr>
        <p:txBody>
          <a:bodyPr/>
          <a:lstStyle/>
          <a:p>
            <a:endParaRPr lang="es-CL"/>
          </a:p>
        </p:txBody>
      </p:sp>
      <p:sp>
        <p:nvSpPr>
          <p:cNvPr id="23" name="Shape 21"/>
          <p:cNvSpPr/>
          <p:nvPr/>
        </p:nvSpPr>
        <p:spPr>
          <a:xfrm>
            <a:off x="3218688" y="1417320"/>
            <a:ext cx="2788920" cy="411480"/>
          </a:xfrm>
          <a:prstGeom prst="rect">
            <a:avLst/>
          </a:prstGeom>
          <a:solidFill>
            <a:srgbClr val="2EAA6A"/>
          </a:solidFill>
          <a:ln/>
        </p:spPr>
        <p:txBody>
          <a:bodyPr/>
          <a:lstStyle/>
          <a:p>
            <a:endParaRPr lang="es-CL"/>
          </a:p>
        </p:txBody>
      </p:sp>
      <p:sp>
        <p:nvSpPr>
          <p:cNvPr id="24" name="Text 22"/>
          <p:cNvSpPr/>
          <p:nvPr/>
        </p:nvSpPr>
        <p:spPr>
          <a:xfrm>
            <a:off x="3310128" y="1444752"/>
            <a:ext cx="2606040" cy="347472"/>
          </a:xfrm>
          <a:prstGeom prst="rect">
            <a:avLst/>
          </a:prstGeom>
          <a:noFill/>
          <a:ln/>
        </p:spPr>
        <p:txBody>
          <a:bodyPr wrap="square" rtlCol="0" anchor="ctr"/>
          <a:lstStyle/>
          <a:p>
            <a:pPr marL="0" indent="0" algn="ctr">
              <a:buNone/>
            </a:pPr>
            <a:r>
              <a:rPr lang="en-US" sz="1050" b="1" dirty="0">
                <a:solidFill>
                  <a:srgbClr val="FFFFFF"/>
                </a:solidFill>
              </a:rPr>
              <a:t>BAJA COMPLEJIDAD</a:t>
            </a:r>
            <a:endParaRPr lang="en-US" sz="1050" dirty="0"/>
          </a:p>
        </p:txBody>
      </p:sp>
      <p:sp>
        <p:nvSpPr>
          <p:cNvPr id="25" name="Text 23"/>
          <p:cNvSpPr/>
          <p:nvPr/>
        </p:nvSpPr>
        <p:spPr>
          <a:xfrm>
            <a:off x="3310128" y="1874520"/>
            <a:ext cx="2606040" cy="256032"/>
          </a:xfrm>
          <a:prstGeom prst="rect">
            <a:avLst/>
          </a:prstGeom>
          <a:noFill/>
          <a:ln/>
        </p:spPr>
        <p:txBody>
          <a:bodyPr wrap="square" rtlCol="0" anchor="ctr"/>
          <a:lstStyle/>
          <a:p>
            <a:pPr marL="0" indent="0" algn="ctr">
              <a:buNone/>
            </a:pPr>
            <a:r>
              <a:rPr lang="en-US" sz="850" b="1" dirty="0">
                <a:solidFill>
                  <a:srgbClr val="2EAA6A"/>
                </a:solidFill>
                <a:latin typeface="Calibri" pitchFamily="34" charset="0"/>
                <a:ea typeface="Calibri" pitchFamily="34" charset="-122"/>
                <a:cs typeface="Calibri" pitchFamily="34" charset="-120"/>
              </a:rPr>
              <a:t>3 áreas · 48.549 registros</a:t>
            </a:r>
            <a:endParaRPr lang="en-US" sz="850" dirty="0"/>
          </a:p>
        </p:txBody>
      </p:sp>
      <p:sp>
        <p:nvSpPr>
          <p:cNvPr id="26" name="Shape 24"/>
          <p:cNvSpPr/>
          <p:nvPr/>
        </p:nvSpPr>
        <p:spPr>
          <a:xfrm>
            <a:off x="3383280" y="2212848"/>
            <a:ext cx="109728" cy="109728"/>
          </a:xfrm>
          <a:prstGeom prst="ellipse">
            <a:avLst/>
          </a:prstGeom>
          <a:solidFill>
            <a:srgbClr val="2EAA6A"/>
          </a:solidFill>
          <a:ln/>
        </p:spPr>
        <p:txBody>
          <a:bodyPr/>
          <a:lstStyle/>
          <a:p>
            <a:endParaRPr lang="es-CL"/>
          </a:p>
        </p:txBody>
      </p:sp>
      <p:sp>
        <p:nvSpPr>
          <p:cNvPr id="27" name="Text 25"/>
          <p:cNvSpPr/>
          <p:nvPr/>
        </p:nvSpPr>
        <p:spPr>
          <a:xfrm>
            <a:off x="3547872" y="217627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Médica Adulto Cuidados Básicos</a:t>
            </a:r>
            <a:endParaRPr lang="en-US" sz="900" dirty="0"/>
          </a:p>
        </p:txBody>
      </p:sp>
      <p:sp>
        <p:nvSpPr>
          <p:cNvPr id="28" name="Shape 26"/>
          <p:cNvSpPr/>
          <p:nvPr/>
        </p:nvSpPr>
        <p:spPr>
          <a:xfrm>
            <a:off x="3383280" y="2624328"/>
            <a:ext cx="109728" cy="109728"/>
          </a:xfrm>
          <a:prstGeom prst="ellipse">
            <a:avLst/>
          </a:prstGeom>
          <a:solidFill>
            <a:srgbClr val="2EAA6A"/>
          </a:solidFill>
          <a:ln/>
        </p:spPr>
        <p:txBody>
          <a:bodyPr/>
          <a:lstStyle/>
          <a:p>
            <a:endParaRPr lang="es-CL"/>
          </a:p>
        </p:txBody>
      </p:sp>
      <p:sp>
        <p:nvSpPr>
          <p:cNvPr id="29" name="Text 27"/>
          <p:cNvSpPr/>
          <p:nvPr/>
        </p:nvSpPr>
        <p:spPr>
          <a:xfrm>
            <a:off x="3547872" y="258775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Médico-Quirúrgico Cuidados Básicos</a:t>
            </a:r>
            <a:endParaRPr lang="en-US" sz="900" dirty="0"/>
          </a:p>
        </p:txBody>
      </p:sp>
      <p:sp>
        <p:nvSpPr>
          <p:cNvPr id="30" name="Shape 28"/>
          <p:cNvSpPr/>
          <p:nvPr/>
        </p:nvSpPr>
        <p:spPr>
          <a:xfrm>
            <a:off x="3383280" y="3035808"/>
            <a:ext cx="109728" cy="109728"/>
          </a:xfrm>
          <a:prstGeom prst="ellipse">
            <a:avLst/>
          </a:prstGeom>
          <a:solidFill>
            <a:srgbClr val="2EAA6A"/>
          </a:solidFill>
          <a:ln/>
        </p:spPr>
        <p:txBody>
          <a:bodyPr/>
          <a:lstStyle/>
          <a:p>
            <a:endParaRPr lang="es-CL"/>
          </a:p>
        </p:txBody>
      </p:sp>
      <p:sp>
        <p:nvSpPr>
          <p:cNvPr id="31" name="Text 29"/>
          <p:cNvSpPr/>
          <p:nvPr/>
        </p:nvSpPr>
        <p:spPr>
          <a:xfrm>
            <a:off x="3547872" y="299923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Obstetricia</a:t>
            </a:r>
            <a:endParaRPr lang="en-US" sz="900" dirty="0"/>
          </a:p>
        </p:txBody>
      </p:sp>
      <p:sp>
        <p:nvSpPr>
          <p:cNvPr id="32" name="Shape 30"/>
          <p:cNvSpPr/>
          <p:nvPr/>
        </p:nvSpPr>
        <p:spPr>
          <a:xfrm>
            <a:off x="3218688" y="4663440"/>
            <a:ext cx="2788920" cy="274320"/>
          </a:xfrm>
          <a:prstGeom prst="rect">
            <a:avLst/>
          </a:prstGeom>
          <a:solidFill>
            <a:srgbClr val="2EAA6A">
              <a:alpha val="15000"/>
            </a:srgbClr>
          </a:solidFill>
          <a:ln/>
        </p:spPr>
        <p:txBody>
          <a:bodyPr/>
          <a:lstStyle/>
          <a:p>
            <a:endParaRPr lang="es-CL"/>
          </a:p>
        </p:txBody>
      </p:sp>
      <p:sp>
        <p:nvSpPr>
          <p:cNvPr id="33" name="Text 31"/>
          <p:cNvSpPr/>
          <p:nvPr/>
        </p:nvSpPr>
        <p:spPr>
          <a:xfrm>
            <a:off x="3291840" y="4690872"/>
            <a:ext cx="2651760" cy="219456"/>
          </a:xfrm>
          <a:prstGeom prst="rect">
            <a:avLst/>
          </a:prstGeom>
          <a:noFill/>
          <a:ln/>
        </p:spPr>
        <p:txBody>
          <a:bodyPr wrap="square" rtlCol="0" anchor="ctr"/>
          <a:lstStyle/>
          <a:p>
            <a:pPr marL="0" indent="0">
              <a:buNone/>
            </a:pPr>
            <a:r>
              <a:rPr lang="en-US" sz="800" b="1" dirty="0">
                <a:solidFill>
                  <a:srgbClr val="0D1B2A"/>
                </a:solidFill>
                <a:latin typeface="Calibri" pitchFamily="34" charset="0"/>
                <a:ea typeface="Calibri" pitchFamily="34" charset="-122"/>
                <a:cs typeface="Calibri" pitchFamily="34" charset="-120"/>
              </a:rPr>
              <a:t>IO media: 62,4%  ·  Letalidad: 2,5%  ·  Días estada: 6,8</a:t>
            </a:r>
            <a:endParaRPr lang="en-US" sz="800" dirty="0"/>
          </a:p>
        </p:txBody>
      </p:sp>
      <p:sp>
        <p:nvSpPr>
          <p:cNvPr id="34" name="Shape 32"/>
          <p:cNvSpPr/>
          <p:nvPr/>
        </p:nvSpPr>
        <p:spPr>
          <a:xfrm>
            <a:off x="6163056" y="1417320"/>
            <a:ext cx="2788920" cy="3520440"/>
          </a:xfrm>
          <a:prstGeom prst="rect">
            <a:avLst/>
          </a:prstGeom>
          <a:solidFill>
            <a:srgbClr val="FFFFFF"/>
          </a:solidFill>
          <a:ln/>
          <a:effectLst>
            <a:outerShdw blurRad="76200" dist="25400" dir="8100000" algn="bl" rotWithShape="0">
              <a:srgbClr val="000000">
                <a:alpha val="9000"/>
              </a:srgbClr>
            </a:outerShdw>
          </a:effectLst>
        </p:spPr>
        <p:txBody>
          <a:bodyPr/>
          <a:lstStyle/>
          <a:p>
            <a:endParaRPr lang="es-CL"/>
          </a:p>
        </p:txBody>
      </p:sp>
      <p:sp>
        <p:nvSpPr>
          <p:cNvPr id="35" name="Shape 33"/>
          <p:cNvSpPr/>
          <p:nvPr/>
        </p:nvSpPr>
        <p:spPr>
          <a:xfrm>
            <a:off x="6163056" y="1417320"/>
            <a:ext cx="2788920" cy="411480"/>
          </a:xfrm>
          <a:prstGeom prst="rect">
            <a:avLst/>
          </a:prstGeom>
          <a:solidFill>
            <a:srgbClr val="4A90D9"/>
          </a:solidFill>
          <a:ln/>
        </p:spPr>
        <p:txBody>
          <a:bodyPr/>
          <a:lstStyle/>
          <a:p>
            <a:endParaRPr lang="es-CL"/>
          </a:p>
        </p:txBody>
      </p:sp>
      <p:sp>
        <p:nvSpPr>
          <p:cNvPr id="36" name="Text 34"/>
          <p:cNvSpPr/>
          <p:nvPr/>
        </p:nvSpPr>
        <p:spPr>
          <a:xfrm>
            <a:off x="6254496" y="1444752"/>
            <a:ext cx="2606040" cy="347472"/>
          </a:xfrm>
          <a:prstGeom prst="rect">
            <a:avLst/>
          </a:prstGeom>
          <a:noFill/>
          <a:ln/>
        </p:spPr>
        <p:txBody>
          <a:bodyPr wrap="square" rtlCol="0" anchor="ctr"/>
          <a:lstStyle/>
          <a:p>
            <a:pPr marL="0" indent="0" algn="ctr">
              <a:buNone/>
            </a:pPr>
            <a:r>
              <a:rPr lang="en-US" sz="1050" b="1" dirty="0">
                <a:solidFill>
                  <a:srgbClr val="FFFFFF"/>
                </a:solidFill>
              </a:rPr>
              <a:t>MEDIA COMPLEJIDAD</a:t>
            </a:r>
            <a:endParaRPr lang="en-US" sz="1050" dirty="0"/>
          </a:p>
        </p:txBody>
      </p:sp>
      <p:sp>
        <p:nvSpPr>
          <p:cNvPr id="37" name="Text 35"/>
          <p:cNvSpPr/>
          <p:nvPr/>
        </p:nvSpPr>
        <p:spPr>
          <a:xfrm>
            <a:off x="6254496" y="1874520"/>
            <a:ext cx="2606040" cy="256032"/>
          </a:xfrm>
          <a:prstGeom prst="rect">
            <a:avLst/>
          </a:prstGeom>
          <a:noFill/>
          <a:ln/>
        </p:spPr>
        <p:txBody>
          <a:bodyPr wrap="square" rtlCol="0" anchor="ctr"/>
          <a:lstStyle/>
          <a:p>
            <a:pPr marL="0" indent="0" algn="ctr">
              <a:buNone/>
            </a:pPr>
            <a:r>
              <a:rPr lang="en-US" sz="850" b="1" dirty="0">
                <a:solidFill>
                  <a:srgbClr val="4A90D9"/>
                </a:solidFill>
                <a:latin typeface="Calibri" pitchFamily="34" charset="0"/>
                <a:ea typeface="Calibri" pitchFamily="34" charset="-122"/>
                <a:cs typeface="Calibri" pitchFamily="34" charset="-120"/>
              </a:rPr>
              <a:t>23 áreas restantes · 77.500 registros</a:t>
            </a:r>
            <a:endParaRPr lang="en-US" sz="850" dirty="0"/>
          </a:p>
        </p:txBody>
      </p:sp>
      <p:sp>
        <p:nvSpPr>
          <p:cNvPr id="38" name="Shape 36"/>
          <p:cNvSpPr/>
          <p:nvPr/>
        </p:nvSpPr>
        <p:spPr>
          <a:xfrm>
            <a:off x="6327648" y="2212848"/>
            <a:ext cx="109728" cy="109728"/>
          </a:xfrm>
          <a:prstGeom prst="ellipse">
            <a:avLst/>
          </a:prstGeom>
          <a:solidFill>
            <a:srgbClr val="4A90D9"/>
          </a:solidFill>
          <a:ln/>
        </p:spPr>
        <p:txBody>
          <a:bodyPr/>
          <a:lstStyle/>
          <a:p>
            <a:endParaRPr lang="es-CL"/>
          </a:p>
        </p:txBody>
      </p:sp>
      <p:sp>
        <p:nvSpPr>
          <p:cNvPr id="39" name="Text 37"/>
          <p:cNvSpPr/>
          <p:nvPr/>
        </p:nvSpPr>
        <p:spPr>
          <a:xfrm>
            <a:off x="6492240" y="217627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Psiquiatría (todos los subtipos)</a:t>
            </a:r>
            <a:endParaRPr lang="en-US" sz="900" dirty="0"/>
          </a:p>
        </p:txBody>
      </p:sp>
      <p:sp>
        <p:nvSpPr>
          <p:cNvPr id="40" name="Shape 38"/>
          <p:cNvSpPr/>
          <p:nvPr/>
        </p:nvSpPr>
        <p:spPr>
          <a:xfrm>
            <a:off x="6327648" y="2624328"/>
            <a:ext cx="109728" cy="109728"/>
          </a:xfrm>
          <a:prstGeom prst="ellipse">
            <a:avLst/>
          </a:prstGeom>
          <a:solidFill>
            <a:srgbClr val="4A90D9"/>
          </a:solidFill>
          <a:ln/>
        </p:spPr>
        <p:txBody>
          <a:bodyPr/>
          <a:lstStyle/>
          <a:p>
            <a:endParaRPr lang="es-CL"/>
          </a:p>
        </p:txBody>
      </p:sp>
      <p:sp>
        <p:nvSpPr>
          <p:cNvPr id="41" name="Text 39"/>
          <p:cNvSpPr/>
          <p:nvPr/>
        </p:nvSpPr>
        <p:spPr>
          <a:xfrm>
            <a:off x="6492240" y="258775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Pediatría Médica / Médico-Quirúrgica</a:t>
            </a:r>
            <a:endParaRPr lang="en-US" sz="900" dirty="0"/>
          </a:p>
        </p:txBody>
      </p:sp>
      <p:sp>
        <p:nvSpPr>
          <p:cNvPr id="42" name="Shape 40"/>
          <p:cNvSpPr/>
          <p:nvPr/>
        </p:nvSpPr>
        <p:spPr>
          <a:xfrm>
            <a:off x="6327648" y="3035808"/>
            <a:ext cx="109728" cy="109728"/>
          </a:xfrm>
          <a:prstGeom prst="ellipse">
            <a:avLst/>
          </a:prstGeom>
          <a:solidFill>
            <a:srgbClr val="4A90D9"/>
          </a:solidFill>
          <a:ln/>
        </p:spPr>
        <p:txBody>
          <a:bodyPr/>
          <a:lstStyle/>
          <a:p>
            <a:endParaRPr lang="es-CL"/>
          </a:p>
        </p:txBody>
      </p:sp>
      <p:sp>
        <p:nvSpPr>
          <p:cNvPr id="43" name="Text 41"/>
          <p:cNvSpPr/>
          <p:nvPr/>
        </p:nvSpPr>
        <p:spPr>
          <a:xfrm>
            <a:off x="6492240" y="299923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Neurología, Oncología, Geriatría...</a:t>
            </a:r>
            <a:endParaRPr lang="en-US" sz="900" dirty="0"/>
          </a:p>
        </p:txBody>
      </p:sp>
      <p:sp>
        <p:nvSpPr>
          <p:cNvPr id="44" name="Shape 42"/>
          <p:cNvSpPr/>
          <p:nvPr/>
        </p:nvSpPr>
        <p:spPr>
          <a:xfrm>
            <a:off x="6327648" y="3447288"/>
            <a:ext cx="109728" cy="109728"/>
          </a:xfrm>
          <a:prstGeom prst="ellipse">
            <a:avLst/>
          </a:prstGeom>
          <a:solidFill>
            <a:srgbClr val="4A90D9"/>
          </a:solidFill>
          <a:ln/>
        </p:spPr>
        <p:txBody>
          <a:bodyPr/>
          <a:lstStyle/>
          <a:p>
            <a:endParaRPr lang="es-CL"/>
          </a:p>
        </p:txBody>
      </p:sp>
      <p:sp>
        <p:nvSpPr>
          <p:cNvPr id="45" name="Text 43"/>
          <p:cNvSpPr/>
          <p:nvPr/>
        </p:nvSpPr>
        <p:spPr>
          <a:xfrm>
            <a:off x="6492240" y="341071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Sociosanitaria Adulto</a:t>
            </a:r>
            <a:endParaRPr lang="en-US" sz="900" dirty="0"/>
          </a:p>
        </p:txBody>
      </p:sp>
      <p:sp>
        <p:nvSpPr>
          <p:cNvPr id="46" name="Shape 44"/>
          <p:cNvSpPr/>
          <p:nvPr/>
        </p:nvSpPr>
        <p:spPr>
          <a:xfrm>
            <a:off x="6327648" y="3858768"/>
            <a:ext cx="109728" cy="109728"/>
          </a:xfrm>
          <a:prstGeom prst="ellipse">
            <a:avLst/>
          </a:prstGeom>
          <a:solidFill>
            <a:srgbClr val="4A90D9"/>
          </a:solidFill>
          <a:ln/>
        </p:spPr>
        <p:txBody>
          <a:bodyPr/>
          <a:lstStyle/>
          <a:p>
            <a:endParaRPr lang="es-CL"/>
          </a:p>
        </p:txBody>
      </p:sp>
      <p:sp>
        <p:nvSpPr>
          <p:cNvPr id="47" name="Text 45"/>
          <p:cNvSpPr/>
          <p:nvPr/>
        </p:nvSpPr>
        <p:spPr>
          <a:xfrm>
            <a:off x="6492240" y="3822192"/>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y 19 áreas más...</a:t>
            </a:r>
            <a:endParaRPr lang="en-US" sz="900" dirty="0"/>
          </a:p>
        </p:txBody>
      </p:sp>
      <p:sp>
        <p:nvSpPr>
          <p:cNvPr id="48" name="Shape 46"/>
          <p:cNvSpPr/>
          <p:nvPr/>
        </p:nvSpPr>
        <p:spPr>
          <a:xfrm>
            <a:off x="6163056" y="4663440"/>
            <a:ext cx="2788920" cy="274320"/>
          </a:xfrm>
          <a:prstGeom prst="rect">
            <a:avLst/>
          </a:prstGeom>
          <a:solidFill>
            <a:srgbClr val="4A90D9">
              <a:alpha val="15000"/>
            </a:srgbClr>
          </a:solidFill>
          <a:ln/>
        </p:spPr>
        <p:txBody>
          <a:bodyPr/>
          <a:lstStyle/>
          <a:p>
            <a:endParaRPr lang="es-CL"/>
          </a:p>
        </p:txBody>
      </p:sp>
      <p:sp>
        <p:nvSpPr>
          <p:cNvPr id="49" name="Text 47"/>
          <p:cNvSpPr/>
          <p:nvPr/>
        </p:nvSpPr>
        <p:spPr>
          <a:xfrm>
            <a:off x="6236208" y="4690872"/>
            <a:ext cx="2651760" cy="219456"/>
          </a:xfrm>
          <a:prstGeom prst="rect">
            <a:avLst/>
          </a:prstGeom>
          <a:noFill/>
          <a:ln/>
        </p:spPr>
        <p:txBody>
          <a:bodyPr wrap="square" rtlCol="0" anchor="ctr"/>
          <a:lstStyle/>
          <a:p>
            <a:pPr marL="0" indent="0">
              <a:buNone/>
            </a:pPr>
            <a:r>
              <a:rPr lang="en-US" sz="800" b="1" dirty="0">
                <a:solidFill>
                  <a:srgbClr val="0D1B2A"/>
                </a:solidFill>
                <a:latin typeface="Calibri" pitchFamily="34" charset="0"/>
                <a:ea typeface="Calibri" pitchFamily="34" charset="-122"/>
                <a:cs typeface="Calibri" pitchFamily="34" charset="-120"/>
              </a:rPr>
              <a:t>IO media: 58,3%  ·  Letalidad: 1,8%  ·  Días estada: 21,2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7C92"/>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0A7C92"/>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1</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0A7C92"/>
                </a:solidFill>
                <a:latin typeface="Calibri" pitchFamily="34" charset="0"/>
                <a:ea typeface="Calibri" pitchFamily="34" charset="-122"/>
                <a:cs typeface="Calibri" pitchFamily="34" charset="-120"/>
              </a:rPr>
              <a:t>P1 — ¿Cómo han evolucionado los patrones de hospitalización?</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Egresos · Días-cama disponibles vs ocupadas · Índice Ocupacional  (2014–2025)</a:t>
            </a:r>
            <a:endParaRPr lang="en-US" sz="1800" dirty="0"/>
          </a:p>
        </p:txBody>
      </p:sp>
      <p:pic>
        <p:nvPicPr>
          <p:cNvPr id="7" name="Image 0" descr="preencoded.png"/>
          <p:cNvPicPr>
            <a:picLocks noChangeAspect="1"/>
          </p:cNvPicPr>
          <p:nvPr/>
        </p:nvPicPr>
        <p:blipFill>
          <a:blip r:embed="rId2"/>
          <a:srcRect/>
          <a:stretch/>
        </p:blipFill>
        <p:spPr>
          <a:xfrm>
            <a:off x="137160" y="1371600"/>
            <a:ext cx="8869680" cy="2377440"/>
          </a:xfrm>
          <a:prstGeom prst="rect">
            <a:avLst/>
          </a:prstGeom>
        </p:spPr>
      </p:pic>
      <p:sp>
        <p:nvSpPr>
          <p:cNvPr id="8" name="Shape 5"/>
          <p:cNvSpPr/>
          <p:nvPr/>
        </p:nvSpPr>
        <p:spPr>
          <a:xfrm>
            <a:off x="157588" y="3767328"/>
            <a:ext cx="2852928"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150876" y="3718333"/>
            <a:ext cx="2852928" cy="45720"/>
          </a:xfrm>
          <a:prstGeom prst="rect">
            <a:avLst/>
          </a:prstGeom>
          <a:solidFill>
            <a:srgbClr val="0A7C92"/>
          </a:solidFill>
          <a:ln/>
        </p:spPr>
        <p:txBody>
          <a:bodyPr/>
          <a:lstStyle/>
          <a:p>
            <a:endParaRPr lang="es-CL"/>
          </a:p>
        </p:txBody>
      </p:sp>
      <p:sp>
        <p:nvSpPr>
          <p:cNvPr id="10" name="Text 7"/>
          <p:cNvSpPr/>
          <p:nvPr/>
        </p:nvSpPr>
        <p:spPr>
          <a:xfrm>
            <a:off x="286966" y="3776472"/>
            <a:ext cx="2670048"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Los egresos se mantuvieron sobre 1 millón anual entre 2014–2019. En 2020 caen abruptamente a ~840.000 (−19%) por COVID-19, que suspendió cirugías electivas y hospitalizaciones no urgentes. Desde 2021 hay recuperación progresiva pero sin alcanzar completamente los niveles previos.</a:t>
            </a:r>
            <a:endParaRPr lang="en-US" sz="850" dirty="0"/>
          </a:p>
        </p:txBody>
      </p:sp>
      <p:sp>
        <p:nvSpPr>
          <p:cNvPr id="11" name="Shape 8"/>
          <p:cNvSpPr/>
          <p:nvPr/>
        </p:nvSpPr>
        <p:spPr>
          <a:xfrm>
            <a:off x="3145536" y="3689604"/>
            <a:ext cx="2852928"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2" name="Shape 9"/>
          <p:cNvSpPr/>
          <p:nvPr/>
        </p:nvSpPr>
        <p:spPr>
          <a:xfrm>
            <a:off x="3145536" y="3721608"/>
            <a:ext cx="2852928" cy="45720"/>
          </a:xfrm>
          <a:prstGeom prst="rect">
            <a:avLst/>
          </a:prstGeom>
          <a:solidFill>
            <a:srgbClr val="0A7C92"/>
          </a:solidFill>
          <a:ln/>
        </p:spPr>
        <p:txBody>
          <a:bodyPr/>
          <a:lstStyle/>
          <a:p>
            <a:endParaRPr lang="es-CL"/>
          </a:p>
        </p:txBody>
      </p:sp>
      <p:sp>
        <p:nvSpPr>
          <p:cNvPr id="13" name="Text 10"/>
          <p:cNvSpPr/>
          <p:nvPr/>
        </p:nvSpPr>
        <p:spPr>
          <a:xfrm>
            <a:off x="3209544" y="3803904"/>
            <a:ext cx="2670048"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capacidad instalada creció de forma sostenida entre 9 y 9,5 millones de días-cama anuales. Los días ocupados también subieron, pero persiste una brecha de ~2 millones de días-cama ociosos (20–22%). En 2020 esa brecha se amplió drásticamente por la caída en la ocupación.</a:t>
            </a:r>
            <a:endParaRPr lang="en-US" sz="850" dirty="0"/>
          </a:p>
        </p:txBody>
      </p:sp>
      <p:sp>
        <p:nvSpPr>
          <p:cNvPr id="14" name="Shape 11"/>
          <p:cNvSpPr/>
          <p:nvPr/>
        </p:nvSpPr>
        <p:spPr>
          <a:xfrm>
            <a:off x="6030468" y="3749040"/>
            <a:ext cx="2834640"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5" name="Shape 12"/>
          <p:cNvSpPr/>
          <p:nvPr/>
        </p:nvSpPr>
        <p:spPr>
          <a:xfrm>
            <a:off x="6035040" y="3721608"/>
            <a:ext cx="2834640" cy="45720"/>
          </a:xfrm>
          <a:prstGeom prst="rect">
            <a:avLst/>
          </a:prstGeom>
          <a:solidFill>
            <a:srgbClr val="0A7C92"/>
          </a:solidFill>
          <a:ln/>
        </p:spPr>
        <p:txBody>
          <a:bodyPr/>
          <a:lstStyle/>
          <a:p>
            <a:endParaRPr lang="es-CL"/>
          </a:p>
        </p:txBody>
      </p:sp>
      <p:sp>
        <p:nvSpPr>
          <p:cNvPr id="16" name="Text 13"/>
          <p:cNvSpPr/>
          <p:nvPr/>
        </p:nvSpPr>
        <p:spPr>
          <a:xfrm>
            <a:off x="6062472" y="3767328"/>
            <a:ext cx="2651760"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El IO promedio oscila entre 62–67%, consistentemente bajo el umbral del 70% (OMS). Las líneas de referencia marcan 70% (eficiencia) y 85% (saturación). Este promedio nacional oculta heterogeneidad crítica: hay áreas crónicamente saturadas mientras otras están subutilizadas.</a:t>
            </a:r>
            <a:endParaRPr lang="en-US" sz="850" dirty="0"/>
          </a:p>
        </p:txBody>
      </p:sp>
      <p:sp>
        <p:nvSpPr>
          <p:cNvPr id="17" name="Shape 14"/>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8" name="Shape 15"/>
          <p:cNvSpPr/>
          <p:nvPr/>
        </p:nvSpPr>
        <p:spPr>
          <a:xfrm>
            <a:off x="137160" y="4572000"/>
            <a:ext cx="64008" cy="502920"/>
          </a:xfrm>
          <a:prstGeom prst="rect">
            <a:avLst/>
          </a:prstGeom>
          <a:solidFill>
            <a:srgbClr val="0A7C92"/>
          </a:solidFill>
          <a:ln/>
        </p:spPr>
        <p:txBody>
          <a:bodyPr/>
          <a:lstStyle/>
          <a:p>
            <a:endParaRPr lang="es-CL"/>
          </a:p>
        </p:txBody>
      </p:sp>
      <p:sp>
        <p:nvSpPr>
          <p:cNvPr id="19" name="Text 16"/>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20" name="Text 17"/>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El sistema se mantuvo estructuralmente estable entre 2014–2025. El único quiebre fue la pandemia de 2020 — transitorio y no estructural. La ocupación nacional aparenta subutilización (62–67%), pero eso es engañoso: el promedio oculta UCIs crónicamente saturadas sobre el 80%.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4815" y="137160"/>
            <a:ext cx="73152" cy="5143500"/>
          </a:xfrm>
          <a:prstGeom prst="rect">
            <a:avLst/>
          </a:prstGeom>
          <a:solidFill>
            <a:srgbClr val="D94F4F"/>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D94F4F"/>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2</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D94F4F"/>
                </a:solidFill>
                <a:latin typeface="Calibri" pitchFamily="34" charset="0"/>
                <a:ea typeface="Calibri" pitchFamily="34" charset="-122"/>
                <a:cs typeface="Calibri" pitchFamily="34" charset="-120"/>
              </a:rPr>
              <a:t>P2 — ¿Existen cambios temporales en la complejidad clínica?</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3 indicadores sustitutos: días de estada · letalidad · índice de rotación — por nivel de complejidad</a:t>
            </a:r>
            <a:endParaRPr lang="en-US" sz="1800" dirty="0"/>
          </a:p>
        </p:txBody>
      </p:sp>
      <p:pic>
        <p:nvPicPr>
          <p:cNvPr id="7" name="Image 0" descr="preencoded.png"/>
          <p:cNvPicPr>
            <a:picLocks noChangeAspect="1"/>
          </p:cNvPicPr>
          <p:nvPr/>
        </p:nvPicPr>
        <p:blipFill>
          <a:blip r:embed="rId2"/>
          <a:srcRect/>
          <a:stretch/>
        </p:blipFill>
        <p:spPr>
          <a:xfrm>
            <a:off x="137160" y="1371600"/>
            <a:ext cx="8869680" cy="2542032"/>
          </a:xfrm>
          <a:prstGeom prst="rect">
            <a:avLst/>
          </a:prstGeom>
        </p:spPr>
      </p:pic>
      <p:sp>
        <p:nvSpPr>
          <p:cNvPr id="8" name="Shape 5"/>
          <p:cNvSpPr/>
          <p:nvPr/>
        </p:nvSpPr>
        <p:spPr>
          <a:xfrm>
            <a:off x="251201" y="3884822"/>
            <a:ext cx="2852928" cy="82296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256032" y="3901732"/>
            <a:ext cx="2852928" cy="45720"/>
          </a:xfrm>
          <a:prstGeom prst="rect">
            <a:avLst/>
          </a:prstGeom>
          <a:solidFill>
            <a:srgbClr val="D94F4F"/>
          </a:solidFill>
          <a:ln/>
        </p:spPr>
        <p:txBody>
          <a:bodyPr/>
          <a:lstStyle/>
          <a:p>
            <a:endParaRPr lang="es-CL"/>
          </a:p>
        </p:txBody>
      </p:sp>
      <p:sp>
        <p:nvSpPr>
          <p:cNvPr id="10" name="Text 7"/>
          <p:cNvSpPr/>
          <p:nvPr/>
        </p:nvSpPr>
        <p:spPr>
          <a:xfrm>
            <a:off x="310637" y="3961168"/>
            <a:ext cx="2825496" cy="65836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Alta complejidad lidera en estadía todo el período. Pero tiene tendencia a la baja en los últimos años, siendo superada por media complejidad en 2025. En 2020 hubo baja generalizada salvo en baja complejidad — los partos y básicos siguieron atendiéndose con normalidad.</a:t>
            </a:r>
            <a:endParaRPr lang="en-US" sz="850" dirty="0"/>
          </a:p>
        </p:txBody>
      </p:sp>
      <p:sp>
        <p:nvSpPr>
          <p:cNvPr id="11" name="Shape 8"/>
          <p:cNvSpPr/>
          <p:nvPr/>
        </p:nvSpPr>
        <p:spPr>
          <a:xfrm>
            <a:off x="3191256" y="3858768"/>
            <a:ext cx="2852928" cy="82296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2" name="Shape 9"/>
          <p:cNvSpPr/>
          <p:nvPr/>
        </p:nvSpPr>
        <p:spPr>
          <a:xfrm>
            <a:off x="3200400" y="3900824"/>
            <a:ext cx="2852928" cy="45720"/>
          </a:xfrm>
          <a:prstGeom prst="rect">
            <a:avLst/>
          </a:prstGeom>
          <a:solidFill>
            <a:srgbClr val="D94F4F"/>
          </a:solidFill>
          <a:ln/>
        </p:spPr>
        <p:txBody>
          <a:bodyPr/>
          <a:lstStyle/>
          <a:p>
            <a:endParaRPr lang="es-CL"/>
          </a:p>
        </p:txBody>
      </p:sp>
      <p:sp>
        <p:nvSpPr>
          <p:cNvPr id="13" name="Text 10"/>
          <p:cNvSpPr/>
          <p:nvPr/>
        </p:nvSpPr>
        <p:spPr>
          <a:xfrm>
            <a:off x="3300125" y="3954780"/>
            <a:ext cx="2670048" cy="65836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letalidad en alta complejidad bajó progresivamente — no porque los casos sean menos graves, sino porque el sistema atiende más pacientes en estas unidades (el denominador creció). Media y baja permanecen estables cerca del 2% durante todo el período.</a:t>
            </a:r>
            <a:endParaRPr lang="en-US" sz="850" dirty="0"/>
          </a:p>
        </p:txBody>
      </p:sp>
      <p:sp>
        <p:nvSpPr>
          <p:cNvPr id="14" name="Shape 11"/>
          <p:cNvSpPr/>
          <p:nvPr/>
        </p:nvSpPr>
        <p:spPr>
          <a:xfrm>
            <a:off x="6176156" y="3924592"/>
            <a:ext cx="2834640" cy="82296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5" name="Shape 12"/>
          <p:cNvSpPr/>
          <p:nvPr/>
        </p:nvSpPr>
        <p:spPr>
          <a:xfrm>
            <a:off x="6172200" y="3909060"/>
            <a:ext cx="2834640" cy="45720"/>
          </a:xfrm>
          <a:prstGeom prst="rect">
            <a:avLst/>
          </a:prstGeom>
          <a:solidFill>
            <a:srgbClr val="D94F4F"/>
          </a:solidFill>
          <a:ln/>
        </p:spPr>
        <p:txBody>
          <a:bodyPr/>
          <a:lstStyle/>
          <a:p>
            <a:endParaRPr lang="es-CL"/>
          </a:p>
        </p:txBody>
      </p:sp>
      <p:sp>
        <p:nvSpPr>
          <p:cNvPr id="16" name="Text 13"/>
          <p:cNvSpPr/>
          <p:nvPr/>
        </p:nvSpPr>
        <p:spPr>
          <a:xfrm>
            <a:off x="6231020" y="3956596"/>
            <a:ext cx="2651760" cy="65836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Baja complejidad tiene el mayor índice de rotación (~4 pacientes/cama): los casos simples liberan cama rápido. Alta complejidad rota muy poco (~1 paciente/cama): UCI, intubados, permanecen días. En 2020 baja y media cayeron mientras alta se mantuvo constante.</a:t>
            </a:r>
            <a:endParaRPr lang="en-US" sz="850" dirty="0"/>
          </a:p>
        </p:txBody>
      </p:sp>
      <p:sp>
        <p:nvSpPr>
          <p:cNvPr id="17" name="Shape 14"/>
          <p:cNvSpPr/>
          <p:nvPr/>
        </p:nvSpPr>
        <p:spPr>
          <a:xfrm>
            <a:off x="219197" y="4637824"/>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8" name="Shape 15"/>
          <p:cNvSpPr/>
          <p:nvPr/>
        </p:nvSpPr>
        <p:spPr>
          <a:xfrm>
            <a:off x="187193" y="4637305"/>
            <a:ext cx="64008" cy="502920"/>
          </a:xfrm>
          <a:prstGeom prst="rect">
            <a:avLst/>
          </a:prstGeom>
          <a:solidFill>
            <a:srgbClr val="0A7C92"/>
          </a:solidFill>
          <a:ln/>
        </p:spPr>
        <p:txBody>
          <a:bodyPr/>
          <a:lstStyle/>
          <a:p>
            <a:endParaRPr lang="es-CL"/>
          </a:p>
        </p:txBody>
      </p:sp>
      <p:sp>
        <p:nvSpPr>
          <p:cNvPr id="19" name="Text 16"/>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20" name="Text 17"/>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Sí hay cambios. Alta complejidad muestra reducción en estadía y en % de letalidad, pero NO porque los casos sean menos graves: el volumen de pacientes creció. La baja en % de letalidad es una paradoja estadística. La frontera entre niveles de complejidad se está moviendo.</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D94F4F"/>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D94F4F"/>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2 — cont.</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D94F4F"/>
                </a:solidFill>
                <a:latin typeface="Calibri" pitchFamily="34" charset="0"/>
                <a:ea typeface="Calibri" pitchFamily="34" charset="-122"/>
                <a:cs typeface="Calibri" pitchFamily="34" charset="-120"/>
              </a:rPr>
              <a:t>P2 — Desplazamiento del sistema hacia mayor complejidad</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Volumen de egresos por nivel · Top 10 áreas funcionales por letalidad promedio</a:t>
            </a:r>
            <a:endParaRPr lang="en-US" sz="1800" dirty="0"/>
          </a:p>
        </p:txBody>
      </p:sp>
      <p:pic>
        <p:nvPicPr>
          <p:cNvPr id="7" name="Image 0" descr="preencoded.png"/>
          <p:cNvPicPr>
            <a:picLocks noChangeAspect="1"/>
          </p:cNvPicPr>
          <p:nvPr/>
        </p:nvPicPr>
        <p:blipFill>
          <a:blip r:embed="rId2"/>
          <a:srcRect/>
          <a:stretch/>
        </p:blipFill>
        <p:spPr>
          <a:xfrm>
            <a:off x="137160" y="1353312"/>
            <a:ext cx="5212080" cy="1920240"/>
          </a:xfrm>
          <a:prstGeom prst="rect">
            <a:avLst/>
          </a:prstGeom>
        </p:spPr>
      </p:pic>
      <p:pic>
        <p:nvPicPr>
          <p:cNvPr id="8" name="Image 1" descr="preencoded.png"/>
          <p:cNvPicPr>
            <a:picLocks noChangeAspect="1"/>
          </p:cNvPicPr>
          <p:nvPr/>
        </p:nvPicPr>
        <p:blipFill>
          <a:blip r:embed="rId3"/>
          <a:srcRect/>
          <a:stretch/>
        </p:blipFill>
        <p:spPr>
          <a:xfrm>
            <a:off x="5486400" y="1353312"/>
            <a:ext cx="3429000" cy="1920240"/>
          </a:xfrm>
          <a:prstGeom prst="rect">
            <a:avLst/>
          </a:prstGeom>
        </p:spPr>
      </p:pic>
      <p:sp>
        <p:nvSpPr>
          <p:cNvPr id="9" name="Shape 5"/>
          <p:cNvSpPr/>
          <p:nvPr/>
        </p:nvSpPr>
        <p:spPr>
          <a:xfrm>
            <a:off x="137160" y="3383280"/>
            <a:ext cx="5212080" cy="109728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0" name="Shape 6"/>
          <p:cNvSpPr/>
          <p:nvPr/>
        </p:nvSpPr>
        <p:spPr>
          <a:xfrm>
            <a:off x="137160" y="3383280"/>
            <a:ext cx="5212080" cy="45720"/>
          </a:xfrm>
          <a:prstGeom prst="rect">
            <a:avLst/>
          </a:prstGeom>
          <a:solidFill>
            <a:srgbClr val="D94F4F"/>
          </a:solidFill>
          <a:ln/>
        </p:spPr>
        <p:txBody>
          <a:bodyPr/>
          <a:lstStyle/>
          <a:p>
            <a:endParaRPr lang="es-CL"/>
          </a:p>
        </p:txBody>
      </p:sp>
      <p:sp>
        <p:nvSpPr>
          <p:cNvPr id="11" name="Text 7"/>
          <p:cNvSpPr/>
          <p:nvPr/>
        </p:nvSpPr>
        <p:spPr>
          <a:xfrm>
            <a:off x="228600" y="3474720"/>
            <a:ext cx="5029200" cy="93268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Baja complejidad cayó de ~680.000 a ~400.000 egresos — tendencia decreciente sostenida con caída adicional por COVID en 2020, de la que nunca se recuperó. Media complejidad subió y en 2022 superó a baja. Alta subió de ~25.000 a ~60.000: más del doble en 11 años. El sistema se está especializando hacia casos graves.</a:t>
            </a:r>
            <a:endParaRPr lang="en-US" sz="850" dirty="0"/>
          </a:p>
        </p:txBody>
      </p:sp>
      <p:sp>
        <p:nvSpPr>
          <p:cNvPr id="12" name="Shape 8"/>
          <p:cNvSpPr/>
          <p:nvPr/>
        </p:nvSpPr>
        <p:spPr>
          <a:xfrm>
            <a:off x="5486400" y="3383280"/>
            <a:ext cx="3429000" cy="109728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3" name="Shape 9"/>
          <p:cNvSpPr/>
          <p:nvPr/>
        </p:nvSpPr>
        <p:spPr>
          <a:xfrm>
            <a:off x="5486400" y="3383280"/>
            <a:ext cx="3429000" cy="45720"/>
          </a:xfrm>
          <a:prstGeom prst="rect">
            <a:avLst/>
          </a:prstGeom>
          <a:solidFill>
            <a:srgbClr val="D94F4F"/>
          </a:solidFill>
          <a:ln/>
        </p:spPr>
        <p:txBody>
          <a:bodyPr/>
          <a:lstStyle/>
          <a:p>
            <a:endParaRPr lang="es-CL"/>
          </a:p>
        </p:txBody>
      </p:sp>
      <p:sp>
        <p:nvSpPr>
          <p:cNvPr id="14" name="Text 10"/>
          <p:cNvSpPr/>
          <p:nvPr/>
        </p:nvSpPr>
        <p:spPr>
          <a:xfrm>
            <a:off x="5577840" y="3474720"/>
            <a:ext cx="3246120" cy="93268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UCI Adultos concentra el 65,3% de letalidad promedio — muy por encima de la segunda área (Neonatología, 33%). Esto valida la clasificación: las áreas de alta complejidad tienen resultados clínicos cualitativamente distintos al resto. La letalidad de baja complejidad (Obstétrica, básicos) no supera el 5%.</a:t>
            </a:r>
            <a:endParaRPr lang="en-US" sz="850" dirty="0"/>
          </a:p>
        </p:txBody>
      </p:sp>
      <p:sp>
        <p:nvSpPr>
          <p:cNvPr id="15" name="Shape 11"/>
          <p:cNvSpPr/>
          <p:nvPr/>
        </p:nvSpPr>
        <p:spPr>
          <a:xfrm>
            <a:off x="137160" y="4572000"/>
            <a:ext cx="8732520" cy="45720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6" name="Shape 12"/>
          <p:cNvSpPr/>
          <p:nvPr/>
        </p:nvSpPr>
        <p:spPr>
          <a:xfrm>
            <a:off x="137160" y="4572000"/>
            <a:ext cx="64008" cy="457200"/>
          </a:xfrm>
          <a:prstGeom prst="rect">
            <a:avLst/>
          </a:prstGeom>
          <a:solidFill>
            <a:srgbClr val="0A7C92"/>
          </a:solidFill>
          <a:ln/>
        </p:spPr>
        <p:txBody>
          <a:bodyPr/>
          <a:lstStyle/>
          <a:p>
            <a:endParaRPr lang="es-CL"/>
          </a:p>
        </p:txBody>
      </p:sp>
      <p:sp>
        <p:nvSpPr>
          <p:cNvPr id="17" name="Text 13"/>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18" name="Text 14"/>
          <p:cNvSpPr/>
          <p:nvPr/>
        </p:nvSpPr>
        <p:spPr>
          <a:xfrm>
            <a:off x="274320" y="4828032"/>
            <a:ext cx="8503920" cy="1097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El sistema atiende progresivamente más casos graves: baja −41%, alta +140% en egresos entre 2014 y 2025. La paradoja de la letalidad queda confirmada: la baja en % de alta complejidad se explica por más volumen, no por mejora clínica. El sistema se está especializando estructuralmente.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4A86C8"/>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4A86C8"/>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3</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4A86C8"/>
                </a:solidFill>
                <a:latin typeface="Calibri" pitchFamily="34" charset="0"/>
                <a:ea typeface="Calibri" pitchFamily="34" charset="-122"/>
                <a:cs typeface="Calibri" pitchFamily="34" charset="-120"/>
              </a:rPr>
              <a:t>P3 — ¿Cómo varía la duración promedio de hospitalización?</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Heatmap: promedio días de estada — Top 8 áreas con mayor estadía histórica (2014–2025)</a:t>
            </a:r>
            <a:endParaRPr lang="en-US" sz="1800" dirty="0"/>
          </a:p>
        </p:txBody>
      </p:sp>
      <p:pic>
        <p:nvPicPr>
          <p:cNvPr id="7" name="Image 0" descr="preencoded.png"/>
          <p:cNvPicPr>
            <a:picLocks noChangeAspect="1"/>
          </p:cNvPicPr>
          <p:nvPr/>
        </p:nvPicPr>
        <p:blipFill>
          <a:blip r:embed="rId2"/>
          <a:srcRect/>
          <a:stretch/>
        </p:blipFill>
        <p:spPr>
          <a:xfrm>
            <a:off x="137160" y="1371600"/>
            <a:ext cx="8869680" cy="2331720"/>
          </a:xfrm>
          <a:prstGeom prst="rect">
            <a:avLst/>
          </a:prstGeom>
        </p:spPr>
      </p:pic>
      <p:sp>
        <p:nvSpPr>
          <p:cNvPr id="8" name="Shape 5"/>
          <p:cNvSpPr/>
          <p:nvPr/>
        </p:nvSpPr>
        <p:spPr>
          <a:xfrm>
            <a:off x="137160" y="3794760"/>
            <a:ext cx="5486400" cy="109728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137160" y="3741615"/>
            <a:ext cx="5486400" cy="45720"/>
          </a:xfrm>
          <a:prstGeom prst="rect">
            <a:avLst/>
          </a:prstGeom>
          <a:solidFill>
            <a:srgbClr val="4A86C8"/>
          </a:solidFill>
          <a:ln/>
        </p:spPr>
        <p:txBody>
          <a:bodyPr/>
          <a:lstStyle/>
          <a:p>
            <a:endParaRPr lang="es-CL"/>
          </a:p>
        </p:txBody>
      </p:sp>
      <p:sp>
        <p:nvSpPr>
          <p:cNvPr id="10" name="Text 7"/>
          <p:cNvSpPr/>
          <p:nvPr/>
        </p:nvSpPr>
        <p:spPr>
          <a:xfrm>
            <a:off x="228600" y="3725888"/>
            <a:ext cx="5303520" cy="93268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Las primeras filas corresponden a áreas de psiquiatría con estadías de cientos a más de 1.000 días. Psiquiatría Adulto Larga Estadía llegó a 1.179 días en 2015 — más de 3 años por paciente. Esto no es un error: es la naturaleza clínica de estos pacientes (crónicos, institucionalizados). Los colores oscuros de 2014–2019 se van aclarando hacia 2024–2025, indicando tendencia general a la reducción en las áreas más extremas.</a:t>
            </a:r>
            <a:endParaRPr lang="en-US" sz="850" dirty="0"/>
          </a:p>
        </p:txBody>
      </p:sp>
      <p:sp>
        <p:nvSpPr>
          <p:cNvPr id="11" name="Shape 8"/>
          <p:cNvSpPr/>
          <p:nvPr/>
        </p:nvSpPr>
        <p:spPr>
          <a:xfrm>
            <a:off x="5715000" y="3794760"/>
            <a:ext cx="3200400" cy="109728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2" name="Shape 9"/>
          <p:cNvSpPr/>
          <p:nvPr/>
        </p:nvSpPr>
        <p:spPr>
          <a:xfrm>
            <a:off x="5715000" y="3737464"/>
            <a:ext cx="3200400" cy="45720"/>
          </a:xfrm>
          <a:prstGeom prst="rect">
            <a:avLst/>
          </a:prstGeom>
          <a:solidFill>
            <a:srgbClr val="4A86C8"/>
          </a:solidFill>
          <a:ln/>
        </p:spPr>
        <p:txBody>
          <a:bodyPr/>
          <a:lstStyle/>
          <a:p>
            <a:endParaRPr lang="es-CL"/>
          </a:p>
        </p:txBody>
      </p:sp>
      <p:sp>
        <p:nvSpPr>
          <p:cNvPr id="13" name="Text 10"/>
          <p:cNvSpPr/>
          <p:nvPr/>
        </p:nvSpPr>
        <p:spPr>
          <a:xfrm>
            <a:off x="5797296" y="3725888"/>
            <a:ext cx="3136392" cy="93268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En 2020 el comportamiento es mixto: la mayoría de áreas bajó su estadía al suspenderse internaciones electivas, pero Psiquiatría Adulto Mediana Estadía subió a 714 días — el valor más alto de la serie para esa fila. Neonatología Intensiva se mantiene estable en ~50 días durante todo el período, sin variaciones significativas.</a:t>
            </a:r>
            <a:endParaRPr lang="en-US" sz="850" dirty="0"/>
          </a:p>
        </p:txBody>
      </p:sp>
      <p:sp>
        <p:nvSpPr>
          <p:cNvPr id="14" name="Shape 11"/>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5" name="Shape 12"/>
          <p:cNvSpPr/>
          <p:nvPr/>
        </p:nvSpPr>
        <p:spPr>
          <a:xfrm>
            <a:off x="137160" y="4572000"/>
            <a:ext cx="64008" cy="502920"/>
          </a:xfrm>
          <a:prstGeom prst="rect">
            <a:avLst/>
          </a:prstGeom>
          <a:solidFill>
            <a:srgbClr val="0A7C92"/>
          </a:solidFill>
          <a:ln/>
        </p:spPr>
        <p:txBody>
          <a:bodyPr/>
          <a:lstStyle/>
          <a:p>
            <a:endParaRPr lang="es-CL"/>
          </a:p>
        </p:txBody>
      </p:sp>
      <p:sp>
        <p:nvSpPr>
          <p:cNvPr id="16" name="Text 13"/>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17" name="Text 14"/>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Existe enorme variación entre áreas: desde 2 días en obstetricia hasta más de 1.000 días en psiquiatría forense. Esa heterogeneidad no es ruido — es la naturaleza de distintos tipos de hospitalización. Hay una tendencia estructural a la reducción de estadía en áreas de mayor complejidad.</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4A86C8"/>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4A86C8"/>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3 — cont.</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4A86C8"/>
                </a:solidFill>
                <a:latin typeface="Calibri" pitchFamily="34" charset="0"/>
                <a:ea typeface="Calibri" pitchFamily="34" charset="-122"/>
                <a:cs typeface="Calibri" pitchFamily="34" charset="-120"/>
              </a:rPr>
              <a:t>P3 — Distribución por área funcional (Boxplot)</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Eje limitado a 2.100 días · valores extremos de psiquiatría se excluyen visualmente</a:t>
            </a:r>
            <a:endParaRPr lang="en-US" sz="1800" dirty="0"/>
          </a:p>
        </p:txBody>
      </p:sp>
      <p:pic>
        <p:nvPicPr>
          <p:cNvPr id="7" name="Image 0" descr="preencoded.png"/>
          <p:cNvPicPr>
            <a:picLocks noChangeAspect="1"/>
          </p:cNvPicPr>
          <p:nvPr/>
        </p:nvPicPr>
        <p:blipFill>
          <a:blip r:embed="rId2"/>
          <a:srcRect/>
          <a:stretch/>
        </p:blipFill>
        <p:spPr>
          <a:xfrm>
            <a:off x="137160" y="1371600"/>
            <a:ext cx="5760720" cy="3429000"/>
          </a:xfrm>
          <a:prstGeom prst="rect">
            <a:avLst/>
          </a:prstGeom>
        </p:spPr>
      </p:pic>
      <p:sp>
        <p:nvSpPr>
          <p:cNvPr id="8" name="Shape 5"/>
          <p:cNvSpPr/>
          <p:nvPr/>
        </p:nvSpPr>
        <p:spPr>
          <a:xfrm>
            <a:off x="6035040" y="1371600"/>
            <a:ext cx="2834640" cy="182880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6035040" y="1371600"/>
            <a:ext cx="2834640" cy="45720"/>
          </a:xfrm>
          <a:prstGeom prst="rect">
            <a:avLst/>
          </a:prstGeom>
          <a:solidFill>
            <a:srgbClr val="4A86C8"/>
          </a:solidFill>
          <a:ln/>
        </p:spPr>
        <p:txBody>
          <a:bodyPr/>
          <a:lstStyle/>
          <a:p>
            <a:endParaRPr lang="es-CL"/>
          </a:p>
        </p:txBody>
      </p:sp>
      <p:sp>
        <p:nvSpPr>
          <p:cNvPr id="10" name="Text 7"/>
          <p:cNvSpPr/>
          <p:nvPr/>
        </p:nvSpPr>
        <p:spPr>
          <a:xfrm>
            <a:off x="6126480" y="1463040"/>
            <a:ext cx="2651760" cy="166420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El boxplot muestra que psiquiatría forense adulto tiene la caja más ancha: alta variabilidad mes a mes. Psiquiatría Adulto Larga Estadía tiene el bigote más largo — la mediana es ~700 días y el max supera 18.000 días (hay registros mensuales con estadías promedio de 18.512 días, es decir pacientes que llevan más de 50 años institucionalizados). Esto justifica que NO se eliminen los outliers: son datos reales con significado clínico.</a:t>
            </a:r>
            <a:endParaRPr lang="en-US" sz="850" dirty="0"/>
          </a:p>
        </p:txBody>
      </p:sp>
      <p:sp>
        <p:nvSpPr>
          <p:cNvPr id="11" name="Shape 8"/>
          <p:cNvSpPr/>
          <p:nvPr/>
        </p:nvSpPr>
        <p:spPr>
          <a:xfrm>
            <a:off x="6035040" y="3291840"/>
            <a:ext cx="2834640" cy="150876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2" name="Shape 9"/>
          <p:cNvSpPr/>
          <p:nvPr/>
        </p:nvSpPr>
        <p:spPr>
          <a:xfrm>
            <a:off x="6035040" y="3291840"/>
            <a:ext cx="2834640" cy="45720"/>
          </a:xfrm>
          <a:prstGeom prst="rect">
            <a:avLst/>
          </a:prstGeom>
          <a:solidFill>
            <a:srgbClr val="4A86C8"/>
          </a:solidFill>
          <a:ln/>
        </p:spPr>
        <p:txBody>
          <a:bodyPr/>
          <a:lstStyle/>
          <a:p>
            <a:endParaRPr lang="es-CL"/>
          </a:p>
        </p:txBody>
      </p:sp>
      <p:sp>
        <p:nvSpPr>
          <p:cNvPr id="13" name="Text 10"/>
          <p:cNvSpPr/>
          <p:nvPr/>
        </p:nvSpPr>
        <p:spPr>
          <a:xfrm>
            <a:off x="6126480" y="3383280"/>
            <a:ext cx="2651760" cy="134416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Las áreas de baja complejidad (obstetricia, básicos pediátricos) tienen cajas casi invisibles: estadías de 2–8 días con muy poca dispersión. Son altamente predecibles. Los puntos más allá del eje (&gt;2.100 días) representan registros reales excluidos del eje por escala. El boxplot es la herramienta adecuada para datos no normales: no asume distribución y muestra outliers explícitamente.</a:t>
            </a:r>
            <a:endParaRPr lang="en-US" sz="850" dirty="0"/>
          </a:p>
        </p:txBody>
      </p:sp>
      <p:sp>
        <p:nvSpPr>
          <p:cNvPr id="14" name="Shape 11"/>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5" name="Shape 12"/>
          <p:cNvSpPr/>
          <p:nvPr/>
        </p:nvSpPr>
        <p:spPr>
          <a:xfrm>
            <a:off x="137160" y="4572000"/>
            <a:ext cx="64008" cy="502920"/>
          </a:xfrm>
          <a:prstGeom prst="rect">
            <a:avLst/>
          </a:prstGeom>
          <a:solidFill>
            <a:srgbClr val="0A7C92"/>
          </a:solidFill>
          <a:ln/>
        </p:spPr>
        <p:txBody>
          <a:bodyPr/>
          <a:lstStyle/>
          <a:p>
            <a:endParaRPr lang="es-CL"/>
          </a:p>
        </p:txBody>
      </p:sp>
      <p:sp>
        <p:nvSpPr>
          <p:cNvPr id="16" name="Text 13"/>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17" name="Text 14"/>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variación es estructural y extrema. Psiquiatría crónica puede tener estadías de cientos a miles de días. Baja complejidad es estable y predecible. El boxplot confirma que los outliers son datos clínicamente válidos que no se deben eliminar — aportan información sobre subgrupos reales del sistema.</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EAA6A"/>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2EAA6A"/>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4</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2EAA6A"/>
                </a:solidFill>
                <a:latin typeface="Calibri" pitchFamily="34" charset="0"/>
                <a:ea typeface="Calibri" pitchFamily="34" charset="-122"/>
                <a:cs typeface="Calibri" pitchFamily="34" charset="-120"/>
              </a:rPr>
              <a:t>P4 — ¿Cómo ha variado la eficiencia en el uso de camas?</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Heatmap: Índice Ocupacional (%) por área funcional y año · verde = baja ocupación · rojo = alta</a:t>
            </a:r>
            <a:endParaRPr lang="en-US" sz="1800" dirty="0"/>
          </a:p>
        </p:txBody>
      </p:sp>
      <p:pic>
        <p:nvPicPr>
          <p:cNvPr id="7" name="Image 0" descr="preencoded.png"/>
          <p:cNvPicPr>
            <a:picLocks noChangeAspect="1"/>
          </p:cNvPicPr>
          <p:nvPr/>
        </p:nvPicPr>
        <p:blipFill>
          <a:blip r:embed="rId2"/>
          <a:srcRect/>
          <a:stretch/>
        </p:blipFill>
        <p:spPr>
          <a:xfrm>
            <a:off x="164592" y="1371600"/>
            <a:ext cx="6675120" cy="3429000"/>
          </a:xfrm>
          <a:prstGeom prst="rect">
            <a:avLst/>
          </a:prstGeom>
        </p:spPr>
      </p:pic>
      <p:sp>
        <p:nvSpPr>
          <p:cNvPr id="8" name="Shape 5"/>
          <p:cNvSpPr/>
          <p:nvPr/>
        </p:nvSpPr>
        <p:spPr>
          <a:xfrm>
            <a:off x="6967728" y="1197864"/>
            <a:ext cx="1920240" cy="749808"/>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7008876" y="1444752"/>
            <a:ext cx="155448" cy="155448"/>
          </a:xfrm>
          <a:prstGeom prst="ellipse">
            <a:avLst/>
          </a:prstGeom>
          <a:solidFill>
            <a:srgbClr val="D94F4F"/>
          </a:solidFill>
          <a:ln/>
        </p:spPr>
        <p:txBody>
          <a:bodyPr/>
          <a:lstStyle/>
          <a:p>
            <a:endParaRPr lang="es-CL" dirty="0"/>
          </a:p>
        </p:txBody>
      </p:sp>
      <p:sp>
        <p:nvSpPr>
          <p:cNvPr id="10" name="Text 7"/>
          <p:cNvSpPr/>
          <p:nvPr/>
        </p:nvSpPr>
        <p:spPr>
          <a:xfrm>
            <a:off x="7205472" y="1234602"/>
            <a:ext cx="1627632" cy="219456"/>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Saturación alta permanente</a:t>
            </a:r>
            <a:endParaRPr lang="en-US" sz="900" dirty="0"/>
          </a:p>
        </p:txBody>
      </p:sp>
      <p:sp>
        <p:nvSpPr>
          <p:cNvPr id="11" name="Text 8"/>
          <p:cNvSpPr/>
          <p:nvPr/>
        </p:nvSpPr>
        <p:spPr>
          <a:xfrm>
            <a:off x="7205472" y="1454934"/>
            <a:ext cx="1627632" cy="438912"/>
          </a:xfrm>
          <a:prstGeom prst="rect">
            <a:avLst/>
          </a:prstGeom>
          <a:noFill/>
          <a:ln/>
        </p:spPr>
        <p:txBody>
          <a:bodyPr wrap="square" rtlCol="0" anchor="ctr"/>
          <a:lstStyle/>
          <a:p>
            <a:pPr marL="0" indent="0">
              <a:buNone/>
            </a:pPr>
            <a:r>
              <a:rPr lang="en-US" sz="780" dirty="0">
                <a:solidFill>
                  <a:srgbClr val="64748B"/>
                </a:solidFill>
                <a:latin typeface="Calibri" pitchFamily="34" charset="0"/>
                <a:ea typeface="Calibri" pitchFamily="34" charset="-122"/>
                <a:cs typeface="Calibri" pitchFamily="34" charset="-120"/>
              </a:rPr>
              <a:t>UCI Adultos, Intermedios Adultos y Médico-Quirúrgico Medios operan entre 80–90% todo el período. Crónicamente sobre umbral OMS.</a:t>
            </a:r>
            <a:endParaRPr lang="en-US" sz="780" dirty="0"/>
          </a:p>
        </p:txBody>
      </p:sp>
      <p:sp>
        <p:nvSpPr>
          <p:cNvPr id="12" name="Shape 9"/>
          <p:cNvSpPr/>
          <p:nvPr/>
        </p:nvSpPr>
        <p:spPr>
          <a:xfrm>
            <a:off x="6967728" y="2084832"/>
            <a:ext cx="1920240" cy="749808"/>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3" name="Shape 10"/>
          <p:cNvSpPr/>
          <p:nvPr/>
        </p:nvSpPr>
        <p:spPr>
          <a:xfrm>
            <a:off x="7033941" y="2382012"/>
            <a:ext cx="155448" cy="155448"/>
          </a:xfrm>
          <a:prstGeom prst="ellipse">
            <a:avLst/>
          </a:prstGeom>
          <a:solidFill>
            <a:srgbClr val="2EAA6A"/>
          </a:solidFill>
          <a:ln/>
        </p:spPr>
        <p:txBody>
          <a:bodyPr/>
          <a:lstStyle/>
          <a:p>
            <a:endParaRPr lang="es-CL"/>
          </a:p>
        </p:txBody>
      </p:sp>
      <p:sp>
        <p:nvSpPr>
          <p:cNvPr id="14" name="Text 11"/>
          <p:cNvSpPr/>
          <p:nvPr/>
        </p:nvSpPr>
        <p:spPr>
          <a:xfrm>
            <a:off x="7205472" y="2133049"/>
            <a:ext cx="1627632" cy="219456"/>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Capacidad ociosa estructural</a:t>
            </a:r>
            <a:endParaRPr lang="en-US" sz="900" dirty="0"/>
          </a:p>
        </p:txBody>
      </p:sp>
      <p:sp>
        <p:nvSpPr>
          <p:cNvPr id="15" name="Text 12"/>
          <p:cNvSpPr/>
          <p:nvPr/>
        </p:nvSpPr>
        <p:spPr>
          <a:xfrm>
            <a:off x="7232904" y="2344236"/>
            <a:ext cx="1627632" cy="438912"/>
          </a:xfrm>
          <a:prstGeom prst="rect">
            <a:avLst/>
          </a:prstGeom>
          <a:noFill/>
          <a:ln/>
        </p:spPr>
        <p:txBody>
          <a:bodyPr wrap="square" rtlCol="0" anchor="ctr"/>
          <a:lstStyle/>
          <a:p>
            <a:pPr marL="0" indent="0">
              <a:buNone/>
            </a:pPr>
            <a:r>
              <a:rPr lang="en-US" sz="780" dirty="0">
                <a:solidFill>
                  <a:srgbClr val="64748B"/>
                </a:solidFill>
                <a:latin typeface="Calibri" pitchFamily="34" charset="0"/>
                <a:ea typeface="Calibri" pitchFamily="34" charset="-122"/>
                <a:cs typeface="Calibri" pitchFamily="34" charset="-120"/>
              </a:rPr>
              <a:t>Obstetricia, Pensionado y áreas pediátricas básicas operan bajo 50%. No hay saturación, hay subutilización persistente.</a:t>
            </a:r>
            <a:endParaRPr lang="en-US" sz="780" dirty="0"/>
          </a:p>
        </p:txBody>
      </p:sp>
      <p:sp>
        <p:nvSpPr>
          <p:cNvPr id="16" name="Shape 13"/>
          <p:cNvSpPr/>
          <p:nvPr/>
        </p:nvSpPr>
        <p:spPr>
          <a:xfrm>
            <a:off x="6983098" y="2930652"/>
            <a:ext cx="1920240" cy="749808"/>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7" name="Shape 14"/>
          <p:cNvSpPr/>
          <p:nvPr/>
        </p:nvSpPr>
        <p:spPr>
          <a:xfrm>
            <a:off x="7050024" y="3182112"/>
            <a:ext cx="155448" cy="155448"/>
          </a:xfrm>
          <a:prstGeom prst="ellipse">
            <a:avLst/>
          </a:prstGeom>
          <a:solidFill>
            <a:srgbClr val="F59E0B"/>
          </a:solidFill>
          <a:ln/>
        </p:spPr>
        <p:txBody>
          <a:bodyPr/>
          <a:lstStyle/>
          <a:p>
            <a:endParaRPr lang="es-CL"/>
          </a:p>
        </p:txBody>
      </p:sp>
      <p:sp>
        <p:nvSpPr>
          <p:cNvPr id="18" name="Text 15"/>
          <p:cNvSpPr/>
          <p:nvPr/>
        </p:nvSpPr>
        <p:spPr>
          <a:xfrm>
            <a:off x="7232904" y="2953512"/>
            <a:ext cx="1627632" cy="219456"/>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Pandemia 2020 visible</a:t>
            </a:r>
            <a:endParaRPr lang="en-US" sz="900" dirty="0"/>
          </a:p>
        </p:txBody>
      </p:sp>
      <p:sp>
        <p:nvSpPr>
          <p:cNvPr id="19" name="Text 16"/>
          <p:cNvSpPr/>
          <p:nvPr/>
        </p:nvSpPr>
        <p:spPr>
          <a:xfrm>
            <a:off x="7199441" y="3127248"/>
            <a:ext cx="1627632" cy="438912"/>
          </a:xfrm>
          <a:prstGeom prst="rect">
            <a:avLst/>
          </a:prstGeom>
          <a:noFill/>
          <a:ln/>
        </p:spPr>
        <p:txBody>
          <a:bodyPr wrap="square" rtlCol="0" anchor="ctr"/>
          <a:lstStyle/>
          <a:p>
            <a:pPr marL="0" indent="0">
              <a:buNone/>
            </a:pPr>
            <a:r>
              <a:rPr lang="en-US" sz="780" dirty="0">
                <a:solidFill>
                  <a:srgbClr val="64748B"/>
                </a:solidFill>
                <a:latin typeface="Calibri" pitchFamily="34" charset="0"/>
                <a:ea typeface="Calibri" pitchFamily="34" charset="-122"/>
                <a:cs typeface="Calibri" pitchFamily="34" charset="-120"/>
              </a:rPr>
              <a:t>Toda la grilla se aclara en 2020. Recuperación hacia 2022–2025 con valores similares a pre-pandemia.</a:t>
            </a:r>
            <a:endParaRPr lang="en-US" sz="780" dirty="0"/>
          </a:p>
        </p:txBody>
      </p:sp>
      <p:sp>
        <p:nvSpPr>
          <p:cNvPr id="20" name="Shape 17"/>
          <p:cNvSpPr/>
          <p:nvPr/>
        </p:nvSpPr>
        <p:spPr>
          <a:xfrm>
            <a:off x="7008876" y="3794760"/>
            <a:ext cx="1920240" cy="749808"/>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21" name="Shape 18"/>
          <p:cNvSpPr/>
          <p:nvPr/>
        </p:nvSpPr>
        <p:spPr>
          <a:xfrm>
            <a:off x="7057887" y="4055364"/>
            <a:ext cx="155448" cy="155448"/>
          </a:xfrm>
          <a:prstGeom prst="ellipse">
            <a:avLst/>
          </a:prstGeom>
          <a:solidFill>
            <a:srgbClr val="0A7C92"/>
          </a:solidFill>
          <a:ln/>
        </p:spPr>
        <p:txBody>
          <a:bodyPr/>
          <a:lstStyle/>
          <a:p>
            <a:endParaRPr lang="es-CL"/>
          </a:p>
        </p:txBody>
      </p:sp>
      <p:sp>
        <p:nvSpPr>
          <p:cNvPr id="22" name="Text 19"/>
          <p:cNvSpPr/>
          <p:nvPr/>
        </p:nvSpPr>
        <p:spPr>
          <a:xfrm>
            <a:off x="7242048" y="3835908"/>
            <a:ext cx="1627632" cy="219456"/>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Sin mejora estructural</a:t>
            </a:r>
            <a:endParaRPr lang="en-US" sz="900" dirty="0"/>
          </a:p>
        </p:txBody>
      </p:sp>
      <p:sp>
        <p:nvSpPr>
          <p:cNvPr id="23" name="Text 20"/>
          <p:cNvSpPr/>
          <p:nvPr/>
        </p:nvSpPr>
        <p:spPr>
          <a:xfrm>
            <a:off x="7232904" y="4055364"/>
            <a:ext cx="1627632" cy="438912"/>
          </a:xfrm>
          <a:prstGeom prst="rect">
            <a:avLst/>
          </a:prstGeom>
          <a:noFill/>
          <a:ln/>
        </p:spPr>
        <p:txBody>
          <a:bodyPr wrap="square" rtlCol="0" anchor="ctr"/>
          <a:lstStyle/>
          <a:p>
            <a:pPr marL="0" indent="0">
              <a:buNone/>
            </a:pPr>
            <a:r>
              <a:rPr lang="en-US" sz="780" dirty="0">
                <a:solidFill>
                  <a:srgbClr val="64748B"/>
                </a:solidFill>
                <a:latin typeface="Calibri" pitchFamily="34" charset="0"/>
                <a:ea typeface="Calibri" pitchFamily="34" charset="-122"/>
                <a:cs typeface="Calibri" pitchFamily="34" charset="-120"/>
              </a:rPr>
              <a:t>No hay tendencia clara de mejoría en ninguna área. El sistema de 2025 opera igual que el de 2014.</a:t>
            </a:r>
            <a:endParaRPr lang="en-US" sz="780" dirty="0"/>
          </a:p>
        </p:txBody>
      </p:sp>
      <p:sp>
        <p:nvSpPr>
          <p:cNvPr id="24" name="Shape 21"/>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25" name="Shape 22"/>
          <p:cNvSpPr/>
          <p:nvPr/>
        </p:nvSpPr>
        <p:spPr>
          <a:xfrm>
            <a:off x="137160" y="4572000"/>
            <a:ext cx="64008" cy="502920"/>
          </a:xfrm>
          <a:prstGeom prst="rect">
            <a:avLst/>
          </a:prstGeom>
          <a:solidFill>
            <a:srgbClr val="0A7C92"/>
          </a:solidFill>
          <a:ln/>
        </p:spPr>
        <p:txBody>
          <a:bodyPr/>
          <a:lstStyle/>
          <a:p>
            <a:endParaRPr lang="es-CL"/>
          </a:p>
        </p:txBody>
      </p:sp>
      <p:sp>
        <p:nvSpPr>
          <p:cNvPr id="26" name="Text 23"/>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27" name="Text 24"/>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eficiencia no ha mejorado estructuralmente. Alta complejidad está crónicamente saturada (74–80%) mientras otras áreas están muy por debajo. El problema no es escasez global de camas: es distribución heterogénea — UCIs saturadas coexisten con áreas subutilizadas. El IO nacional promedio (62–67%) es engañoso.</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09820"/>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E09820"/>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5</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E09820"/>
                </a:solidFill>
                <a:latin typeface="Calibri" pitchFamily="34" charset="0"/>
                <a:ea typeface="Calibri" pitchFamily="34" charset="-122"/>
                <a:cs typeface="Calibri" pitchFamily="34" charset="-120"/>
              </a:rPr>
              <a:t>P5 — ¿Existe relación entre ocupación y letalidad?</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Dispersión global y por nivel de complejidad · Pearson r = 0,226  ·  Spearman r = 0,394</a:t>
            </a:r>
            <a:endParaRPr lang="en-US" sz="1800" dirty="0"/>
          </a:p>
        </p:txBody>
      </p:sp>
      <p:pic>
        <p:nvPicPr>
          <p:cNvPr id="7" name="Image 0" descr="preencoded.png"/>
          <p:cNvPicPr>
            <a:picLocks noChangeAspect="1"/>
          </p:cNvPicPr>
          <p:nvPr/>
        </p:nvPicPr>
        <p:blipFill>
          <a:blip r:embed="rId2"/>
          <a:srcRect/>
          <a:stretch/>
        </p:blipFill>
        <p:spPr>
          <a:xfrm>
            <a:off x="164592" y="1153928"/>
            <a:ext cx="8869680" cy="2651760"/>
          </a:xfrm>
          <a:prstGeom prst="rect">
            <a:avLst/>
          </a:prstGeom>
        </p:spPr>
      </p:pic>
      <p:sp>
        <p:nvSpPr>
          <p:cNvPr id="8" name="Shape 5"/>
          <p:cNvSpPr/>
          <p:nvPr/>
        </p:nvSpPr>
        <p:spPr>
          <a:xfrm>
            <a:off x="165889" y="3913794"/>
            <a:ext cx="4343400" cy="749808"/>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146304" y="3874268"/>
            <a:ext cx="4343400" cy="45720"/>
          </a:xfrm>
          <a:prstGeom prst="rect">
            <a:avLst/>
          </a:prstGeom>
          <a:solidFill>
            <a:srgbClr val="E09820"/>
          </a:solidFill>
          <a:ln/>
        </p:spPr>
        <p:txBody>
          <a:bodyPr/>
          <a:lstStyle/>
          <a:p>
            <a:endParaRPr lang="es-CL"/>
          </a:p>
        </p:txBody>
      </p:sp>
      <p:sp>
        <p:nvSpPr>
          <p:cNvPr id="10" name="Text 7"/>
          <p:cNvSpPr/>
          <p:nvPr/>
        </p:nvSpPr>
        <p:spPr>
          <a:xfrm>
            <a:off x="256031" y="3974852"/>
            <a:ext cx="4160520" cy="585216"/>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Panel izquierdo — dispersión global: la nube de puntos está muy dispersa. La línea de regresión tiene pendiente positiva pero r = 0,226 indica correlación débil. Hay mucho ruido: registros con alta ocupación y baja letalidad, y viceversa. No hay relación lineal simple a nivel global.</a:t>
            </a:r>
            <a:endParaRPr lang="en-US" sz="850" dirty="0"/>
          </a:p>
        </p:txBody>
      </p:sp>
      <p:sp>
        <p:nvSpPr>
          <p:cNvPr id="11" name="Shape 8"/>
          <p:cNvSpPr/>
          <p:nvPr/>
        </p:nvSpPr>
        <p:spPr>
          <a:xfrm>
            <a:off x="4654298" y="3913802"/>
            <a:ext cx="4343400" cy="749808"/>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dirty="0"/>
          </a:p>
        </p:txBody>
      </p:sp>
      <p:sp>
        <p:nvSpPr>
          <p:cNvPr id="12" name="Shape 9"/>
          <p:cNvSpPr/>
          <p:nvPr/>
        </p:nvSpPr>
        <p:spPr>
          <a:xfrm>
            <a:off x="4663440" y="3883428"/>
            <a:ext cx="4343400" cy="45720"/>
          </a:xfrm>
          <a:prstGeom prst="rect">
            <a:avLst/>
          </a:prstGeom>
          <a:solidFill>
            <a:srgbClr val="E09820"/>
          </a:solidFill>
          <a:ln/>
        </p:spPr>
        <p:txBody>
          <a:bodyPr/>
          <a:lstStyle/>
          <a:p>
            <a:endParaRPr lang="es-CL"/>
          </a:p>
        </p:txBody>
      </p:sp>
      <p:sp>
        <p:nvSpPr>
          <p:cNvPr id="13" name="Text 10"/>
          <p:cNvSpPr/>
          <p:nvPr/>
        </p:nvSpPr>
        <p:spPr>
          <a:xfrm>
            <a:off x="4745738" y="3971597"/>
            <a:ext cx="4160520" cy="585216"/>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Panel derecho — segmentado por complejidad: la historia cambia radicalmente. Alta complejidad (rojo) muestra pendiente pronunciada — a mayor ocupación, mayor letalidad (r = 0,251). Media y baja complejidad (azul y verde) tienen pendientes casi planas. El análisis agregado mezclaba grupos incomparables y ocultaba esta diferencia.</a:t>
            </a:r>
            <a:endParaRPr lang="en-US" sz="850" dirty="0"/>
          </a:p>
        </p:txBody>
      </p:sp>
      <p:sp>
        <p:nvSpPr>
          <p:cNvPr id="14" name="Shape 11"/>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5" name="Shape 12"/>
          <p:cNvSpPr/>
          <p:nvPr/>
        </p:nvSpPr>
        <p:spPr>
          <a:xfrm>
            <a:off x="137160" y="4572000"/>
            <a:ext cx="64008" cy="502920"/>
          </a:xfrm>
          <a:prstGeom prst="rect">
            <a:avLst/>
          </a:prstGeom>
          <a:solidFill>
            <a:srgbClr val="0A7C92"/>
          </a:solidFill>
          <a:ln/>
        </p:spPr>
        <p:txBody>
          <a:bodyPr/>
          <a:lstStyle/>
          <a:p>
            <a:endParaRPr lang="es-CL"/>
          </a:p>
        </p:txBody>
      </p:sp>
      <p:sp>
        <p:nvSpPr>
          <p:cNvPr id="16" name="Text 13"/>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17" name="Text 14"/>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Existe relación positiva, pero es compleja: depende del nivel de complejidad. Solo en alta complejidad la pendiente es pronunciada y clínicamente relevante. Mezclar todos los grupos en un solo análisis genera una correlación global débil que subestima el problema en las UCIs.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09820"/>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E09820"/>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5 — cont.</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E09820"/>
                </a:solidFill>
                <a:latin typeface="Calibri" pitchFamily="34" charset="0"/>
                <a:ea typeface="Calibri" pitchFamily="34" charset="-122"/>
                <a:cs typeface="Calibri" pitchFamily="34" charset="-120"/>
              </a:rPr>
              <a:t>P5 — Letalidad por rango de ocupación + evolución temporal</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¿Sube la letalidad cuando el sistema está más saturado?</a:t>
            </a:r>
            <a:endParaRPr lang="en-US" sz="1800" dirty="0"/>
          </a:p>
        </p:txBody>
      </p:sp>
      <p:pic>
        <p:nvPicPr>
          <p:cNvPr id="7" name="Image 0" descr="preencoded.png"/>
          <p:cNvPicPr>
            <a:picLocks noChangeAspect="1"/>
          </p:cNvPicPr>
          <p:nvPr/>
        </p:nvPicPr>
        <p:blipFill>
          <a:blip r:embed="rId2"/>
          <a:srcRect/>
          <a:stretch/>
        </p:blipFill>
        <p:spPr>
          <a:xfrm>
            <a:off x="137160" y="1371600"/>
            <a:ext cx="4389120" cy="2286000"/>
          </a:xfrm>
          <a:prstGeom prst="rect">
            <a:avLst/>
          </a:prstGeom>
        </p:spPr>
      </p:pic>
      <p:pic>
        <p:nvPicPr>
          <p:cNvPr id="8" name="Image 1" descr="preencoded.png"/>
          <p:cNvPicPr>
            <a:picLocks noChangeAspect="1"/>
          </p:cNvPicPr>
          <p:nvPr/>
        </p:nvPicPr>
        <p:blipFill>
          <a:blip r:embed="rId3"/>
          <a:srcRect/>
          <a:stretch/>
        </p:blipFill>
        <p:spPr>
          <a:xfrm>
            <a:off x="4663440" y="1371600"/>
            <a:ext cx="4251960" cy="2286000"/>
          </a:xfrm>
          <a:prstGeom prst="rect">
            <a:avLst/>
          </a:prstGeom>
        </p:spPr>
      </p:pic>
      <p:sp>
        <p:nvSpPr>
          <p:cNvPr id="9" name="Shape 5"/>
          <p:cNvSpPr/>
          <p:nvPr/>
        </p:nvSpPr>
        <p:spPr>
          <a:xfrm>
            <a:off x="137160" y="3776472"/>
            <a:ext cx="4389120"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0" name="Shape 6"/>
          <p:cNvSpPr/>
          <p:nvPr/>
        </p:nvSpPr>
        <p:spPr>
          <a:xfrm>
            <a:off x="137160" y="3776472"/>
            <a:ext cx="4389120" cy="45720"/>
          </a:xfrm>
          <a:prstGeom prst="rect">
            <a:avLst/>
          </a:prstGeom>
          <a:solidFill>
            <a:srgbClr val="E09820"/>
          </a:solidFill>
          <a:ln/>
        </p:spPr>
        <p:txBody>
          <a:bodyPr/>
          <a:lstStyle/>
          <a:p>
            <a:endParaRPr lang="es-CL"/>
          </a:p>
        </p:txBody>
      </p:sp>
      <p:sp>
        <p:nvSpPr>
          <p:cNvPr id="11" name="Text 7"/>
          <p:cNvSpPr/>
          <p:nvPr/>
        </p:nvSpPr>
        <p:spPr>
          <a:xfrm>
            <a:off x="228600" y="3803904"/>
            <a:ext cx="4206240"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relación es escalonada: a mayor rango de ocupación, mayor letalidad promedio — 2,1% → 5,6% → 9,2% → 13,6%. Este patrón gradual sugiere que a partir del 70% el sistema empieza a tener dificultades que se reflejan en resultados clínicos. Los servicios muy saturados (+85%) tienen letalidad 6,5 veces mayor que los de baja ocupación.</a:t>
            </a:r>
            <a:endParaRPr lang="en-US" sz="850" dirty="0"/>
          </a:p>
        </p:txBody>
      </p:sp>
      <p:sp>
        <p:nvSpPr>
          <p:cNvPr id="12" name="Shape 8"/>
          <p:cNvSpPr/>
          <p:nvPr/>
        </p:nvSpPr>
        <p:spPr>
          <a:xfrm>
            <a:off x="4663440" y="3776472"/>
            <a:ext cx="4251960"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3" name="Shape 9"/>
          <p:cNvSpPr/>
          <p:nvPr/>
        </p:nvSpPr>
        <p:spPr>
          <a:xfrm>
            <a:off x="4663440" y="3776472"/>
            <a:ext cx="4251960" cy="45720"/>
          </a:xfrm>
          <a:prstGeom prst="rect">
            <a:avLst/>
          </a:prstGeom>
          <a:solidFill>
            <a:srgbClr val="E09820"/>
          </a:solidFill>
          <a:ln/>
        </p:spPr>
        <p:txBody>
          <a:bodyPr/>
          <a:lstStyle/>
          <a:p>
            <a:endParaRPr lang="es-CL"/>
          </a:p>
        </p:txBody>
      </p:sp>
      <p:sp>
        <p:nvSpPr>
          <p:cNvPr id="14" name="Text 10"/>
          <p:cNvSpPr/>
          <p:nvPr/>
        </p:nvSpPr>
        <p:spPr>
          <a:xfrm>
            <a:off x="4754880" y="3831336"/>
            <a:ext cx="4069080"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Paradoja 2020: la ocupación cayó bruscamente (de ~67% a 54,7%) pero la letalidad subió de golpe. Explicación: los pacientes que sí se hospitalizaron durante la pandemia eran en promedio mucho más graves (case mix COVID-19). Esto demuestra que la relación IO→letalidad no es directa cuando cambia la composición de los casos. Desde 2021 ambas se normalizan progresivamente.</a:t>
            </a:r>
            <a:endParaRPr lang="en-US" sz="850" dirty="0"/>
          </a:p>
        </p:txBody>
      </p:sp>
      <p:sp>
        <p:nvSpPr>
          <p:cNvPr id="15" name="Shape 11"/>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6" name="Shape 12"/>
          <p:cNvSpPr/>
          <p:nvPr/>
        </p:nvSpPr>
        <p:spPr>
          <a:xfrm>
            <a:off x="137160" y="4572000"/>
            <a:ext cx="64008" cy="502920"/>
          </a:xfrm>
          <a:prstGeom prst="rect">
            <a:avLst/>
          </a:prstGeom>
          <a:solidFill>
            <a:srgbClr val="0A7C92"/>
          </a:solidFill>
          <a:ln/>
        </p:spPr>
        <p:txBody>
          <a:bodyPr/>
          <a:lstStyle/>
          <a:p>
            <a:endParaRPr lang="es-CL"/>
          </a:p>
        </p:txBody>
      </p:sp>
      <p:sp>
        <p:nvSpPr>
          <p:cNvPr id="17" name="Text 13"/>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18" name="Text 14"/>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Sí existe relación: a mayor ocupación, mayor letalidad promedio — con patrón escalonado (2,1% a 13,6%). Pero la paradoja de 2020 muestra que no es una relación directa e invariante: el case mix importa. La respuesta completa requiere considerar tanto el nivel de ocupación como la gravedad de los casos.</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A7C92"/>
          </a:solidFill>
          <a:ln/>
        </p:spPr>
        <p:txBody>
          <a:bodyPr/>
          <a:lstStyle/>
          <a:p>
            <a:endParaRPr lang="es-CL"/>
          </a:p>
        </p:txBody>
      </p:sp>
      <p:sp>
        <p:nvSpPr>
          <p:cNvPr id="3" name="Shape 1"/>
          <p:cNvSpPr/>
          <p:nvPr/>
        </p:nvSpPr>
        <p:spPr>
          <a:xfrm>
            <a:off x="5943600" y="2286000"/>
            <a:ext cx="4114800" cy="4114800"/>
          </a:xfrm>
          <a:prstGeom prst="ellipse">
            <a:avLst/>
          </a:prstGeom>
          <a:solidFill>
            <a:srgbClr val="0A7C92">
              <a:alpha val="8000"/>
            </a:srgbClr>
          </a:solidFill>
          <a:ln/>
        </p:spPr>
        <p:txBody>
          <a:bodyPr/>
          <a:lstStyle/>
          <a:p>
            <a:endParaRPr lang="es-CL"/>
          </a:p>
        </p:txBody>
      </p:sp>
      <p:sp>
        <p:nvSpPr>
          <p:cNvPr id="4" name="Text 2"/>
          <p:cNvSpPr/>
          <p:nvPr/>
        </p:nvSpPr>
        <p:spPr>
          <a:xfrm>
            <a:off x="365760" y="274320"/>
            <a:ext cx="822960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Conclusiones</a:t>
            </a:r>
            <a:endParaRPr lang="en-US" sz="3000" dirty="0"/>
          </a:p>
        </p:txBody>
      </p:sp>
      <p:sp>
        <p:nvSpPr>
          <p:cNvPr id="5" name="Text 3"/>
          <p:cNvSpPr/>
          <p:nvPr/>
        </p:nvSpPr>
        <p:spPr>
          <a:xfrm>
            <a:off x="365760" y="868680"/>
            <a:ext cx="8229600" cy="274320"/>
          </a:xfrm>
          <a:prstGeom prst="rect">
            <a:avLst/>
          </a:prstGeom>
          <a:noFill/>
          <a:ln/>
        </p:spPr>
        <p:txBody>
          <a:bodyPr wrap="square" rtlCol="0" anchor="ctr"/>
          <a:lstStyle/>
          <a:p>
            <a:pPr marL="0" indent="0">
              <a:buNone/>
            </a:pPr>
            <a:r>
              <a:rPr lang="en-US" sz="1300" dirty="0">
                <a:solidFill>
                  <a:srgbClr val="12A3BE"/>
                </a:solidFill>
                <a:latin typeface="Calibri" pitchFamily="34" charset="0"/>
                <a:ea typeface="Calibri" pitchFamily="34" charset="-122"/>
                <a:cs typeface="Calibri" pitchFamily="34" charset="-120"/>
              </a:rPr>
              <a:t>Respuesta a las 5 preguntas de investigación</a:t>
            </a:r>
            <a:endParaRPr lang="en-US" sz="1300" dirty="0"/>
          </a:p>
        </p:txBody>
      </p:sp>
      <p:sp>
        <p:nvSpPr>
          <p:cNvPr id="6" name="Shape 4"/>
          <p:cNvSpPr/>
          <p:nvPr/>
        </p:nvSpPr>
        <p:spPr>
          <a:xfrm>
            <a:off x="320040" y="1280160"/>
            <a:ext cx="8229600" cy="658368"/>
          </a:xfrm>
          <a:prstGeom prst="rect">
            <a:avLst/>
          </a:prstGeom>
          <a:solidFill>
            <a:srgbClr val="162836"/>
          </a:solidFill>
          <a:ln/>
          <a:effectLst>
            <a:outerShdw blurRad="63500" dist="25400" dir="8100000" algn="bl" rotWithShape="0">
              <a:srgbClr val="000000">
                <a:alpha val="25000"/>
              </a:srgbClr>
            </a:outerShdw>
          </a:effectLst>
        </p:spPr>
        <p:txBody>
          <a:bodyPr/>
          <a:lstStyle/>
          <a:p>
            <a:endParaRPr lang="es-CL"/>
          </a:p>
        </p:txBody>
      </p:sp>
      <p:sp>
        <p:nvSpPr>
          <p:cNvPr id="7" name="Shape 5"/>
          <p:cNvSpPr/>
          <p:nvPr/>
        </p:nvSpPr>
        <p:spPr>
          <a:xfrm>
            <a:off x="320040" y="1280160"/>
            <a:ext cx="502920" cy="658368"/>
          </a:xfrm>
          <a:prstGeom prst="rect">
            <a:avLst/>
          </a:prstGeom>
          <a:solidFill>
            <a:srgbClr val="0A7C92"/>
          </a:solidFill>
          <a:ln/>
        </p:spPr>
        <p:txBody>
          <a:bodyPr/>
          <a:lstStyle/>
          <a:p>
            <a:endParaRPr lang="es-CL"/>
          </a:p>
        </p:txBody>
      </p:sp>
      <p:sp>
        <p:nvSpPr>
          <p:cNvPr id="8" name="Text 6"/>
          <p:cNvSpPr/>
          <p:nvPr/>
        </p:nvSpPr>
        <p:spPr>
          <a:xfrm>
            <a:off x="320040" y="1463040"/>
            <a:ext cx="502920" cy="320040"/>
          </a:xfrm>
          <a:prstGeom prst="rect">
            <a:avLst/>
          </a:prstGeom>
          <a:noFill/>
          <a:ln/>
        </p:spPr>
        <p:txBody>
          <a:bodyPr wrap="square" rtlCol="0" anchor="ctr"/>
          <a:lstStyle/>
          <a:p>
            <a:pPr marL="0" indent="0" algn="ctr">
              <a:buNone/>
            </a:pPr>
            <a:r>
              <a:rPr lang="en-US" sz="1100" b="1" dirty="0">
                <a:solidFill>
                  <a:srgbClr val="FFFFFF"/>
                </a:solidFill>
              </a:rPr>
              <a:t>P1</a:t>
            </a:r>
            <a:endParaRPr lang="en-US" sz="1100" dirty="0"/>
          </a:p>
        </p:txBody>
      </p:sp>
      <p:sp>
        <p:nvSpPr>
          <p:cNvPr id="9" name="Text 7"/>
          <p:cNvSpPr/>
          <p:nvPr/>
        </p:nvSpPr>
        <p:spPr>
          <a:xfrm>
            <a:off x="914400" y="1389888"/>
            <a:ext cx="7543800" cy="43891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Estabilidad estructural con único quiebre en 2020 (COVID-19). Recuperación progresiva incompleta.</a:t>
            </a:r>
            <a:endParaRPr lang="en-US" sz="1000" dirty="0"/>
          </a:p>
        </p:txBody>
      </p:sp>
      <p:sp>
        <p:nvSpPr>
          <p:cNvPr id="10" name="Shape 8"/>
          <p:cNvSpPr/>
          <p:nvPr/>
        </p:nvSpPr>
        <p:spPr>
          <a:xfrm>
            <a:off x="320040" y="2029968"/>
            <a:ext cx="8229600" cy="658368"/>
          </a:xfrm>
          <a:prstGeom prst="rect">
            <a:avLst/>
          </a:prstGeom>
          <a:solidFill>
            <a:srgbClr val="162836"/>
          </a:solidFill>
          <a:ln/>
          <a:effectLst>
            <a:outerShdw blurRad="63500" dist="25400" dir="8100000" algn="bl" rotWithShape="0">
              <a:srgbClr val="000000">
                <a:alpha val="25000"/>
              </a:srgbClr>
            </a:outerShdw>
          </a:effectLst>
        </p:spPr>
        <p:txBody>
          <a:bodyPr/>
          <a:lstStyle/>
          <a:p>
            <a:endParaRPr lang="es-CL"/>
          </a:p>
        </p:txBody>
      </p:sp>
      <p:sp>
        <p:nvSpPr>
          <p:cNvPr id="11" name="Shape 9"/>
          <p:cNvSpPr/>
          <p:nvPr/>
        </p:nvSpPr>
        <p:spPr>
          <a:xfrm>
            <a:off x="320040" y="2029968"/>
            <a:ext cx="502920" cy="658368"/>
          </a:xfrm>
          <a:prstGeom prst="rect">
            <a:avLst/>
          </a:prstGeom>
          <a:solidFill>
            <a:srgbClr val="E05252"/>
          </a:solidFill>
          <a:ln/>
        </p:spPr>
        <p:txBody>
          <a:bodyPr/>
          <a:lstStyle/>
          <a:p>
            <a:endParaRPr lang="es-CL"/>
          </a:p>
        </p:txBody>
      </p:sp>
      <p:sp>
        <p:nvSpPr>
          <p:cNvPr id="12" name="Text 10"/>
          <p:cNvSpPr/>
          <p:nvPr/>
        </p:nvSpPr>
        <p:spPr>
          <a:xfrm>
            <a:off x="320040" y="2212848"/>
            <a:ext cx="502920" cy="320040"/>
          </a:xfrm>
          <a:prstGeom prst="rect">
            <a:avLst/>
          </a:prstGeom>
          <a:noFill/>
          <a:ln/>
        </p:spPr>
        <p:txBody>
          <a:bodyPr wrap="square" rtlCol="0" anchor="ctr"/>
          <a:lstStyle/>
          <a:p>
            <a:pPr marL="0" indent="0" algn="ctr">
              <a:buNone/>
            </a:pPr>
            <a:r>
              <a:rPr lang="en-US" sz="1100" b="1" dirty="0">
                <a:solidFill>
                  <a:srgbClr val="FFFFFF"/>
                </a:solidFill>
              </a:rPr>
              <a:t>P2</a:t>
            </a:r>
            <a:endParaRPr lang="en-US" sz="1100" dirty="0"/>
          </a:p>
        </p:txBody>
      </p:sp>
      <p:sp>
        <p:nvSpPr>
          <p:cNvPr id="13" name="Text 11"/>
          <p:cNvSpPr/>
          <p:nvPr/>
        </p:nvSpPr>
        <p:spPr>
          <a:xfrm>
            <a:off x="914400" y="2139696"/>
            <a:ext cx="7543800" cy="43891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Sistema desplazado hacia mayor complejidad. Baja −41%, Alta +140% en egresos.</a:t>
            </a:r>
            <a:endParaRPr lang="en-US" sz="1000" dirty="0"/>
          </a:p>
        </p:txBody>
      </p:sp>
      <p:sp>
        <p:nvSpPr>
          <p:cNvPr id="14" name="Shape 12"/>
          <p:cNvSpPr/>
          <p:nvPr/>
        </p:nvSpPr>
        <p:spPr>
          <a:xfrm>
            <a:off x="320040" y="2779776"/>
            <a:ext cx="8229600" cy="658368"/>
          </a:xfrm>
          <a:prstGeom prst="rect">
            <a:avLst/>
          </a:prstGeom>
          <a:solidFill>
            <a:srgbClr val="162836"/>
          </a:solidFill>
          <a:ln/>
          <a:effectLst>
            <a:outerShdw blurRad="63500" dist="25400" dir="8100000" algn="bl" rotWithShape="0">
              <a:srgbClr val="000000">
                <a:alpha val="25000"/>
              </a:srgbClr>
            </a:outerShdw>
          </a:effectLst>
        </p:spPr>
        <p:txBody>
          <a:bodyPr/>
          <a:lstStyle/>
          <a:p>
            <a:endParaRPr lang="es-CL"/>
          </a:p>
        </p:txBody>
      </p:sp>
      <p:sp>
        <p:nvSpPr>
          <p:cNvPr id="15" name="Shape 13"/>
          <p:cNvSpPr/>
          <p:nvPr/>
        </p:nvSpPr>
        <p:spPr>
          <a:xfrm>
            <a:off x="320040" y="2779776"/>
            <a:ext cx="502920" cy="658368"/>
          </a:xfrm>
          <a:prstGeom prst="rect">
            <a:avLst/>
          </a:prstGeom>
          <a:solidFill>
            <a:srgbClr val="4A90D9"/>
          </a:solidFill>
          <a:ln/>
        </p:spPr>
        <p:txBody>
          <a:bodyPr/>
          <a:lstStyle/>
          <a:p>
            <a:endParaRPr lang="es-CL"/>
          </a:p>
        </p:txBody>
      </p:sp>
      <p:sp>
        <p:nvSpPr>
          <p:cNvPr id="16" name="Text 14"/>
          <p:cNvSpPr/>
          <p:nvPr/>
        </p:nvSpPr>
        <p:spPr>
          <a:xfrm>
            <a:off x="320040" y="2962656"/>
            <a:ext cx="502920" cy="320040"/>
          </a:xfrm>
          <a:prstGeom prst="rect">
            <a:avLst/>
          </a:prstGeom>
          <a:noFill/>
          <a:ln/>
        </p:spPr>
        <p:txBody>
          <a:bodyPr wrap="square" rtlCol="0" anchor="ctr"/>
          <a:lstStyle/>
          <a:p>
            <a:pPr marL="0" indent="0" algn="ctr">
              <a:buNone/>
            </a:pPr>
            <a:r>
              <a:rPr lang="en-US" sz="1100" b="1" dirty="0">
                <a:solidFill>
                  <a:srgbClr val="FFFFFF"/>
                </a:solidFill>
              </a:rPr>
              <a:t>P3</a:t>
            </a:r>
            <a:endParaRPr lang="en-US" sz="1100" dirty="0"/>
          </a:p>
        </p:txBody>
      </p:sp>
      <p:sp>
        <p:nvSpPr>
          <p:cNvPr id="17" name="Text 15"/>
          <p:cNvSpPr/>
          <p:nvPr/>
        </p:nvSpPr>
        <p:spPr>
          <a:xfrm>
            <a:off x="914400" y="2889504"/>
            <a:ext cx="7543800" cy="43891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Psiquiatría domina estadía (879 días). Alta complejidad baja, media sube — cruce en 2025.</a:t>
            </a:r>
            <a:endParaRPr lang="en-US" sz="1000" dirty="0"/>
          </a:p>
        </p:txBody>
      </p:sp>
      <p:sp>
        <p:nvSpPr>
          <p:cNvPr id="18" name="Shape 16"/>
          <p:cNvSpPr/>
          <p:nvPr/>
        </p:nvSpPr>
        <p:spPr>
          <a:xfrm>
            <a:off x="320040" y="3529584"/>
            <a:ext cx="8229600" cy="658368"/>
          </a:xfrm>
          <a:prstGeom prst="rect">
            <a:avLst/>
          </a:prstGeom>
          <a:solidFill>
            <a:srgbClr val="162836"/>
          </a:solidFill>
          <a:ln/>
          <a:effectLst>
            <a:outerShdw blurRad="63500" dist="25400" dir="8100000" algn="bl" rotWithShape="0">
              <a:srgbClr val="000000">
                <a:alpha val="25000"/>
              </a:srgbClr>
            </a:outerShdw>
          </a:effectLst>
        </p:spPr>
        <p:txBody>
          <a:bodyPr/>
          <a:lstStyle/>
          <a:p>
            <a:endParaRPr lang="es-CL"/>
          </a:p>
        </p:txBody>
      </p:sp>
      <p:sp>
        <p:nvSpPr>
          <p:cNvPr id="19" name="Shape 17"/>
          <p:cNvSpPr/>
          <p:nvPr/>
        </p:nvSpPr>
        <p:spPr>
          <a:xfrm>
            <a:off x="320040" y="3529584"/>
            <a:ext cx="502920" cy="658368"/>
          </a:xfrm>
          <a:prstGeom prst="rect">
            <a:avLst/>
          </a:prstGeom>
          <a:solidFill>
            <a:srgbClr val="2EAA6A"/>
          </a:solidFill>
          <a:ln/>
        </p:spPr>
        <p:txBody>
          <a:bodyPr/>
          <a:lstStyle/>
          <a:p>
            <a:endParaRPr lang="es-CL"/>
          </a:p>
        </p:txBody>
      </p:sp>
      <p:sp>
        <p:nvSpPr>
          <p:cNvPr id="20" name="Text 18"/>
          <p:cNvSpPr/>
          <p:nvPr/>
        </p:nvSpPr>
        <p:spPr>
          <a:xfrm>
            <a:off x="320040" y="3712464"/>
            <a:ext cx="502920" cy="320040"/>
          </a:xfrm>
          <a:prstGeom prst="rect">
            <a:avLst/>
          </a:prstGeom>
          <a:noFill/>
          <a:ln/>
        </p:spPr>
        <p:txBody>
          <a:bodyPr wrap="square" rtlCol="0" anchor="ctr"/>
          <a:lstStyle/>
          <a:p>
            <a:pPr marL="0" indent="0" algn="ctr">
              <a:buNone/>
            </a:pPr>
            <a:r>
              <a:rPr lang="en-US" sz="1100" b="1" dirty="0">
                <a:solidFill>
                  <a:srgbClr val="FFFFFF"/>
                </a:solidFill>
              </a:rPr>
              <a:t>P4</a:t>
            </a:r>
            <a:endParaRPr lang="en-US" sz="1100" dirty="0"/>
          </a:p>
        </p:txBody>
      </p:sp>
      <p:sp>
        <p:nvSpPr>
          <p:cNvPr id="21" name="Text 19"/>
          <p:cNvSpPr/>
          <p:nvPr/>
        </p:nvSpPr>
        <p:spPr>
          <a:xfrm>
            <a:off x="914400" y="3639312"/>
            <a:ext cx="7543800" cy="43891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Alta complejidad crónicamente saturada (74–80%). Heterogeneidad: no es escasez global.</a:t>
            </a:r>
            <a:endParaRPr lang="en-US" sz="1000" dirty="0"/>
          </a:p>
        </p:txBody>
      </p:sp>
      <p:sp>
        <p:nvSpPr>
          <p:cNvPr id="22" name="Shape 20"/>
          <p:cNvSpPr/>
          <p:nvPr/>
        </p:nvSpPr>
        <p:spPr>
          <a:xfrm>
            <a:off x="320040" y="4279392"/>
            <a:ext cx="8229600" cy="658368"/>
          </a:xfrm>
          <a:prstGeom prst="rect">
            <a:avLst/>
          </a:prstGeom>
          <a:solidFill>
            <a:srgbClr val="162836"/>
          </a:solidFill>
          <a:ln/>
          <a:effectLst>
            <a:outerShdw blurRad="63500" dist="25400" dir="8100000" algn="bl" rotWithShape="0">
              <a:srgbClr val="000000">
                <a:alpha val="25000"/>
              </a:srgbClr>
            </a:outerShdw>
          </a:effectLst>
        </p:spPr>
        <p:txBody>
          <a:bodyPr/>
          <a:lstStyle/>
          <a:p>
            <a:endParaRPr lang="es-CL"/>
          </a:p>
        </p:txBody>
      </p:sp>
      <p:sp>
        <p:nvSpPr>
          <p:cNvPr id="23" name="Shape 21"/>
          <p:cNvSpPr/>
          <p:nvPr/>
        </p:nvSpPr>
        <p:spPr>
          <a:xfrm>
            <a:off x="320040" y="4279392"/>
            <a:ext cx="502920" cy="658368"/>
          </a:xfrm>
          <a:prstGeom prst="rect">
            <a:avLst/>
          </a:prstGeom>
          <a:solidFill>
            <a:srgbClr val="F5A623"/>
          </a:solidFill>
          <a:ln/>
        </p:spPr>
        <p:txBody>
          <a:bodyPr/>
          <a:lstStyle/>
          <a:p>
            <a:endParaRPr lang="es-CL"/>
          </a:p>
        </p:txBody>
      </p:sp>
      <p:sp>
        <p:nvSpPr>
          <p:cNvPr id="24" name="Text 22"/>
          <p:cNvSpPr/>
          <p:nvPr/>
        </p:nvSpPr>
        <p:spPr>
          <a:xfrm>
            <a:off x="320040" y="4462272"/>
            <a:ext cx="502920" cy="320040"/>
          </a:xfrm>
          <a:prstGeom prst="rect">
            <a:avLst/>
          </a:prstGeom>
          <a:noFill/>
          <a:ln/>
        </p:spPr>
        <p:txBody>
          <a:bodyPr wrap="square" rtlCol="0" anchor="ctr"/>
          <a:lstStyle/>
          <a:p>
            <a:pPr marL="0" indent="0" algn="ctr">
              <a:buNone/>
            </a:pPr>
            <a:r>
              <a:rPr lang="en-US" sz="1100" b="1" dirty="0">
                <a:solidFill>
                  <a:srgbClr val="FFFFFF"/>
                </a:solidFill>
              </a:rPr>
              <a:t>P5</a:t>
            </a:r>
            <a:endParaRPr lang="en-US" sz="1100" dirty="0"/>
          </a:p>
        </p:txBody>
      </p:sp>
      <p:sp>
        <p:nvSpPr>
          <p:cNvPr id="25" name="Text 23"/>
          <p:cNvSpPr/>
          <p:nvPr/>
        </p:nvSpPr>
        <p:spPr>
          <a:xfrm>
            <a:off x="914400" y="4389120"/>
            <a:ext cx="7543800" cy="43891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r=0,226 global. Solo alta complejidad muestra correlación ocupación-letalidad relevante.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2621</Words>
  <Application>Microsoft Office PowerPoint</Application>
  <PresentationFormat>On-screen Show (16:9)</PresentationFormat>
  <Paragraphs>195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REM20 — Indicadores Hospitalización</dc:title>
  <dc:subject>PptxGenJS Presentation</dc:subject>
  <dc:creator>Benjamin Bravo</dc:creator>
  <cp:lastModifiedBy>benjamin bravo</cp:lastModifiedBy>
  <cp:revision>2</cp:revision>
  <dcterms:created xsi:type="dcterms:W3CDTF">2026-04-07T00:45:08Z</dcterms:created>
  <dcterms:modified xsi:type="dcterms:W3CDTF">2026-04-08T02:47:46Z</dcterms:modified>
</cp:coreProperties>
</file>