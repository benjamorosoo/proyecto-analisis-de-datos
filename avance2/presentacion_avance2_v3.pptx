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069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0F2D45"/>
          </a:solidFill>
          <a:ln w="12700">
            <a:solidFill>
              <a:srgbClr val="0F2D45"/>
            </a:solidFill>
            <a:prstDash val="solid"/>
          </a:ln>
        </p:spPr>
        <p:txBody>
          <a:bodyPr/>
          <a:lstStyle/>
          <a:p>
            <a:endParaRPr lang="es-CL"/>
          </a:p>
        </p:txBody>
      </p:sp>
      <p:sp>
        <p:nvSpPr>
          <p:cNvPr id="3" name="Shape 1"/>
          <p:cNvSpPr/>
          <p:nvPr/>
        </p:nvSpPr>
        <p:spPr>
          <a:xfrm>
            <a:off x="7132320" y="2286000"/>
            <a:ext cx="2926080" cy="2926080"/>
          </a:xfrm>
          <a:prstGeom prst="ellipse">
            <a:avLst/>
          </a:prstGeom>
          <a:solidFill>
            <a:srgbClr val="0D2438"/>
          </a:solidFill>
          <a:ln w="12700">
            <a:solidFill>
              <a:srgbClr val="0D2438"/>
            </a:solidFill>
            <a:prstDash val="solid"/>
          </a:ln>
        </p:spPr>
        <p:txBody>
          <a:bodyPr/>
          <a:lstStyle/>
          <a:p>
            <a:endParaRPr lang="es-CL"/>
          </a:p>
        </p:txBody>
      </p:sp>
      <p:sp>
        <p:nvSpPr>
          <p:cNvPr id="4" name="Shape 2"/>
          <p:cNvSpPr/>
          <p:nvPr/>
        </p:nvSpPr>
        <p:spPr>
          <a:xfrm>
            <a:off x="457200" y="822960"/>
            <a:ext cx="2651760" cy="274320"/>
          </a:xfrm>
          <a:prstGeom prst="rect">
            <a:avLst/>
          </a:prstGeom>
          <a:solidFill>
            <a:srgbClr val="0A7C92"/>
          </a:solidFill>
          <a:ln/>
        </p:spPr>
        <p:txBody>
          <a:bodyPr/>
          <a:lstStyle/>
          <a:p>
            <a:endParaRPr lang="es-CL"/>
          </a:p>
        </p:txBody>
      </p:sp>
      <p:sp>
        <p:nvSpPr>
          <p:cNvPr id="5" name="Text 3"/>
          <p:cNvSpPr/>
          <p:nvPr/>
        </p:nvSpPr>
        <p:spPr>
          <a:xfrm>
            <a:off x="457200" y="822960"/>
            <a:ext cx="26517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SEGUNDO AVANCE · REM20</a:t>
            </a:r>
            <a:endParaRPr lang="en-US" sz="900" dirty="0"/>
          </a:p>
        </p:txBody>
      </p:sp>
      <p:sp>
        <p:nvSpPr>
          <p:cNvPr id="6" name="Text 4"/>
          <p:cNvSpPr/>
          <p:nvPr/>
        </p:nvSpPr>
        <p:spPr>
          <a:xfrm>
            <a:off x="457200" y="1234440"/>
            <a:ext cx="6858000" cy="8229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Ocupación Hospitalaria</a:t>
            </a:r>
            <a:endParaRPr lang="en-US" sz="4400" dirty="0"/>
          </a:p>
        </p:txBody>
      </p:sp>
      <p:sp>
        <p:nvSpPr>
          <p:cNvPr id="7" name="Text 5"/>
          <p:cNvSpPr/>
          <p:nvPr/>
        </p:nvSpPr>
        <p:spPr>
          <a:xfrm>
            <a:off x="457200" y="1965960"/>
            <a:ext cx="6858000" cy="8229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y Letalidad en Chile</a:t>
            </a:r>
            <a:endParaRPr lang="en-US" sz="4400" dirty="0"/>
          </a:p>
        </p:txBody>
      </p:sp>
      <p:sp>
        <p:nvSpPr>
          <p:cNvPr id="8" name="Text 6"/>
          <p:cNvSpPr/>
          <p:nvPr/>
        </p:nvSpPr>
        <p:spPr>
          <a:xfrm>
            <a:off x="457200" y="2834640"/>
            <a:ext cx="5486400" cy="320040"/>
          </a:xfrm>
          <a:prstGeom prst="rect">
            <a:avLst/>
          </a:prstGeom>
          <a:noFill/>
          <a:ln/>
        </p:spPr>
        <p:txBody>
          <a:bodyPr wrap="square" rtlCol="0" anchor="ctr"/>
          <a:lstStyle/>
          <a:p>
            <a:pPr marL="0" indent="0">
              <a:buNone/>
            </a:pPr>
            <a:r>
              <a:rPr lang="en-US" sz="1400" dirty="0">
                <a:solidFill>
                  <a:srgbClr val="12A3BE"/>
                </a:solidFill>
                <a:latin typeface="Calibri" pitchFamily="34" charset="0"/>
                <a:ea typeface="Calibri" pitchFamily="34" charset="-122"/>
                <a:cs typeface="Calibri" pitchFamily="34" charset="-120"/>
              </a:rPr>
              <a:t>REM20 · DEIS/MINSAL · 2014–2025</a:t>
            </a:r>
            <a:endParaRPr lang="en-US" sz="1400" dirty="0"/>
          </a:p>
        </p:txBody>
      </p:sp>
      <p:sp>
        <p:nvSpPr>
          <p:cNvPr id="9" name="Shape 7"/>
          <p:cNvSpPr/>
          <p:nvPr/>
        </p:nvSpPr>
        <p:spPr>
          <a:xfrm>
            <a:off x="457200" y="3218688"/>
            <a:ext cx="3657600" cy="0"/>
          </a:xfrm>
          <a:prstGeom prst="line">
            <a:avLst/>
          </a:prstGeom>
          <a:noFill/>
          <a:ln w="12700">
            <a:solidFill>
              <a:srgbClr val="2A4A5E"/>
            </a:solidFill>
            <a:prstDash val="solid"/>
          </a:ln>
        </p:spPr>
        <p:txBody>
          <a:bodyPr/>
          <a:lstStyle/>
          <a:p>
            <a:endParaRPr lang="es-CL"/>
          </a:p>
        </p:txBody>
      </p:sp>
      <p:sp>
        <p:nvSpPr>
          <p:cNvPr id="10" name="Text 8"/>
          <p:cNvSpPr/>
          <p:nvPr/>
        </p:nvSpPr>
        <p:spPr>
          <a:xfrm>
            <a:off x="457200" y="3364992"/>
            <a:ext cx="18288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Benjamín Bravo</a:t>
            </a:r>
            <a:endParaRPr lang="en-US" sz="1300" dirty="0"/>
          </a:p>
        </p:txBody>
      </p:sp>
      <p:sp>
        <p:nvSpPr>
          <p:cNvPr id="11" name="Text 9"/>
          <p:cNvSpPr/>
          <p:nvPr/>
        </p:nvSpPr>
        <p:spPr>
          <a:xfrm>
            <a:off x="2194560" y="3364992"/>
            <a:ext cx="3657600" cy="274320"/>
          </a:xfrm>
          <a:prstGeom prst="rect">
            <a:avLst/>
          </a:prstGeom>
          <a:noFill/>
          <a:ln/>
        </p:spPr>
        <p:txBody>
          <a:bodyPr wrap="square" rtlCol="0" anchor="ctr"/>
          <a:lstStyle/>
          <a:p>
            <a:pPr marL="0" indent="0">
              <a:buNone/>
            </a:pPr>
            <a:r>
              <a:rPr lang="en-US" sz="1300" dirty="0">
                <a:solidFill>
                  <a:srgbClr val="CBD5E1"/>
                </a:solidFill>
                <a:latin typeface="Calibri" pitchFamily="34" charset="0"/>
                <a:ea typeface="Calibri" pitchFamily="34" charset="-122"/>
                <a:cs typeface="Calibri" pitchFamily="34" charset="-120"/>
              </a:rPr>
              <a:t>· Universidad del Desarrollo</a:t>
            </a:r>
            <a:endParaRPr lang="en-US" sz="1300" dirty="0"/>
          </a:p>
        </p:txBody>
      </p:sp>
      <p:sp>
        <p:nvSpPr>
          <p:cNvPr id="12" name="Text 10"/>
          <p:cNvSpPr/>
          <p:nvPr/>
        </p:nvSpPr>
        <p:spPr>
          <a:xfrm>
            <a:off x="457200" y="3703320"/>
            <a:ext cx="6400800" cy="256032"/>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47472" y="256032"/>
            <a:ext cx="2766060" cy="274320"/>
          </a:xfrm>
          <a:prstGeom prst="rect">
            <a:avLst/>
          </a:prstGeom>
          <a:solidFill>
            <a:srgbClr val="0A7C92"/>
          </a:solidFill>
          <a:ln/>
        </p:spPr>
        <p:txBody>
          <a:bodyPr/>
          <a:lstStyle/>
          <a:p>
            <a:endParaRPr lang="es-CL"/>
          </a:p>
        </p:txBody>
      </p:sp>
      <p:sp>
        <p:nvSpPr>
          <p:cNvPr id="3" name="Text 1"/>
          <p:cNvSpPr/>
          <p:nvPr/>
        </p:nvSpPr>
        <p:spPr>
          <a:xfrm>
            <a:off x="347472" y="256032"/>
            <a:ext cx="27660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PREGUNTA DE INVESTIGACIÓN</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¿Existe relación entre ocupación</a:t>
            </a:r>
            <a:endParaRPr lang="en-US" sz="3200" dirty="0"/>
          </a:p>
          <a:p>
            <a:pPr marL="0" indent="0">
              <a:buNone/>
            </a:pPr>
            <a:r>
              <a:rPr lang="en-US" sz="3200" b="1" dirty="0">
                <a:solidFill>
                  <a:srgbClr val="1E293B"/>
                </a:solidFill>
                <a:latin typeface="Calibri" pitchFamily="34" charset="0"/>
                <a:ea typeface="Calibri" pitchFamily="34" charset="-122"/>
                <a:cs typeface="Calibri" pitchFamily="34" charset="-120"/>
              </a:rPr>
              <a:t>y letalidad hospitalaria?</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Hipótesis central del Segundo Avance</a:t>
            </a:r>
            <a:endParaRPr lang="en-US" sz="1400" dirty="0"/>
          </a:p>
        </p:txBody>
      </p:sp>
      <p:sp>
        <p:nvSpPr>
          <p:cNvPr id="6" name="Shape 4"/>
          <p:cNvSpPr/>
          <p:nvPr/>
        </p:nvSpPr>
        <p:spPr>
          <a:xfrm>
            <a:off x="457200" y="1920240"/>
            <a:ext cx="8229600" cy="914400"/>
          </a:xfrm>
          <a:prstGeom prst="rect">
            <a:avLst/>
          </a:prstGeom>
          <a:solidFill>
            <a:srgbClr val="0D1B2A"/>
          </a:solidFill>
          <a:ln w="12700">
            <a:solidFill>
              <a:srgbClr val="0D1B2A"/>
            </a:solidFill>
            <a:prstDash val="solid"/>
          </a:ln>
        </p:spPr>
        <p:txBody>
          <a:bodyPr/>
          <a:lstStyle/>
          <a:p>
            <a:endParaRPr lang="es-CL"/>
          </a:p>
        </p:txBody>
      </p:sp>
      <p:sp>
        <p:nvSpPr>
          <p:cNvPr id="7" name="Text 5"/>
          <p:cNvSpPr/>
          <p:nvPr/>
        </p:nvSpPr>
        <p:spPr>
          <a:xfrm>
            <a:off x="640080" y="1993392"/>
            <a:ext cx="7863840" cy="777240"/>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¿Existe una relación estadísticamente significativa entre el índice de ocupación hospitalaria y la letalidad en los establecimientos hospitalarios públicos de Chile (2014–2025)?</a:t>
            </a:r>
            <a:endParaRPr lang="en-US" sz="1250" dirty="0"/>
          </a:p>
        </p:txBody>
      </p:sp>
      <p:sp>
        <p:nvSpPr>
          <p:cNvPr id="8" name="Shape 6"/>
          <p:cNvSpPr/>
          <p:nvPr/>
        </p:nvSpPr>
        <p:spPr>
          <a:xfrm>
            <a:off x="457200" y="2971800"/>
            <a:ext cx="3931920" cy="1828800"/>
          </a:xfrm>
          <a:prstGeom prst="rect">
            <a:avLst/>
          </a:prstGeom>
          <a:solidFill>
            <a:srgbClr val="F8FAFC"/>
          </a:solidFill>
          <a:ln w="6350">
            <a:solidFill>
              <a:srgbClr val="E2E8F0"/>
            </a:solidFill>
            <a:prstDash val="solid"/>
          </a:ln>
        </p:spPr>
        <p:txBody>
          <a:bodyPr/>
          <a:lstStyle/>
          <a:p>
            <a:endParaRPr lang="es-CL"/>
          </a:p>
        </p:txBody>
      </p:sp>
      <p:sp>
        <p:nvSpPr>
          <p:cNvPr id="9" name="Shape 7"/>
          <p:cNvSpPr/>
          <p:nvPr/>
        </p:nvSpPr>
        <p:spPr>
          <a:xfrm>
            <a:off x="457200" y="2971800"/>
            <a:ext cx="54864" cy="1828800"/>
          </a:xfrm>
          <a:prstGeom prst="rect">
            <a:avLst/>
          </a:prstGeom>
          <a:solidFill>
            <a:srgbClr val="0A7C92"/>
          </a:solidFill>
          <a:ln w="12700">
            <a:solidFill>
              <a:srgbClr val="0A7C92"/>
            </a:solidFill>
            <a:prstDash val="solid"/>
          </a:ln>
        </p:spPr>
        <p:txBody>
          <a:bodyPr/>
          <a:lstStyle/>
          <a:p>
            <a:endParaRPr lang="es-CL"/>
          </a:p>
        </p:txBody>
      </p:sp>
      <p:sp>
        <p:nvSpPr>
          <p:cNvPr id="10" name="Text 8"/>
          <p:cNvSpPr/>
          <p:nvPr/>
        </p:nvSpPr>
        <p:spPr>
          <a:xfrm>
            <a:off x="621792" y="3063240"/>
            <a:ext cx="3657600" cy="256032"/>
          </a:xfrm>
          <a:prstGeom prst="rect">
            <a:avLst/>
          </a:prstGeom>
          <a:noFill/>
          <a:ln/>
        </p:spPr>
        <p:txBody>
          <a:bodyPr wrap="square" rtlCol="0" anchor="ctr"/>
          <a:lstStyle/>
          <a:p>
            <a:pPr marL="0" indent="0">
              <a:buNone/>
            </a:pPr>
            <a:r>
              <a:rPr lang="en-US" sz="1200" b="1" dirty="0">
                <a:solidFill>
                  <a:srgbClr val="0A7C92"/>
                </a:solidFill>
                <a:latin typeface="Calibri" pitchFamily="34" charset="0"/>
                <a:ea typeface="Calibri" pitchFamily="34" charset="-122"/>
                <a:cs typeface="Calibri" pitchFamily="34" charset="-120"/>
              </a:rPr>
              <a:t>Hipótesis general</a:t>
            </a:r>
            <a:endParaRPr lang="en-US" sz="1200" dirty="0"/>
          </a:p>
        </p:txBody>
      </p:sp>
      <p:sp>
        <p:nvSpPr>
          <p:cNvPr id="11" name="Text 9"/>
          <p:cNvSpPr/>
          <p:nvPr/>
        </p:nvSpPr>
        <p:spPr>
          <a:xfrm>
            <a:off x="621792" y="3364992"/>
            <a:ext cx="3657600" cy="12801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 mayor índice de ocupación hospitalaria, mayor es la letalidad promedio. Esta relación es más pronunciada en áreas de alta complejidad clínica.</a:t>
            </a:r>
            <a:endParaRPr lang="en-US" sz="1100" dirty="0"/>
          </a:p>
        </p:txBody>
      </p:sp>
      <p:sp>
        <p:nvSpPr>
          <p:cNvPr id="12" name="Shape 10"/>
          <p:cNvSpPr/>
          <p:nvPr/>
        </p:nvSpPr>
        <p:spPr>
          <a:xfrm>
            <a:off x="4754880" y="2971800"/>
            <a:ext cx="3931920" cy="1828800"/>
          </a:xfrm>
          <a:prstGeom prst="rect">
            <a:avLst/>
          </a:prstGeom>
          <a:solidFill>
            <a:srgbClr val="F8FAFC"/>
          </a:solidFill>
          <a:ln w="6350">
            <a:solidFill>
              <a:srgbClr val="E2E8F0"/>
            </a:solidFill>
            <a:prstDash val="solid"/>
          </a:ln>
        </p:spPr>
        <p:txBody>
          <a:bodyPr/>
          <a:lstStyle/>
          <a:p>
            <a:endParaRPr lang="es-CL"/>
          </a:p>
        </p:txBody>
      </p:sp>
      <p:sp>
        <p:nvSpPr>
          <p:cNvPr id="13" name="Shape 11"/>
          <p:cNvSpPr/>
          <p:nvPr/>
        </p:nvSpPr>
        <p:spPr>
          <a:xfrm>
            <a:off x="4754880" y="2971800"/>
            <a:ext cx="54864" cy="1828800"/>
          </a:xfrm>
          <a:prstGeom prst="rect">
            <a:avLst/>
          </a:prstGeom>
          <a:solidFill>
            <a:srgbClr val="12A3BE"/>
          </a:solidFill>
          <a:ln w="12700">
            <a:solidFill>
              <a:srgbClr val="12A3BE"/>
            </a:solidFill>
            <a:prstDash val="solid"/>
          </a:ln>
        </p:spPr>
        <p:txBody>
          <a:bodyPr/>
          <a:lstStyle/>
          <a:p>
            <a:endParaRPr lang="es-CL"/>
          </a:p>
        </p:txBody>
      </p:sp>
      <p:sp>
        <p:nvSpPr>
          <p:cNvPr id="14" name="Text 12"/>
          <p:cNvSpPr/>
          <p:nvPr/>
        </p:nvSpPr>
        <p:spPr>
          <a:xfrm>
            <a:off x="4919472" y="3063240"/>
            <a:ext cx="3657600" cy="256032"/>
          </a:xfrm>
          <a:prstGeom prst="rect">
            <a:avLst/>
          </a:prstGeom>
          <a:noFill/>
          <a:ln/>
        </p:spPr>
        <p:txBody>
          <a:bodyPr wrap="square" rtlCol="0" anchor="ctr"/>
          <a:lstStyle/>
          <a:p>
            <a:pPr marL="0" indent="0">
              <a:buNone/>
            </a:pPr>
            <a:r>
              <a:rPr lang="en-US" sz="1200" b="1" dirty="0">
                <a:solidFill>
                  <a:srgbClr val="12A3BE"/>
                </a:solidFill>
                <a:latin typeface="Calibri" pitchFamily="34" charset="0"/>
                <a:ea typeface="Calibri" pitchFamily="34" charset="-122"/>
                <a:cs typeface="Calibri" pitchFamily="34" charset="-120"/>
              </a:rPr>
              <a:t>Justificación</a:t>
            </a:r>
            <a:endParaRPr lang="en-US" sz="1200" dirty="0"/>
          </a:p>
        </p:txBody>
      </p:sp>
      <p:sp>
        <p:nvSpPr>
          <p:cNvPr id="15" name="Text 13"/>
          <p:cNvSpPr/>
          <p:nvPr/>
        </p:nvSpPr>
        <p:spPr>
          <a:xfrm>
            <a:off x="4919472" y="3364992"/>
            <a:ext cx="3657600" cy="12801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Permite reasignar recursos hacia áreas más saturadas. El dataset REM20 (157.996 registros) tiene el volumen para responderla con EDA, test de hipótesis y regresión lineal múltiple.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47472" y="256032"/>
            <a:ext cx="1805940" cy="274320"/>
          </a:xfrm>
          <a:prstGeom prst="rect">
            <a:avLst/>
          </a:prstGeom>
          <a:solidFill>
            <a:srgbClr val="0A7C92"/>
          </a:solidFill>
          <a:ln/>
        </p:spPr>
        <p:txBody>
          <a:bodyPr/>
          <a:lstStyle/>
          <a:p>
            <a:endParaRPr lang="es-CL"/>
          </a:p>
        </p:txBody>
      </p:sp>
      <p:sp>
        <p:nvSpPr>
          <p:cNvPr id="3" name="Text 1"/>
          <p:cNvSpPr/>
          <p:nvPr/>
        </p:nvSpPr>
        <p:spPr>
          <a:xfrm>
            <a:off x="347472" y="256032"/>
            <a:ext cx="18059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DATASET · REM20</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Datos utilizados en el análisis</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Fuente · Cobertura · Limpieza</a:t>
            </a:r>
            <a:endParaRPr lang="en-US" sz="1400" dirty="0"/>
          </a:p>
        </p:txBody>
      </p:sp>
      <p:sp>
        <p:nvSpPr>
          <p:cNvPr id="6" name="Text 4"/>
          <p:cNvSpPr/>
          <p:nvPr/>
        </p:nvSpPr>
        <p:spPr>
          <a:xfrm>
            <a:off x="457200" y="1874520"/>
            <a:ext cx="4114800" cy="256032"/>
          </a:xfrm>
          <a:prstGeom prst="rect">
            <a:avLst/>
          </a:prstGeom>
          <a:noFill/>
          <a:ln/>
        </p:spPr>
        <p:txBody>
          <a:bodyPr wrap="square" rtlCol="0" anchor="ctr"/>
          <a:lstStyle/>
          <a:p>
            <a:pPr marL="0" indent="0">
              <a:buNone/>
            </a:pPr>
            <a:r>
              <a:rPr lang="en-US" sz="1100" b="1" dirty="0">
                <a:solidFill>
                  <a:srgbClr val="0A7C92"/>
                </a:solidFill>
                <a:latin typeface="Calibri" pitchFamily="34" charset="0"/>
                <a:ea typeface="Calibri" pitchFamily="34" charset="-122"/>
                <a:cs typeface="Calibri" pitchFamily="34" charset="-120"/>
              </a:rPr>
              <a:t>Fuente</a:t>
            </a:r>
            <a:endParaRPr lang="en-US" sz="1100" dirty="0"/>
          </a:p>
        </p:txBody>
      </p:sp>
      <p:sp>
        <p:nvSpPr>
          <p:cNvPr id="7" name="Text 5"/>
          <p:cNvSpPr/>
          <p:nvPr/>
        </p:nvSpPr>
        <p:spPr>
          <a:xfrm>
            <a:off x="457200" y="2121408"/>
            <a:ext cx="411480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REM20 del DEIS/MINSAL. Disponible en datos.gob.cl.</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Cubre toda la red pública del SNSS.</a:t>
            </a:r>
            <a:endParaRPr lang="en-US" sz="1100" dirty="0"/>
          </a:p>
        </p:txBody>
      </p:sp>
      <p:sp>
        <p:nvSpPr>
          <p:cNvPr id="8" name="Text 6"/>
          <p:cNvSpPr/>
          <p:nvPr/>
        </p:nvSpPr>
        <p:spPr>
          <a:xfrm>
            <a:off x="457200" y="2724912"/>
            <a:ext cx="4114800" cy="256032"/>
          </a:xfrm>
          <a:prstGeom prst="rect">
            <a:avLst/>
          </a:prstGeom>
          <a:noFill/>
          <a:ln/>
        </p:spPr>
        <p:txBody>
          <a:bodyPr wrap="square" rtlCol="0" anchor="ctr"/>
          <a:lstStyle/>
          <a:p>
            <a:pPr marL="0" indent="0">
              <a:buNone/>
            </a:pPr>
            <a:r>
              <a:rPr lang="en-US" sz="1100" b="1" dirty="0">
                <a:solidFill>
                  <a:srgbClr val="0A7C92"/>
                </a:solidFill>
                <a:latin typeface="Calibri" pitchFamily="34" charset="0"/>
                <a:ea typeface="Calibri" pitchFamily="34" charset="-122"/>
                <a:cs typeface="Calibri" pitchFamily="34" charset="-120"/>
              </a:rPr>
              <a:t>Unidad de análisis</a:t>
            </a:r>
            <a:endParaRPr lang="en-US" sz="1100" dirty="0"/>
          </a:p>
        </p:txBody>
      </p:sp>
      <p:sp>
        <p:nvSpPr>
          <p:cNvPr id="9" name="Text 7"/>
          <p:cNvSpPr/>
          <p:nvPr/>
        </p:nvSpPr>
        <p:spPr>
          <a:xfrm>
            <a:off x="457200" y="2971800"/>
            <a:ext cx="411480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1 mes × 1 área funcional × 1 establecimiento.</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Ejemplo: Hospital San José · UCI Adultos · marzo 2022.</a:t>
            </a:r>
            <a:endParaRPr lang="en-US" sz="1100" dirty="0"/>
          </a:p>
        </p:txBody>
      </p:sp>
      <p:sp>
        <p:nvSpPr>
          <p:cNvPr id="10" name="Text 8"/>
          <p:cNvSpPr/>
          <p:nvPr/>
        </p:nvSpPr>
        <p:spPr>
          <a:xfrm>
            <a:off x="457200" y="3584448"/>
            <a:ext cx="4114800" cy="256032"/>
          </a:xfrm>
          <a:prstGeom prst="rect">
            <a:avLst/>
          </a:prstGeom>
          <a:noFill/>
          <a:ln/>
        </p:spPr>
        <p:txBody>
          <a:bodyPr wrap="square" rtlCol="0" anchor="ctr"/>
          <a:lstStyle/>
          <a:p>
            <a:pPr marL="0" indent="0">
              <a:buNone/>
            </a:pPr>
            <a:r>
              <a:rPr lang="en-US" sz="1100" b="1" dirty="0">
                <a:solidFill>
                  <a:srgbClr val="0A7C92"/>
                </a:solidFill>
                <a:latin typeface="Calibri" pitchFamily="34" charset="0"/>
                <a:ea typeface="Calibri" pitchFamily="34" charset="-122"/>
                <a:cs typeface="Calibri" pitchFamily="34" charset="-120"/>
              </a:rPr>
              <a:t>Limpieza</a:t>
            </a:r>
            <a:endParaRPr lang="en-US" sz="1100" dirty="0"/>
          </a:p>
        </p:txBody>
      </p:sp>
      <p:sp>
        <p:nvSpPr>
          <p:cNvPr id="11" name="Text 9"/>
          <p:cNvSpPr/>
          <p:nvPr/>
        </p:nvSpPr>
        <p:spPr>
          <a:xfrm>
            <a:off x="457200" y="3822192"/>
            <a:ext cx="411480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14 inconsistencias lógicas + 1.778 IO&gt;100% eliminados.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157.996 registros válidos (98,9% del total).</a:t>
            </a:r>
            <a:endParaRPr lang="en-US" sz="1100" dirty="0"/>
          </a:p>
        </p:txBody>
      </p:sp>
      <p:sp>
        <p:nvSpPr>
          <p:cNvPr id="12" name="Shape 10"/>
          <p:cNvSpPr/>
          <p:nvPr/>
        </p:nvSpPr>
        <p:spPr>
          <a:xfrm>
            <a:off x="4846320" y="1737360"/>
            <a:ext cx="1920240" cy="9601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s-CL"/>
          </a:p>
        </p:txBody>
      </p:sp>
      <p:sp>
        <p:nvSpPr>
          <p:cNvPr id="13" name="Shape 11"/>
          <p:cNvSpPr/>
          <p:nvPr/>
        </p:nvSpPr>
        <p:spPr>
          <a:xfrm>
            <a:off x="4846320" y="1737360"/>
            <a:ext cx="1920240" cy="45720"/>
          </a:xfrm>
          <a:prstGeom prst="rect">
            <a:avLst/>
          </a:prstGeom>
          <a:solidFill>
            <a:srgbClr val="0A7C92"/>
          </a:solidFill>
          <a:ln w="12700">
            <a:solidFill>
              <a:srgbClr val="0A7C92"/>
            </a:solidFill>
            <a:prstDash val="solid"/>
          </a:ln>
        </p:spPr>
        <p:txBody>
          <a:bodyPr/>
          <a:lstStyle/>
          <a:p>
            <a:endParaRPr lang="es-CL"/>
          </a:p>
        </p:txBody>
      </p:sp>
      <p:sp>
        <p:nvSpPr>
          <p:cNvPr id="14" name="Text 12"/>
          <p:cNvSpPr/>
          <p:nvPr/>
        </p:nvSpPr>
        <p:spPr>
          <a:xfrm>
            <a:off x="4937760" y="1901952"/>
            <a:ext cx="1737360" cy="594360"/>
          </a:xfrm>
          <a:prstGeom prst="rect">
            <a:avLst/>
          </a:prstGeom>
          <a:noFill/>
          <a:ln/>
        </p:spPr>
        <p:txBody>
          <a:bodyPr wrap="square" rtlCol="0" anchor="ctr"/>
          <a:lstStyle/>
          <a:p>
            <a:pPr marL="0" indent="0" algn="ctr">
              <a:buNone/>
            </a:pPr>
            <a:r>
              <a:rPr lang="en-US" sz="3600" b="1" dirty="0">
                <a:solidFill>
                  <a:srgbClr val="0A7C92"/>
                </a:solidFill>
                <a:latin typeface="Calibri" pitchFamily="34" charset="0"/>
                <a:ea typeface="Calibri" pitchFamily="34" charset="-122"/>
                <a:cs typeface="Calibri" pitchFamily="34" charset="-120"/>
              </a:rPr>
              <a:t>159.788</a:t>
            </a:r>
            <a:endParaRPr lang="en-US" sz="3600" dirty="0"/>
          </a:p>
        </p:txBody>
      </p:sp>
      <p:sp>
        <p:nvSpPr>
          <p:cNvPr id="15" name="Text 13"/>
          <p:cNvSpPr/>
          <p:nvPr/>
        </p:nvSpPr>
        <p:spPr>
          <a:xfrm>
            <a:off x="4937760" y="2487168"/>
            <a:ext cx="173736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Registros originales</a:t>
            </a:r>
            <a:endParaRPr lang="en-US" sz="1000" dirty="0"/>
          </a:p>
        </p:txBody>
      </p:sp>
      <p:sp>
        <p:nvSpPr>
          <p:cNvPr id="16" name="Shape 14"/>
          <p:cNvSpPr/>
          <p:nvPr/>
        </p:nvSpPr>
        <p:spPr>
          <a:xfrm>
            <a:off x="6949440" y="1737360"/>
            <a:ext cx="1920240" cy="9601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s-CL"/>
          </a:p>
        </p:txBody>
      </p:sp>
      <p:sp>
        <p:nvSpPr>
          <p:cNvPr id="17" name="Shape 15"/>
          <p:cNvSpPr/>
          <p:nvPr/>
        </p:nvSpPr>
        <p:spPr>
          <a:xfrm>
            <a:off x="6949440" y="1737360"/>
            <a:ext cx="1920240" cy="45720"/>
          </a:xfrm>
          <a:prstGeom prst="rect">
            <a:avLst/>
          </a:prstGeom>
          <a:solidFill>
            <a:srgbClr val="16A34A"/>
          </a:solidFill>
          <a:ln w="12700">
            <a:solidFill>
              <a:srgbClr val="16A34A"/>
            </a:solidFill>
            <a:prstDash val="solid"/>
          </a:ln>
        </p:spPr>
        <p:txBody>
          <a:bodyPr/>
          <a:lstStyle/>
          <a:p>
            <a:endParaRPr lang="es-CL"/>
          </a:p>
        </p:txBody>
      </p:sp>
      <p:sp>
        <p:nvSpPr>
          <p:cNvPr id="18" name="Text 16"/>
          <p:cNvSpPr/>
          <p:nvPr/>
        </p:nvSpPr>
        <p:spPr>
          <a:xfrm>
            <a:off x="7040880" y="1901952"/>
            <a:ext cx="1737360" cy="594360"/>
          </a:xfrm>
          <a:prstGeom prst="rect">
            <a:avLst/>
          </a:prstGeom>
          <a:noFill/>
          <a:ln/>
        </p:spPr>
        <p:txBody>
          <a:bodyPr wrap="square" rtlCol="0" anchor="ctr"/>
          <a:lstStyle/>
          <a:p>
            <a:pPr marL="0" indent="0" algn="ctr">
              <a:buNone/>
            </a:pPr>
            <a:r>
              <a:rPr lang="en-US" sz="3600" b="1" dirty="0">
                <a:solidFill>
                  <a:srgbClr val="16A34A"/>
                </a:solidFill>
                <a:latin typeface="Calibri" pitchFamily="34" charset="0"/>
                <a:ea typeface="Calibri" pitchFamily="34" charset="-122"/>
                <a:cs typeface="Calibri" pitchFamily="34" charset="-120"/>
              </a:rPr>
              <a:t>157.996</a:t>
            </a:r>
            <a:endParaRPr lang="en-US" sz="3600" dirty="0"/>
          </a:p>
        </p:txBody>
      </p:sp>
      <p:sp>
        <p:nvSpPr>
          <p:cNvPr id="19" name="Text 17"/>
          <p:cNvSpPr/>
          <p:nvPr/>
        </p:nvSpPr>
        <p:spPr>
          <a:xfrm>
            <a:off x="7040880" y="2487168"/>
            <a:ext cx="173736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Tras limpieza</a:t>
            </a:r>
            <a:endParaRPr lang="en-US" sz="1000" dirty="0"/>
          </a:p>
        </p:txBody>
      </p:sp>
      <p:sp>
        <p:nvSpPr>
          <p:cNvPr id="20" name="Shape 18"/>
          <p:cNvSpPr/>
          <p:nvPr/>
        </p:nvSpPr>
        <p:spPr>
          <a:xfrm>
            <a:off x="4846320" y="2834640"/>
            <a:ext cx="1920240" cy="9601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s-CL"/>
          </a:p>
        </p:txBody>
      </p:sp>
      <p:sp>
        <p:nvSpPr>
          <p:cNvPr id="21" name="Shape 19"/>
          <p:cNvSpPr/>
          <p:nvPr/>
        </p:nvSpPr>
        <p:spPr>
          <a:xfrm>
            <a:off x="4846320" y="2834640"/>
            <a:ext cx="1920240" cy="45720"/>
          </a:xfrm>
          <a:prstGeom prst="rect">
            <a:avLst/>
          </a:prstGeom>
          <a:solidFill>
            <a:srgbClr val="0A7C92"/>
          </a:solidFill>
          <a:ln w="12700">
            <a:solidFill>
              <a:srgbClr val="0A7C92"/>
            </a:solidFill>
            <a:prstDash val="solid"/>
          </a:ln>
        </p:spPr>
        <p:txBody>
          <a:bodyPr/>
          <a:lstStyle/>
          <a:p>
            <a:endParaRPr lang="es-CL"/>
          </a:p>
        </p:txBody>
      </p:sp>
      <p:sp>
        <p:nvSpPr>
          <p:cNvPr id="22" name="Text 20"/>
          <p:cNvSpPr/>
          <p:nvPr/>
        </p:nvSpPr>
        <p:spPr>
          <a:xfrm>
            <a:off x="4937760" y="2999232"/>
            <a:ext cx="1737360" cy="594360"/>
          </a:xfrm>
          <a:prstGeom prst="rect">
            <a:avLst/>
          </a:prstGeom>
          <a:noFill/>
          <a:ln/>
        </p:spPr>
        <p:txBody>
          <a:bodyPr wrap="square" rtlCol="0" anchor="ctr"/>
          <a:lstStyle/>
          <a:p>
            <a:pPr marL="0" indent="0" algn="ctr">
              <a:buNone/>
            </a:pPr>
            <a:r>
              <a:rPr lang="en-US" sz="3600" b="1" dirty="0">
                <a:solidFill>
                  <a:srgbClr val="0A7C92"/>
                </a:solidFill>
                <a:latin typeface="Calibri" pitchFamily="34" charset="0"/>
                <a:ea typeface="Calibri" pitchFamily="34" charset="-122"/>
                <a:cs typeface="Calibri" pitchFamily="34" charset="-120"/>
              </a:rPr>
              <a:t>313</a:t>
            </a:r>
            <a:endParaRPr lang="en-US" sz="3600" dirty="0"/>
          </a:p>
        </p:txBody>
      </p:sp>
      <p:sp>
        <p:nvSpPr>
          <p:cNvPr id="23" name="Text 21"/>
          <p:cNvSpPr/>
          <p:nvPr/>
        </p:nvSpPr>
        <p:spPr>
          <a:xfrm>
            <a:off x="4937760" y="3584448"/>
            <a:ext cx="173736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Establecimientos</a:t>
            </a:r>
            <a:endParaRPr lang="en-US" sz="1000" dirty="0"/>
          </a:p>
        </p:txBody>
      </p:sp>
      <p:sp>
        <p:nvSpPr>
          <p:cNvPr id="24" name="Shape 22"/>
          <p:cNvSpPr/>
          <p:nvPr/>
        </p:nvSpPr>
        <p:spPr>
          <a:xfrm>
            <a:off x="6949440" y="2834640"/>
            <a:ext cx="1920240" cy="9601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s-CL"/>
          </a:p>
        </p:txBody>
      </p:sp>
      <p:sp>
        <p:nvSpPr>
          <p:cNvPr id="25" name="Shape 23"/>
          <p:cNvSpPr/>
          <p:nvPr/>
        </p:nvSpPr>
        <p:spPr>
          <a:xfrm>
            <a:off x="6949440" y="2834640"/>
            <a:ext cx="1920240" cy="45720"/>
          </a:xfrm>
          <a:prstGeom prst="rect">
            <a:avLst/>
          </a:prstGeom>
          <a:solidFill>
            <a:srgbClr val="12A3BE"/>
          </a:solidFill>
          <a:ln w="12700">
            <a:solidFill>
              <a:srgbClr val="12A3BE"/>
            </a:solidFill>
            <a:prstDash val="solid"/>
          </a:ln>
        </p:spPr>
        <p:txBody>
          <a:bodyPr/>
          <a:lstStyle/>
          <a:p>
            <a:endParaRPr lang="es-CL"/>
          </a:p>
        </p:txBody>
      </p:sp>
      <p:sp>
        <p:nvSpPr>
          <p:cNvPr id="26" name="Text 24"/>
          <p:cNvSpPr/>
          <p:nvPr/>
        </p:nvSpPr>
        <p:spPr>
          <a:xfrm>
            <a:off x="7040880" y="2999232"/>
            <a:ext cx="1737360" cy="594360"/>
          </a:xfrm>
          <a:prstGeom prst="rect">
            <a:avLst/>
          </a:prstGeom>
          <a:noFill/>
          <a:ln/>
        </p:spPr>
        <p:txBody>
          <a:bodyPr wrap="square" rtlCol="0" anchor="ctr"/>
          <a:lstStyle/>
          <a:p>
            <a:pPr marL="0" indent="0" algn="ctr">
              <a:buNone/>
            </a:pPr>
            <a:r>
              <a:rPr lang="en-US" sz="3600" b="1" dirty="0">
                <a:solidFill>
                  <a:srgbClr val="12A3BE"/>
                </a:solidFill>
                <a:latin typeface="Calibri" pitchFamily="34" charset="0"/>
                <a:ea typeface="Calibri" pitchFamily="34" charset="-122"/>
                <a:cs typeface="Calibri" pitchFamily="34" charset="-120"/>
              </a:rPr>
              <a:t>31</a:t>
            </a:r>
            <a:endParaRPr lang="en-US" sz="3600" dirty="0"/>
          </a:p>
        </p:txBody>
      </p:sp>
      <p:sp>
        <p:nvSpPr>
          <p:cNvPr id="27" name="Text 25"/>
          <p:cNvSpPr/>
          <p:nvPr/>
        </p:nvSpPr>
        <p:spPr>
          <a:xfrm>
            <a:off x="7040880" y="3584448"/>
            <a:ext cx="173736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Áreas funcionales</a:t>
            </a:r>
            <a:endParaRPr lang="en-US" sz="1000" dirty="0"/>
          </a:p>
        </p:txBody>
      </p:sp>
      <p:sp>
        <p:nvSpPr>
          <p:cNvPr id="28" name="Shape 26"/>
          <p:cNvSpPr/>
          <p:nvPr/>
        </p:nvSpPr>
        <p:spPr>
          <a:xfrm>
            <a:off x="4846320" y="3931920"/>
            <a:ext cx="1920240" cy="9601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s-CL"/>
          </a:p>
        </p:txBody>
      </p:sp>
      <p:sp>
        <p:nvSpPr>
          <p:cNvPr id="29" name="Shape 27"/>
          <p:cNvSpPr/>
          <p:nvPr/>
        </p:nvSpPr>
        <p:spPr>
          <a:xfrm>
            <a:off x="4846320" y="3931920"/>
            <a:ext cx="1920240" cy="45720"/>
          </a:xfrm>
          <a:prstGeom prst="rect">
            <a:avLst/>
          </a:prstGeom>
          <a:solidFill>
            <a:srgbClr val="0A7C92"/>
          </a:solidFill>
          <a:ln w="12700">
            <a:solidFill>
              <a:srgbClr val="0A7C92"/>
            </a:solidFill>
            <a:prstDash val="solid"/>
          </a:ln>
        </p:spPr>
        <p:txBody>
          <a:bodyPr/>
          <a:lstStyle/>
          <a:p>
            <a:endParaRPr lang="es-CL"/>
          </a:p>
        </p:txBody>
      </p:sp>
      <p:sp>
        <p:nvSpPr>
          <p:cNvPr id="30" name="Text 28"/>
          <p:cNvSpPr/>
          <p:nvPr/>
        </p:nvSpPr>
        <p:spPr>
          <a:xfrm>
            <a:off x="4937760" y="4096512"/>
            <a:ext cx="1737360" cy="594360"/>
          </a:xfrm>
          <a:prstGeom prst="rect">
            <a:avLst/>
          </a:prstGeom>
          <a:noFill/>
          <a:ln/>
        </p:spPr>
        <p:txBody>
          <a:bodyPr wrap="square" rtlCol="0" anchor="ctr"/>
          <a:lstStyle/>
          <a:p>
            <a:pPr marL="0" indent="0" algn="ctr">
              <a:buNone/>
            </a:pPr>
            <a:r>
              <a:rPr lang="en-US" sz="3600" b="1" dirty="0">
                <a:solidFill>
                  <a:srgbClr val="0A7C92"/>
                </a:solidFill>
                <a:latin typeface="Calibri" pitchFamily="34" charset="0"/>
                <a:ea typeface="Calibri" pitchFamily="34" charset="-122"/>
                <a:cs typeface="Calibri" pitchFamily="34" charset="-120"/>
              </a:rPr>
              <a:t>20</a:t>
            </a:r>
            <a:endParaRPr lang="en-US" sz="3600" dirty="0"/>
          </a:p>
        </p:txBody>
      </p:sp>
      <p:sp>
        <p:nvSpPr>
          <p:cNvPr id="31" name="Text 29"/>
          <p:cNvSpPr/>
          <p:nvPr/>
        </p:nvSpPr>
        <p:spPr>
          <a:xfrm>
            <a:off x="4937760" y="4681728"/>
            <a:ext cx="173736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Variables</a:t>
            </a:r>
            <a:endParaRPr lang="en-US" sz="1000" dirty="0"/>
          </a:p>
        </p:txBody>
      </p:sp>
      <p:sp>
        <p:nvSpPr>
          <p:cNvPr id="32" name="Shape 30"/>
          <p:cNvSpPr/>
          <p:nvPr/>
        </p:nvSpPr>
        <p:spPr>
          <a:xfrm>
            <a:off x="6949440" y="3931920"/>
            <a:ext cx="1920240" cy="9601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s-CL"/>
          </a:p>
        </p:txBody>
      </p:sp>
      <p:sp>
        <p:nvSpPr>
          <p:cNvPr id="33" name="Shape 31"/>
          <p:cNvSpPr/>
          <p:nvPr/>
        </p:nvSpPr>
        <p:spPr>
          <a:xfrm>
            <a:off x="6949440" y="3931920"/>
            <a:ext cx="1920240" cy="45720"/>
          </a:xfrm>
          <a:prstGeom prst="rect">
            <a:avLst/>
          </a:prstGeom>
          <a:solidFill>
            <a:srgbClr val="F0A500"/>
          </a:solidFill>
          <a:ln w="12700">
            <a:solidFill>
              <a:srgbClr val="F0A500"/>
            </a:solidFill>
            <a:prstDash val="solid"/>
          </a:ln>
        </p:spPr>
        <p:txBody>
          <a:bodyPr/>
          <a:lstStyle/>
          <a:p>
            <a:endParaRPr lang="es-CL"/>
          </a:p>
        </p:txBody>
      </p:sp>
      <p:sp>
        <p:nvSpPr>
          <p:cNvPr id="34" name="Text 32"/>
          <p:cNvSpPr/>
          <p:nvPr/>
        </p:nvSpPr>
        <p:spPr>
          <a:xfrm>
            <a:off x="7040880" y="4096512"/>
            <a:ext cx="1737360" cy="594360"/>
          </a:xfrm>
          <a:prstGeom prst="rect">
            <a:avLst/>
          </a:prstGeom>
          <a:noFill/>
          <a:ln/>
        </p:spPr>
        <p:txBody>
          <a:bodyPr wrap="square" rtlCol="0" anchor="ctr"/>
          <a:lstStyle/>
          <a:p>
            <a:pPr marL="0" indent="0" algn="ctr">
              <a:buNone/>
            </a:pPr>
            <a:r>
              <a:rPr lang="en-US" sz="3600" b="1" dirty="0">
                <a:solidFill>
                  <a:srgbClr val="F0A500"/>
                </a:solidFill>
                <a:latin typeface="Calibri" pitchFamily="34" charset="0"/>
                <a:ea typeface="Calibri" pitchFamily="34" charset="-122"/>
                <a:cs typeface="Calibri" pitchFamily="34" charset="-120"/>
              </a:rPr>
              <a:t>29</a:t>
            </a:r>
            <a:endParaRPr lang="en-US" sz="3600" dirty="0"/>
          </a:p>
        </p:txBody>
      </p:sp>
      <p:sp>
        <p:nvSpPr>
          <p:cNvPr id="35" name="Text 33"/>
          <p:cNvSpPr/>
          <p:nvPr/>
        </p:nvSpPr>
        <p:spPr>
          <a:xfrm>
            <a:off x="7040880" y="4681728"/>
            <a:ext cx="1737360" cy="2743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Servicios de salud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47472" y="256032"/>
            <a:ext cx="1709928" cy="274320"/>
          </a:xfrm>
          <a:prstGeom prst="rect">
            <a:avLst/>
          </a:prstGeom>
          <a:solidFill>
            <a:srgbClr val="0A7C92"/>
          </a:solidFill>
          <a:ln/>
        </p:spPr>
        <p:txBody>
          <a:bodyPr/>
          <a:lstStyle/>
          <a:p>
            <a:endParaRPr lang="es-CL"/>
          </a:p>
        </p:txBody>
      </p:sp>
      <p:sp>
        <p:nvSpPr>
          <p:cNvPr id="3" name="Text 1"/>
          <p:cNvSpPr/>
          <p:nvPr/>
        </p:nvSpPr>
        <p:spPr>
          <a:xfrm>
            <a:off x="347472" y="256032"/>
            <a:ext cx="170992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 · FIGURA 1</a:t>
            </a:r>
            <a:endParaRPr lang="en-US" sz="900" dirty="0"/>
          </a:p>
        </p:txBody>
      </p:sp>
      <p:sp>
        <p:nvSpPr>
          <p:cNvPr id="4" name="Text 2"/>
          <p:cNvSpPr/>
          <p:nvPr/>
        </p:nvSpPr>
        <p:spPr>
          <a:xfrm>
            <a:off x="243710" y="409949"/>
            <a:ext cx="8412480" cy="10058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Distribución de Variables</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12A3BE"/>
                </a:solidFill>
                <a:latin typeface="Calibri" pitchFamily="34" charset="0"/>
                <a:ea typeface="Calibri" pitchFamily="34" charset="-122"/>
                <a:cs typeface="Calibri" pitchFamily="34" charset="-120"/>
              </a:rPr>
              <a:t>Ninguna distribuye normal</a:t>
            </a:r>
            <a:endParaRPr lang="en-US" sz="1400" dirty="0"/>
          </a:p>
        </p:txBody>
      </p:sp>
      <p:sp>
        <p:nvSpPr>
          <p:cNvPr id="7" name="Text 5"/>
          <p:cNvSpPr/>
          <p:nvPr/>
        </p:nvSpPr>
        <p:spPr>
          <a:xfrm>
            <a:off x="347472" y="2788920"/>
            <a:ext cx="8449056" cy="365760"/>
          </a:xfrm>
          <a:prstGeom prst="rect">
            <a:avLst/>
          </a:prstGeom>
          <a:noFill/>
          <a:ln/>
        </p:spPr>
        <p:txBody>
          <a:bodyPr wrap="square" rtlCol="0" anchor="ctr"/>
          <a:lstStyle/>
          <a:p>
            <a:pPr marL="0" indent="0" algn="ctr">
              <a:buNone/>
            </a:pPr>
            <a:r>
              <a:rPr lang="en-US" sz="1100" i="1" dirty="0">
                <a:solidFill>
                  <a:srgbClr val="2A4A5E"/>
                </a:solidFill>
                <a:latin typeface="Calibri" pitchFamily="34" charset="0"/>
                <a:ea typeface="Calibri" pitchFamily="34" charset="-122"/>
                <a:cs typeface="Calibri" pitchFamily="34" charset="-120"/>
              </a:rPr>
              <a:t>Insertar Figura 1 — Histogramas de variables numéricas</a:t>
            </a:r>
            <a:endParaRPr lang="en-US" sz="1100" dirty="0"/>
          </a:p>
        </p:txBody>
      </p:sp>
      <p:sp>
        <p:nvSpPr>
          <p:cNvPr id="8" name="Shape 6"/>
          <p:cNvSpPr/>
          <p:nvPr/>
        </p:nvSpPr>
        <p:spPr>
          <a:xfrm>
            <a:off x="347472" y="4206240"/>
            <a:ext cx="8449056" cy="658368"/>
          </a:xfrm>
          <a:prstGeom prst="rect">
            <a:avLst/>
          </a:prstGeom>
          <a:solidFill>
            <a:srgbClr val="0F2D45"/>
          </a:solidFill>
          <a:ln w="6350">
            <a:solidFill>
              <a:srgbClr val="1A3F58"/>
            </a:solidFill>
            <a:prstDash val="solid"/>
          </a:ln>
        </p:spPr>
        <p:txBody>
          <a:bodyPr/>
          <a:lstStyle/>
          <a:p>
            <a:endParaRPr lang="es-CL"/>
          </a:p>
        </p:txBody>
      </p:sp>
      <p:sp>
        <p:nvSpPr>
          <p:cNvPr id="9" name="Shape 7"/>
          <p:cNvSpPr/>
          <p:nvPr/>
        </p:nvSpPr>
        <p:spPr>
          <a:xfrm>
            <a:off x="347472" y="4206240"/>
            <a:ext cx="54864" cy="658368"/>
          </a:xfrm>
          <a:prstGeom prst="rect">
            <a:avLst/>
          </a:prstGeom>
          <a:solidFill>
            <a:srgbClr val="0A7C92"/>
          </a:solidFill>
          <a:ln w="12700">
            <a:solidFill>
              <a:srgbClr val="0A7C92"/>
            </a:solidFill>
            <a:prstDash val="solid"/>
          </a:ln>
        </p:spPr>
        <p:txBody>
          <a:bodyPr/>
          <a:lstStyle/>
          <a:p>
            <a:endParaRPr lang="es-CL"/>
          </a:p>
        </p:txBody>
      </p:sp>
      <p:sp>
        <p:nvSpPr>
          <p:cNvPr id="10" name="Text 8"/>
          <p:cNvSpPr/>
          <p:nvPr/>
        </p:nvSpPr>
        <p:spPr>
          <a:xfrm>
            <a:off x="484632" y="4297680"/>
            <a:ext cx="8220456" cy="475488"/>
          </a:xfrm>
          <a:prstGeom prst="rect">
            <a:avLst/>
          </a:prstGeom>
          <a:noFill/>
          <a:ln/>
        </p:spPr>
        <p:txBody>
          <a:bodyPr wrap="square"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INDICE_OCUPACIONAL es aproximadamente simétrico (media ≈ mediana ≈ 63%): la mayoría de hospitales opera en rangos similares. LETALIDAD tiene cola pronunciada a la derecha (mediana 1,5% vs media 5,1%): la mortalidad alta está concentrada en áreas específicas como UCI. Siguiente paso: separar por grupos de complejidad para reducir el sesgo.</a:t>
            </a:r>
            <a:endParaRPr lang="en-US" sz="1000" dirty="0"/>
          </a:p>
        </p:txBody>
      </p:sp>
      <p:pic>
        <p:nvPicPr>
          <p:cNvPr id="11" name="Picture 10">
            <a:extLst>
              <a:ext uri="{FF2B5EF4-FFF2-40B4-BE49-F238E27FC236}">
                <a16:creationId xmlns:a16="http://schemas.microsoft.com/office/drawing/2014/main" id="{0B98EFBC-85F7-2548-B763-ABFE52F3CF07}"/>
              </a:ext>
            </a:extLst>
          </p:cNvPr>
          <p:cNvPicPr>
            <a:picLocks noChangeAspect="1"/>
          </p:cNvPicPr>
          <p:nvPr/>
        </p:nvPicPr>
        <p:blipFill>
          <a:blip r:embed="rId3"/>
          <a:stretch>
            <a:fillRect/>
          </a:stretch>
        </p:blipFill>
        <p:spPr>
          <a:xfrm>
            <a:off x="361188" y="1255661"/>
            <a:ext cx="8421624" cy="28041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47472" y="256032"/>
            <a:ext cx="1709928" cy="274320"/>
          </a:xfrm>
          <a:prstGeom prst="rect">
            <a:avLst/>
          </a:prstGeom>
          <a:solidFill>
            <a:srgbClr val="0A7C92"/>
          </a:solidFill>
          <a:ln/>
        </p:spPr>
        <p:txBody>
          <a:bodyPr/>
          <a:lstStyle/>
          <a:p>
            <a:endParaRPr lang="es-CL"/>
          </a:p>
        </p:txBody>
      </p:sp>
      <p:sp>
        <p:nvSpPr>
          <p:cNvPr id="3" name="Text 1"/>
          <p:cNvSpPr/>
          <p:nvPr/>
        </p:nvSpPr>
        <p:spPr>
          <a:xfrm>
            <a:off x="347472" y="256032"/>
            <a:ext cx="170992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 · FIGURA 2</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Ocupación y Letalidad por Complejidad</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Alta complejidad opera en el umbral crítico del 85%</a:t>
            </a:r>
            <a:endParaRPr lang="en-US" sz="1400" dirty="0"/>
          </a:p>
        </p:txBody>
      </p:sp>
      <p:sp>
        <p:nvSpPr>
          <p:cNvPr id="7" name="Text 5"/>
          <p:cNvSpPr/>
          <p:nvPr/>
        </p:nvSpPr>
        <p:spPr>
          <a:xfrm>
            <a:off x="347472" y="2788920"/>
            <a:ext cx="8449056" cy="365760"/>
          </a:xfrm>
          <a:prstGeom prst="rect">
            <a:avLst/>
          </a:prstGeom>
          <a:noFill/>
          <a:ln/>
        </p:spPr>
        <p:txBody>
          <a:bodyPr wrap="square" rtlCol="0" anchor="ctr"/>
          <a:lstStyle/>
          <a:p>
            <a:pPr marL="0" indent="0" algn="ctr">
              <a:buNone/>
            </a:pPr>
            <a:r>
              <a:rPr lang="en-US" sz="1100" i="1" dirty="0">
                <a:solidFill>
                  <a:srgbClr val="CBD5E1"/>
                </a:solidFill>
                <a:latin typeface="Calibri" pitchFamily="34" charset="0"/>
                <a:ea typeface="Calibri" pitchFamily="34" charset="-122"/>
                <a:cs typeface="Calibri" pitchFamily="34" charset="-120"/>
              </a:rPr>
              <a:t>Insertar Figura 2 — Boxplots por nivel de complejidad</a:t>
            </a:r>
            <a:endParaRPr lang="en-US" sz="1100" dirty="0"/>
          </a:p>
        </p:txBody>
      </p:sp>
      <p:sp>
        <p:nvSpPr>
          <p:cNvPr id="8" name="Shape 6"/>
          <p:cNvSpPr/>
          <p:nvPr/>
        </p:nvSpPr>
        <p:spPr>
          <a:xfrm>
            <a:off x="347472" y="4206240"/>
            <a:ext cx="8449056" cy="658368"/>
          </a:xfrm>
          <a:prstGeom prst="rect">
            <a:avLst/>
          </a:prstGeom>
          <a:solidFill>
            <a:srgbClr val="F8FAFC"/>
          </a:solidFill>
          <a:ln w="6350">
            <a:solidFill>
              <a:srgbClr val="E2E8F0"/>
            </a:solidFill>
            <a:prstDash val="solid"/>
          </a:ln>
        </p:spPr>
        <p:txBody>
          <a:bodyPr/>
          <a:lstStyle/>
          <a:p>
            <a:endParaRPr lang="es-CL"/>
          </a:p>
        </p:txBody>
      </p:sp>
      <p:sp>
        <p:nvSpPr>
          <p:cNvPr id="9" name="Shape 7"/>
          <p:cNvSpPr/>
          <p:nvPr/>
        </p:nvSpPr>
        <p:spPr>
          <a:xfrm>
            <a:off x="347472" y="4206240"/>
            <a:ext cx="54864" cy="658368"/>
          </a:xfrm>
          <a:prstGeom prst="rect">
            <a:avLst/>
          </a:prstGeom>
          <a:solidFill>
            <a:srgbClr val="0A7C92"/>
          </a:solidFill>
          <a:ln w="12700">
            <a:solidFill>
              <a:srgbClr val="0A7C92"/>
            </a:solidFill>
            <a:prstDash val="solid"/>
          </a:ln>
        </p:spPr>
        <p:txBody>
          <a:bodyPr/>
          <a:lstStyle/>
          <a:p>
            <a:endParaRPr lang="es-CL"/>
          </a:p>
        </p:txBody>
      </p:sp>
      <p:sp>
        <p:nvSpPr>
          <p:cNvPr id="10" name="Text 8"/>
          <p:cNvSpPr/>
          <p:nvPr/>
        </p:nvSpPr>
        <p:spPr>
          <a:xfrm>
            <a:off x="484632" y="4297680"/>
            <a:ext cx="8220456" cy="475488"/>
          </a:xfrm>
          <a:prstGeom prst="rect">
            <a:avLst/>
          </a:prstGeom>
          <a:noFill/>
          <a:ln/>
        </p:spPr>
        <p:txBody>
          <a:bodyPr wrap="square" rtlCol="0" anchor="ctr"/>
          <a:lstStyle/>
          <a:p>
            <a:pPr marL="0" indent="0">
              <a:buNone/>
            </a:pPr>
            <a:r>
              <a:rPr lang="en-US" sz="1000" i="1" dirty="0">
                <a:solidFill>
                  <a:srgbClr val="374151"/>
                </a:solidFill>
                <a:latin typeface="Calibri" pitchFamily="34" charset="0"/>
                <a:ea typeface="Calibri" pitchFamily="34" charset="-122"/>
                <a:cs typeface="Calibri" pitchFamily="34" charset="-120"/>
              </a:rPr>
              <a:t>Alta complejidad lidera con IO mediana ~85% (umbral crítico) y letalidad mediana ~20%. Media y baja se mantienen entre 60–70% de IO y menos del 10% de letalidad. Conclusión: tanto IO como letalidad son significativamente más altos en alta complejidad, lo que sugiere una posible relación entre ambas variables.</a:t>
            </a:r>
            <a:endParaRPr lang="en-US" sz="1000" dirty="0"/>
          </a:p>
        </p:txBody>
      </p:sp>
      <p:pic>
        <p:nvPicPr>
          <p:cNvPr id="11" name="Picture 10">
            <a:extLst>
              <a:ext uri="{FF2B5EF4-FFF2-40B4-BE49-F238E27FC236}">
                <a16:creationId xmlns:a16="http://schemas.microsoft.com/office/drawing/2014/main" id="{489309A0-F18E-B5FB-2929-E203BBA0F9B9}"/>
              </a:ext>
            </a:extLst>
          </p:cNvPr>
          <p:cNvPicPr>
            <a:picLocks noChangeAspect="1"/>
          </p:cNvPicPr>
          <p:nvPr/>
        </p:nvPicPr>
        <p:blipFill>
          <a:blip r:embed="rId3"/>
          <a:stretch>
            <a:fillRect/>
          </a:stretch>
        </p:blipFill>
        <p:spPr>
          <a:xfrm>
            <a:off x="207523" y="1517904"/>
            <a:ext cx="8589005" cy="25420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47472" y="256032"/>
            <a:ext cx="1709928" cy="274320"/>
          </a:xfrm>
          <a:prstGeom prst="rect">
            <a:avLst/>
          </a:prstGeom>
          <a:solidFill>
            <a:srgbClr val="0A7C92"/>
          </a:solidFill>
          <a:ln/>
        </p:spPr>
        <p:txBody>
          <a:bodyPr/>
          <a:lstStyle/>
          <a:p>
            <a:endParaRPr lang="es-CL"/>
          </a:p>
        </p:txBody>
      </p:sp>
      <p:sp>
        <p:nvSpPr>
          <p:cNvPr id="3" name="Text 1"/>
          <p:cNvSpPr/>
          <p:nvPr/>
        </p:nvSpPr>
        <p:spPr>
          <a:xfrm>
            <a:off x="347472" y="256032"/>
            <a:ext cx="170992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 · FIGURA 3</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Dispersión: Ocupación vs Letalidad</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r = 0,226 — relación débil pero existente</a:t>
            </a:r>
            <a:endParaRPr lang="en-US" sz="1400" dirty="0"/>
          </a:p>
        </p:txBody>
      </p:sp>
      <p:sp>
        <p:nvSpPr>
          <p:cNvPr id="7" name="Text 5"/>
          <p:cNvSpPr/>
          <p:nvPr/>
        </p:nvSpPr>
        <p:spPr>
          <a:xfrm>
            <a:off x="347472" y="2788920"/>
            <a:ext cx="8449056" cy="365760"/>
          </a:xfrm>
          <a:prstGeom prst="rect">
            <a:avLst/>
          </a:prstGeom>
          <a:noFill/>
          <a:ln/>
        </p:spPr>
        <p:txBody>
          <a:bodyPr wrap="square" rtlCol="0" anchor="ctr"/>
          <a:lstStyle/>
          <a:p>
            <a:pPr marL="0" indent="0" algn="ctr">
              <a:buNone/>
            </a:pPr>
            <a:endParaRPr lang="en-US" sz="1100" dirty="0"/>
          </a:p>
        </p:txBody>
      </p:sp>
      <p:sp>
        <p:nvSpPr>
          <p:cNvPr id="8" name="Shape 6"/>
          <p:cNvSpPr/>
          <p:nvPr/>
        </p:nvSpPr>
        <p:spPr>
          <a:xfrm>
            <a:off x="347472" y="4206240"/>
            <a:ext cx="8449056" cy="658368"/>
          </a:xfrm>
          <a:prstGeom prst="rect">
            <a:avLst/>
          </a:prstGeom>
          <a:solidFill>
            <a:srgbClr val="F8FAFC"/>
          </a:solidFill>
          <a:ln w="6350">
            <a:solidFill>
              <a:srgbClr val="E2E8F0"/>
            </a:solidFill>
            <a:prstDash val="solid"/>
          </a:ln>
        </p:spPr>
        <p:txBody>
          <a:bodyPr/>
          <a:lstStyle/>
          <a:p>
            <a:endParaRPr lang="es-CL"/>
          </a:p>
        </p:txBody>
      </p:sp>
      <p:sp>
        <p:nvSpPr>
          <p:cNvPr id="9" name="Shape 7"/>
          <p:cNvSpPr/>
          <p:nvPr/>
        </p:nvSpPr>
        <p:spPr>
          <a:xfrm>
            <a:off x="347472" y="4206240"/>
            <a:ext cx="54864" cy="658368"/>
          </a:xfrm>
          <a:prstGeom prst="rect">
            <a:avLst/>
          </a:prstGeom>
          <a:solidFill>
            <a:srgbClr val="0A7C92"/>
          </a:solidFill>
          <a:ln w="12700">
            <a:solidFill>
              <a:srgbClr val="0A7C92"/>
            </a:solidFill>
            <a:prstDash val="solid"/>
          </a:ln>
        </p:spPr>
        <p:txBody>
          <a:bodyPr/>
          <a:lstStyle/>
          <a:p>
            <a:endParaRPr lang="es-CL"/>
          </a:p>
        </p:txBody>
      </p:sp>
      <p:sp>
        <p:nvSpPr>
          <p:cNvPr id="10" name="Text 8"/>
          <p:cNvSpPr/>
          <p:nvPr/>
        </p:nvSpPr>
        <p:spPr>
          <a:xfrm>
            <a:off x="484632" y="4297680"/>
            <a:ext cx="8220456" cy="475488"/>
          </a:xfrm>
          <a:prstGeom prst="rect">
            <a:avLst/>
          </a:prstGeom>
          <a:noFill/>
          <a:ln/>
        </p:spPr>
        <p:txBody>
          <a:bodyPr wrap="square" rtlCol="0" anchor="ctr"/>
          <a:lstStyle/>
          <a:p>
            <a:pPr marL="0" indent="0">
              <a:buNone/>
            </a:pPr>
            <a:r>
              <a:rPr lang="en-US" sz="1000" i="1" dirty="0">
                <a:solidFill>
                  <a:srgbClr val="374151"/>
                </a:solidFill>
                <a:latin typeface="Calibri" pitchFamily="34" charset="0"/>
                <a:ea typeface="Calibri" pitchFamily="34" charset="-122"/>
                <a:cs typeface="Calibri" pitchFamily="34" charset="-120"/>
              </a:rPr>
              <a:t>La tendencia positiva débil (r = 0,226) confirma que a mayor ocupación, levemente mayor mortalidad. La nube dispersa indica que la ocupación sola no explica la letalidad. Al separar por complejidad, la alta complejidad concentra los valores más altos de mortalidad independientemente del IO — la complejidad también incide.</a:t>
            </a:r>
            <a:endParaRPr lang="en-US" sz="1000" dirty="0"/>
          </a:p>
        </p:txBody>
      </p:sp>
      <p:pic>
        <p:nvPicPr>
          <p:cNvPr id="11" name="Picture 10">
            <a:extLst>
              <a:ext uri="{FF2B5EF4-FFF2-40B4-BE49-F238E27FC236}">
                <a16:creationId xmlns:a16="http://schemas.microsoft.com/office/drawing/2014/main" id="{DBF025F2-5183-2171-1E20-676E30E31693}"/>
              </a:ext>
            </a:extLst>
          </p:cNvPr>
          <p:cNvPicPr>
            <a:picLocks noChangeAspect="1"/>
          </p:cNvPicPr>
          <p:nvPr/>
        </p:nvPicPr>
        <p:blipFill>
          <a:blip r:embed="rId3"/>
          <a:stretch>
            <a:fillRect/>
          </a:stretch>
        </p:blipFill>
        <p:spPr>
          <a:xfrm>
            <a:off x="347472" y="1899920"/>
            <a:ext cx="8449056" cy="2143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47472" y="256032"/>
            <a:ext cx="1709928" cy="274320"/>
          </a:xfrm>
          <a:prstGeom prst="rect">
            <a:avLst/>
          </a:prstGeom>
          <a:solidFill>
            <a:srgbClr val="0A7C92"/>
          </a:solidFill>
          <a:ln/>
        </p:spPr>
        <p:txBody>
          <a:bodyPr/>
          <a:lstStyle/>
          <a:p>
            <a:endParaRPr lang="es-CL"/>
          </a:p>
        </p:txBody>
      </p:sp>
      <p:sp>
        <p:nvSpPr>
          <p:cNvPr id="3" name="Text 1"/>
          <p:cNvSpPr/>
          <p:nvPr/>
        </p:nvSpPr>
        <p:spPr>
          <a:xfrm>
            <a:off x="347472" y="256032"/>
            <a:ext cx="170992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 · FIGURA 4</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Letalidad según Rango de Ocupación</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12A3BE"/>
                </a:solidFill>
                <a:latin typeface="Calibri" pitchFamily="34" charset="0"/>
                <a:ea typeface="Calibri" pitchFamily="34" charset="-122"/>
                <a:cs typeface="Calibri" pitchFamily="34" charset="-120"/>
              </a:rPr>
              <a:t>Efecto umbral: sobre el 70% la mortalidad se intensifica</a:t>
            </a:r>
            <a:endParaRPr lang="en-US" sz="1400" dirty="0"/>
          </a:p>
        </p:txBody>
      </p:sp>
      <p:sp>
        <p:nvSpPr>
          <p:cNvPr id="7" name="Text 5"/>
          <p:cNvSpPr/>
          <p:nvPr/>
        </p:nvSpPr>
        <p:spPr>
          <a:xfrm>
            <a:off x="347472" y="2788920"/>
            <a:ext cx="8449056" cy="365760"/>
          </a:xfrm>
          <a:prstGeom prst="rect">
            <a:avLst/>
          </a:prstGeom>
          <a:noFill/>
          <a:ln/>
        </p:spPr>
        <p:txBody>
          <a:bodyPr wrap="square" rtlCol="0" anchor="ctr"/>
          <a:lstStyle/>
          <a:p>
            <a:pPr marL="0" indent="0" algn="ctr">
              <a:buNone/>
            </a:pPr>
            <a:r>
              <a:rPr lang="en-US" sz="1100" i="1" dirty="0">
                <a:solidFill>
                  <a:srgbClr val="2A4A5E"/>
                </a:solidFill>
                <a:latin typeface="Calibri" pitchFamily="34" charset="0"/>
                <a:ea typeface="Calibri" pitchFamily="34" charset="-122"/>
                <a:cs typeface="Calibri" pitchFamily="34" charset="-120"/>
              </a:rPr>
              <a:t>Insertar Figura 4 — Letalidad promedio por rango de ocupación</a:t>
            </a:r>
            <a:endParaRPr lang="en-US" sz="1100" dirty="0"/>
          </a:p>
        </p:txBody>
      </p:sp>
      <p:sp>
        <p:nvSpPr>
          <p:cNvPr id="8" name="Shape 6"/>
          <p:cNvSpPr/>
          <p:nvPr/>
        </p:nvSpPr>
        <p:spPr>
          <a:xfrm>
            <a:off x="347472" y="4206240"/>
            <a:ext cx="8449056" cy="658368"/>
          </a:xfrm>
          <a:prstGeom prst="rect">
            <a:avLst/>
          </a:prstGeom>
          <a:solidFill>
            <a:srgbClr val="0F2D45"/>
          </a:solidFill>
          <a:ln w="6350">
            <a:solidFill>
              <a:srgbClr val="1A3F58"/>
            </a:solidFill>
            <a:prstDash val="solid"/>
          </a:ln>
        </p:spPr>
        <p:txBody>
          <a:bodyPr/>
          <a:lstStyle/>
          <a:p>
            <a:endParaRPr lang="es-CL"/>
          </a:p>
        </p:txBody>
      </p:sp>
      <p:sp>
        <p:nvSpPr>
          <p:cNvPr id="9" name="Shape 7"/>
          <p:cNvSpPr/>
          <p:nvPr/>
        </p:nvSpPr>
        <p:spPr>
          <a:xfrm>
            <a:off x="347472" y="4206240"/>
            <a:ext cx="54864" cy="658368"/>
          </a:xfrm>
          <a:prstGeom prst="rect">
            <a:avLst/>
          </a:prstGeom>
          <a:solidFill>
            <a:srgbClr val="0A7C92"/>
          </a:solidFill>
          <a:ln w="12700">
            <a:solidFill>
              <a:srgbClr val="0A7C92"/>
            </a:solidFill>
            <a:prstDash val="solid"/>
          </a:ln>
        </p:spPr>
        <p:txBody>
          <a:bodyPr/>
          <a:lstStyle/>
          <a:p>
            <a:endParaRPr lang="es-CL"/>
          </a:p>
        </p:txBody>
      </p:sp>
      <p:sp>
        <p:nvSpPr>
          <p:cNvPr id="10" name="Text 8"/>
          <p:cNvSpPr/>
          <p:nvPr/>
        </p:nvSpPr>
        <p:spPr>
          <a:xfrm>
            <a:off x="484632" y="4297680"/>
            <a:ext cx="8220456" cy="475488"/>
          </a:xfrm>
          <a:prstGeom prst="rect">
            <a:avLst/>
          </a:prstGeom>
          <a:noFill/>
          <a:ln/>
        </p:spPr>
        <p:txBody>
          <a:bodyPr wrap="square"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Relación progresiva: 0–50% → ~2,0%; 50–70% → ~4,1%; 70–85% → 5,59%; 85–100% → 9,23% llegando a 13,6%. A partir del 70% el aumento se vuelve más pronunciado, confirmando un efecto umbral: la saturación extrema deteriora los resultados clínicos.</a:t>
            </a:r>
            <a:endParaRPr lang="en-US" sz="1000" dirty="0"/>
          </a:p>
        </p:txBody>
      </p:sp>
      <p:pic>
        <p:nvPicPr>
          <p:cNvPr id="11" name="Picture 10">
            <a:extLst>
              <a:ext uri="{FF2B5EF4-FFF2-40B4-BE49-F238E27FC236}">
                <a16:creationId xmlns:a16="http://schemas.microsoft.com/office/drawing/2014/main" id="{03DBDE97-86D7-C43B-829B-A7711F453D7F}"/>
              </a:ext>
            </a:extLst>
          </p:cNvPr>
          <p:cNvPicPr>
            <a:picLocks noChangeAspect="1"/>
          </p:cNvPicPr>
          <p:nvPr/>
        </p:nvPicPr>
        <p:blipFill>
          <a:blip r:embed="rId3"/>
          <a:stretch>
            <a:fillRect/>
          </a:stretch>
        </p:blipFill>
        <p:spPr>
          <a:xfrm>
            <a:off x="347472" y="1485200"/>
            <a:ext cx="8449056" cy="2607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47472" y="256032"/>
            <a:ext cx="1709928" cy="274320"/>
          </a:xfrm>
          <a:prstGeom prst="rect">
            <a:avLst/>
          </a:prstGeom>
          <a:solidFill>
            <a:srgbClr val="0A7C92"/>
          </a:solidFill>
          <a:ln/>
        </p:spPr>
        <p:txBody>
          <a:bodyPr/>
          <a:lstStyle/>
          <a:p>
            <a:endParaRPr lang="es-CL"/>
          </a:p>
        </p:txBody>
      </p:sp>
      <p:sp>
        <p:nvSpPr>
          <p:cNvPr id="3" name="Text 1"/>
          <p:cNvSpPr/>
          <p:nvPr/>
        </p:nvSpPr>
        <p:spPr>
          <a:xfrm>
            <a:off x="347472" y="256032"/>
            <a:ext cx="170992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 · FIGURA 5</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Evolución Temporal 2014–2025</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La pandemia de 2020 invierte la relación esperada</a:t>
            </a:r>
            <a:endParaRPr lang="en-US" sz="1400" dirty="0"/>
          </a:p>
        </p:txBody>
      </p:sp>
      <p:sp>
        <p:nvSpPr>
          <p:cNvPr id="7" name="Text 5"/>
          <p:cNvSpPr/>
          <p:nvPr/>
        </p:nvSpPr>
        <p:spPr>
          <a:xfrm>
            <a:off x="347472" y="2788920"/>
            <a:ext cx="8449056" cy="365760"/>
          </a:xfrm>
          <a:prstGeom prst="rect">
            <a:avLst/>
          </a:prstGeom>
          <a:noFill/>
          <a:ln/>
        </p:spPr>
        <p:txBody>
          <a:bodyPr wrap="square" rtlCol="0" anchor="ctr"/>
          <a:lstStyle/>
          <a:p>
            <a:pPr marL="0" indent="0" algn="ctr">
              <a:buNone/>
            </a:pPr>
            <a:r>
              <a:rPr lang="en-US" sz="1100" i="1" dirty="0">
                <a:solidFill>
                  <a:srgbClr val="CBD5E1"/>
                </a:solidFill>
                <a:latin typeface="Calibri" pitchFamily="34" charset="0"/>
                <a:ea typeface="Calibri" pitchFamily="34" charset="-122"/>
                <a:cs typeface="Calibri" pitchFamily="34" charset="-120"/>
              </a:rPr>
              <a:t>Insertar Figura 5 — Evolución temporal del IO y Letalidad</a:t>
            </a:r>
            <a:endParaRPr lang="en-US" sz="1100" dirty="0"/>
          </a:p>
        </p:txBody>
      </p:sp>
      <p:sp>
        <p:nvSpPr>
          <p:cNvPr id="8" name="Shape 6"/>
          <p:cNvSpPr/>
          <p:nvPr/>
        </p:nvSpPr>
        <p:spPr>
          <a:xfrm>
            <a:off x="347472" y="4206240"/>
            <a:ext cx="8449056" cy="658368"/>
          </a:xfrm>
          <a:prstGeom prst="rect">
            <a:avLst/>
          </a:prstGeom>
          <a:solidFill>
            <a:srgbClr val="F8FAFC"/>
          </a:solidFill>
          <a:ln w="6350">
            <a:solidFill>
              <a:srgbClr val="E2E8F0"/>
            </a:solidFill>
            <a:prstDash val="solid"/>
          </a:ln>
        </p:spPr>
        <p:txBody>
          <a:bodyPr/>
          <a:lstStyle/>
          <a:p>
            <a:endParaRPr lang="es-CL"/>
          </a:p>
        </p:txBody>
      </p:sp>
      <p:sp>
        <p:nvSpPr>
          <p:cNvPr id="9" name="Shape 7"/>
          <p:cNvSpPr/>
          <p:nvPr/>
        </p:nvSpPr>
        <p:spPr>
          <a:xfrm>
            <a:off x="347472" y="4206240"/>
            <a:ext cx="54864" cy="658368"/>
          </a:xfrm>
          <a:prstGeom prst="rect">
            <a:avLst/>
          </a:prstGeom>
          <a:solidFill>
            <a:srgbClr val="0A7C92"/>
          </a:solidFill>
          <a:ln w="12700">
            <a:solidFill>
              <a:srgbClr val="0A7C92"/>
            </a:solidFill>
            <a:prstDash val="solid"/>
          </a:ln>
        </p:spPr>
        <p:txBody>
          <a:bodyPr/>
          <a:lstStyle/>
          <a:p>
            <a:endParaRPr lang="es-CL"/>
          </a:p>
        </p:txBody>
      </p:sp>
      <p:sp>
        <p:nvSpPr>
          <p:cNvPr id="10" name="Text 8"/>
          <p:cNvSpPr/>
          <p:nvPr/>
        </p:nvSpPr>
        <p:spPr>
          <a:xfrm>
            <a:off x="484632" y="4297680"/>
            <a:ext cx="8220456" cy="475488"/>
          </a:xfrm>
          <a:prstGeom prst="rect">
            <a:avLst/>
          </a:prstGeom>
          <a:noFill/>
          <a:ln/>
        </p:spPr>
        <p:txBody>
          <a:bodyPr wrap="square" rtlCol="0" anchor="ctr"/>
          <a:lstStyle/>
          <a:p>
            <a:pPr marL="0" indent="0">
              <a:buNone/>
            </a:pPr>
            <a:r>
              <a:rPr lang="en-US" sz="1000" i="1" dirty="0">
                <a:solidFill>
                  <a:srgbClr val="374151"/>
                </a:solidFill>
                <a:latin typeface="Calibri" pitchFamily="34" charset="0"/>
                <a:ea typeface="Calibri" pitchFamily="34" charset="-122"/>
                <a:cs typeface="Calibri" pitchFamily="34" charset="-120"/>
              </a:rPr>
              <a:t>2014–2019: IO estable 65–67%. En 2020 el IO cae bajo 60% pero la letalidad sube a 8,7% por la pandemia: menos casos pero más graves. Desde 2021 el IO se recupera y supera niveles prepandemia en 2023. Conclusión: el tipo de paciente atendido importa tanto como el nivel de ocupación — la relación no es directa.</a:t>
            </a:r>
            <a:endParaRPr lang="en-US" sz="1000" dirty="0"/>
          </a:p>
        </p:txBody>
      </p:sp>
      <p:pic>
        <p:nvPicPr>
          <p:cNvPr id="11" name="Picture 10">
            <a:extLst>
              <a:ext uri="{FF2B5EF4-FFF2-40B4-BE49-F238E27FC236}">
                <a16:creationId xmlns:a16="http://schemas.microsoft.com/office/drawing/2014/main" id="{60549526-E45E-D663-0F67-4110715EE314}"/>
              </a:ext>
            </a:extLst>
          </p:cNvPr>
          <p:cNvPicPr>
            <a:picLocks noChangeAspect="1"/>
          </p:cNvPicPr>
          <p:nvPr/>
        </p:nvPicPr>
        <p:blipFill>
          <a:blip r:embed="rId3"/>
          <a:stretch>
            <a:fillRect/>
          </a:stretch>
        </p:blipFill>
        <p:spPr>
          <a:xfrm>
            <a:off x="374904" y="1625472"/>
            <a:ext cx="8421624" cy="24893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47472" y="256032"/>
            <a:ext cx="1709928" cy="274320"/>
          </a:xfrm>
          <a:prstGeom prst="rect">
            <a:avLst/>
          </a:prstGeom>
          <a:solidFill>
            <a:srgbClr val="0A7C92"/>
          </a:solidFill>
          <a:ln/>
        </p:spPr>
        <p:txBody>
          <a:bodyPr/>
          <a:lstStyle/>
          <a:p>
            <a:endParaRPr lang="es-CL"/>
          </a:p>
        </p:txBody>
      </p:sp>
      <p:sp>
        <p:nvSpPr>
          <p:cNvPr id="3" name="Text 1"/>
          <p:cNvSpPr/>
          <p:nvPr/>
        </p:nvSpPr>
        <p:spPr>
          <a:xfrm>
            <a:off x="347472" y="256032"/>
            <a:ext cx="170992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 · FIGURA 6</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Matriz de Correlación</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12A3BE"/>
                </a:solidFill>
                <a:latin typeface="Calibri" pitchFamily="34" charset="0"/>
                <a:ea typeface="Calibri" pitchFamily="34" charset="-122"/>
                <a:cs typeface="Calibri" pitchFamily="34" charset="-120"/>
              </a:rPr>
              <a:t>Orientación para la selección de variables del modelo</a:t>
            </a:r>
            <a:endParaRPr lang="en-US" sz="1400" dirty="0"/>
          </a:p>
        </p:txBody>
      </p:sp>
      <p:sp>
        <p:nvSpPr>
          <p:cNvPr id="7" name="Text 5"/>
          <p:cNvSpPr/>
          <p:nvPr/>
        </p:nvSpPr>
        <p:spPr>
          <a:xfrm>
            <a:off x="347472" y="2788920"/>
            <a:ext cx="8449056" cy="365760"/>
          </a:xfrm>
          <a:prstGeom prst="rect">
            <a:avLst/>
          </a:prstGeom>
          <a:noFill/>
          <a:ln/>
        </p:spPr>
        <p:txBody>
          <a:bodyPr wrap="square" rtlCol="0" anchor="ctr"/>
          <a:lstStyle/>
          <a:p>
            <a:pPr marL="0" indent="0" algn="ctr">
              <a:buNone/>
            </a:pPr>
            <a:endParaRPr lang="en-US" sz="1100" dirty="0"/>
          </a:p>
        </p:txBody>
      </p:sp>
      <p:sp>
        <p:nvSpPr>
          <p:cNvPr id="8" name="Shape 6"/>
          <p:cNvSpPr/>
          <p:nvPr/>
        </p:nvSpPr>
        <p:spPr>
          <a:xfrm>
            <a:off x="5530315" y="1938528"/>
            <a:ext cx="2939234" cy="1216152"/>
          </a:xfrm>
          <a:prstGeom prst="rect">
            <a:avLst/>
          </a:prstGeom>
          <a:solidFill>
            <a:srgbClr val="0F2D45"/>
          </a:solidFill>
          <a:ln w="6350">
            <a:solidFill>
              <a:srgbClr val="1A3F58"/>
            </a:solidFill>
            <a:prstDash val="solid"/>
          </a:ln>
        </p:spPr>
        <p:txBody>
          <a:bodyPr/>
          <a:lstStyle/>
          <a:p>
            <a:endParaRPr lang="es-CL"/>
          </a:p>
        </p:txBody>
      </p:sp>
      <p:sp>
        <p:nvSpPr>
          <p:cNvPr id="9" name="Shape 7"/>
          <p:cNvSpPr/>
          <p:nvPr/>
        </p:nvSpPr>
        <p:spPr>
          <a:xfrm>
            <a:off x="347472" y="4206240"/>
            <a:ext cx="54864" cy="658368"/>
          </a:xfrm>
          <a:prstGeom prst="rect">
            <a:avLst/>
          </a:prstGeom>
          <a:solidFill>
            <a:srgbClr val="0A7C92"/>
          </a:solidFill>
          <a:ln w="12700">
            <a:solidFill>
              <a:srgbClr val="0A7C92"/>
            </a:solidFill>
            <a:prstDash val="solid"/>
          </a:ln>
        </p:spPr>
        <p:txBody>
          <a:bodyPr/>
          <a:lstStyle/>
          <a:p>
            <a:endParaRPr lang="es-CL"/>
          </a:p>
        </p:txBody>
      </p:sp>
      <p:sp>
        <p:nvSpPr>
          <p:cNvPr id="10" name="Text 8"/>
          <p:cNvSpPr/>
          <p:nvPr/>
        </p:nvSpPr>
        <p:spPr>
          <a:xfrm>
            <a:off x="5615713" y="2334006"/>
            <a:ext cx="3017325" cy="475488"/>
          </a:xfrm>
          <a:prstGeom prst="rect">
            <a:avLst/>
          </a:prstGeom>
          <a:noFill/>
          <a:ln/>
        </p:spPr>
        <p:txBody>
          <a:bodyPr wrap="square"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IO ↔ LETALIDAD: 0,226 (más alta con letalidad). DIAS_ESTADA ↔ LETALIDAD: 0,065 (casi nula). ROTACION ↔ LETALIDAD: −0,240 (más rotación → menos mortalidad, casos menos graves). Variables seleccionadas para regresión: IO, ROTACION, DIAS_ESTADA y COMPLEJIDAD.</a:t>
            </a:r>
            <a:endParaRPr lang="en-US" sz="1000" dirty="0"/>
          </a:p>
        </p:txBody>
      </p:sp>
      <p:pic>
        <p:nvPicPr>
          <p:cNvPr id="11" name="Picture 10">
            <a:extLst>
              <a:ext uri="{FF2B5EF4-FFF2-40B4-BE49-F238E27FC236}">
                <a16:creationId xmlns:a16="http://schemas.microsoft.com/office/drawing/2014/main" id="{AAE82876-B99B-0677-08B2-4CF991A0B9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012" y="1549746"/>
            <a:ext cx="4696460" cy="35890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47472" y="256032"/>
            <a:ext cx="1997964" cy="274320"/>
          </a:xfrm>
          <a:prstGeom prst="rect">
            <a:avLst/>
          </a:prstGeom>
          <a:solidFill>
            <a:srgbClr val="0A7C92"/>
          </a:solidFill>
          <a:ln/>
        </p:spPr>
        <p:txBody>
          <a:bodyPr/>
          <a:lstStyle/>
          <a:p>
            <a:endParaRPr lang="es-CL"/>
          </a:p>
        </p:txBody>
      </p:sp>
      <p:sp>
        <p:nvSpPr>
          <p:cNvPr id="3" name="Text 1"/>
          <p:cNvSpPr/>
          <p:nvPr/>
        </p:nvSpPr>
        <p:spPr>
          <a:xfrm>
            <a:off x="347472" y="256032"/>
            <a:ext cx="199796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TEST DE HIPÓTESIS</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Inferencia Estadística</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12A3BE"/>
                </a:solidFill>
                <a:latin typeface="Calibri" pitchFamily="34" charset="0"/>
                <a:ea typeface="Calibri" pitchFamily="34" charset="-122"/>
                <a:cs typeface="Calibri" pitchFamily="34" charset="-120"/>
              </a:rPr>
              <a:t>Dos tests complementarios — ambos rechazan H₀</a:t>
            </a:r>
            <a:endParaRPr lang="en-US" sz="1400" dirty="0"/>
          </a:p>
        </p:txBody>
      </p:sp>
      <p:sp>
        <p:nvSpPr>
          <p:cNvPr id="6" name="Shape 4"/>
          <p:cNvSpPr/>
          <p:nvPr/>
        </p:nvSpPr>
        <p:spPr>
          <a:xfrm>
            <a:off x="347472" y="1874520"/>
            <a:ext cx="4160520" cy="2926080"/>
          </a:xfrm>
          <a:prstGeom prst="rect">
            <a:avLst/>
          </a:prstGeom>
          <a:solidFill>
            <a:srgbClr val="0F2D45"/>
          </a:solidFill>
          <a:ln w="6350">
            <a:solidFill>
              <a:srgbClr val="1A3F58"/>
            </a:solidFill>
            <a:prstDash val="solid"/>
          </a:ln>
        </p:spPr>
        <p:txBody>
          <a:bodyPr/>
          <a:lstStyle/>
          <a:p>
            <a:endParaRPr lang="es-CL"/>
          </a:p>
        </p:txBody>
      </p:sp>
      <p:sp>
        <p:nvSpPr>
          <p:cNvPr id="7" name="Shape 5"/>
          <p:cNvSpPr/>
          <p:nvPr/>
        </p:nvSpPr>
        <p:spPr>
          <a:xfrm>
            <a:off x="347472" y="1874520"/>
            <a:ext cx="64008" cy="2926080"/>
          </a:xfrm>
          <a:prstGeom prst="rect">
            <a:avLst/>
          </a:prstGeom>
          <a:solidFill>
            <a:srgbClr val="12A3BE"/>
          </a:solidFill>
          <a:ln w="12700">
            <a:solidFill>
              <a:srgbClr val="12A3BE"/>
            </a:solidFill>
            <a:prstDash val="solid"/>
          </a:ln>
        </p:spPr>
        <p:txBody>
          <a:bodyPr/>
          <a:lstStyle/>
          <a:p>
            <a:endParaRPr lang="es-CL"/>
          </a:p>
        </p:txBody>
      </p:sp>
      <p:sp>
        <p:nvSpPr>
          <p:cNvPr id="8" name="Text 6"/>
          <p:cNvSpPr/>
          <p:nvPr/>
        </p:nvSpPr>
        <p:spPr>
          <a:xfrm>
            <a:off x="512064" y="1965960"/>
            <a:ext cx="3840480" cy="274320"/>
          </a:xfrm>
          <a:prstGeom prst="rect">
            <a:avLst/>
          </a:prstGeom>
          <a:noFill/>
          <a:ln/>
        </p:spPr>
        <p:txBody>
          <a:bodyPr wrap="square" rtlCol="0" anchor="ctr"/>
          <a:lstStyle/>
          <a:p>
            <a:pPr marL="0" indent="0">
              <a:buNone/>
            </a:pPr>
            <a:r>
              <a:rPr lang="en-US" sz="1100" b="1" dirty="0">
                <a:solidFill>
                  <a:srgbClr val="12A3BE"/>
                </a:solidFill>
                <a:latin typeface="Calibri" pitchFamily="34" charset="0"/>
                <a:ea typeface="Calibri" pitchFamily="34" charset="-122"/>
                <a:cs typeface="Calibri" pitchFamily="34" charset="-120"/>
              </a:rPr>
              <a:t>Test 1 — Correlación de Pearson</a:t>
            </a:r>
            <a:endParaRPr lang="en-US" sz="1100" dirty="0"/>
          </a:p>
        </p:txBody>
      </p:sp>
      <p:sp>
        <p:nvSpPr>
          <p:cNvPr id="9" name="Text 7"/>
          <p:cNvSpPr/>
          <p:nvPr/>
        </p:nvSpPr>
        <p:spPr>
          <a:xfrm>
            <a:off x="512064" y="2286000"/>
            <a:ext cx="3840480" cy="2560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H₀: ρ = 0  ·  H₁: ρ ≠ 0  ·  α = 0,05</a:t>
            </a:r>
            <a:endParaRPr lang="en-US" sz="1000" dirty="0"/>
          </a:p>
        </p:txBody>
      </p:sp>
      <p:sp>
        <p:nvSpPr>
          <p:cNvPr id="10" name="Shape 8"/>
          <p:cNvSpPr/>
          <p:nvPr/>
        </p:nvSpPr>
        <p:spPr>
          <a:xfrm>
            <a:off x="512064" y="2606040"/>
            <a:ext cx="3657600" cy="0"/>
          </a:xfrm>
          <a:prstGeom prst="line">
            <a:avLst/>
          </a:prstGeom>
          <a:noFill/>
          <a:ln w="6350">
            <a:solidFill>
              <a:srgbClr val="2A4A5E"/>
            </a:solidFill>
            <a:prstDash val="solid"/>
          </a:ln>
        </p:spPr>
        <p:txBody>
          <a:bodyPr/>
          <a:lstStyle/>
          <a:p>
            <a:endParaRPr lang="es-CL"/>
          </a:p>
        </p:txBody>
      </p:sp>
      <p:sp>
        <p:nvSpPr>
          <p:cNvPr id="11" name="Text 9"/>
          <p:cNvSpPr/>
          <p:nvPr/>
        </p:nvSpPr>
        <p:spPr>
          <a:xfrm>
            <a:off x="512064" y="2697480"/>
            <a:ext cx="1828800" cy="475488"/>
          </a:xfrm>
          <a:prstGeom prst="rect">
            <a:avLst/>
          </a:prstGeom>
          <a:noFill/>
          <a:ln/>
        </p:spPr>
        <p:txBody>
          <a:bodyPr wrap="square" rtlCol="0" anchor="ctr"/>
          <a:lstStyle/>
          <a:p>
            <a:pPr marL="0" indent="0">
              <a:buNone/>
            </a:pPr>
            <a:r>
              <a:rPr lang="en-US" sz="3000" b="1" dirty="0">
                <a:solidFill>
                  <a:srgbClr val="12A3BE"/>
                </a:solidFill>
                <a:latin typeface="Calibri" pitchFamily="34" charset="0"/>
                <a:ea typeface="Calibri" pitchFamily="34" charset="-122"/>
                <a:cs typeface="Calibri" pitchFamily="34" charset="-120"/>
              </a:rPr>
              <a:t>r = 0,226</a:t>
            </a:r>
            <a:endParaRPr lang="en-US" sz="3000" dirty="0"/>
          </a:p>
        </p:txBody>
      </p:sp>
      <p:sp>
        <p:nvSpPr>
          <p:cNvPr id="12" name="Text 10"/>
          <p:cNvSpPr/>
          <p:nvPr/>
        </p:nvSpPr>
        <p:spPr>
          <a:xfrm>
            <a:off x="2468880" y="2761488"/>
            <a:ext cx="1828800" cy="41148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 &lt; 0,001</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n = 150.347</a:t>
            </a:r>
            <a:endParaRPr lang="en-US" sz="1100" dirty="0"/>
          </a:p>
        </p:txBody>
      </p:sp>
      <p:sp>
        <p:nvSpPr>
          <p:cNvPr id="13" name="Shape 11"/>
          <p:cNvSpPr/>
          <p:nvPr/>
        </p:nvSpPr>
        <p:spPr>
          <a:xfrm>
            <a:off x="512064" y="3246120"/>
            <a:ext cx="3840480" cy="274320"/>
          </a:xfrm>
          <a:prstGeom prst="rect">
            <a:avLst/>
          </a:prstGeom>
          <a:solidFill>
            <a:srgbClr val="0A7C92"/>
          </a:solidFill>
          <a:ln w="12700">
            <a:solidFill>
              <a:srgbClr val="0A7C92"/>
            </a:solidFill>
            <a:prstDash val="solid"/>
          </a:ln>
        </p:spPr>
        <p:txBody>
          <a:bodyPr/>
          <a:lstStyle/>
          <a:p>
            <a:endParaRPr lang="es-CL"/>
          </a:p>
        </p:txBody>
      </p:sp>
      <p:sp>
        <p:nvSpPr>
          <p:cNvPr id="14" name="Text 12"/>
          <p:cNvSpPr/>
          <p:nvPr/>
        </p:nvSpPr>
        <p:spPr>
          <a:xfrm>
            <a:off x="512064" y="3246120"/>
            <a:ext cx="38404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Se rechaza H₀ — correlación positiva significativa</a:t>
            </a:r>
            <a:endParaRPr lang="en-US" sz="1000" dirty="0"/>
          </a:p>
        </p:txBody>
      </p:sp>
      <p:sp>
        <p:nvSpPr>
          <p:cNvPr id="15" name="Text 13"/>
          <p:cNvSpPr/>
          <p:nvPr/>
        </p:nvSpPr>
        <p:spPr>
          <a:xfrm>
            <a:off x="512064" y="3584448"/>
            <a:ext cx="3840480" cy="1005840"/>
          </a:xfrm>
          <a:prstGeom prst="rect">
            <a:avLst/>
          </a:prstGeom>
          <a:noFill/>
          <a:ln/>
        </p:spPr>
        <p:txBody>
          <a:bodyPr wrap="square"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La saturación hospitalaria sí incide en la mortalidad. El resultado es robusto gracias al TCL (n &gt; 150.000).</a:t>
            </a:r>
            <a:endParaRPr lang="en-US" sz="1000" dirty="0"/>
          </a:p>
        </p:txBody>
      </p:sp>
      <p:sp>
        <p:nvSpPr>
          <p:cNvPr id="16" name="Shape 14"/>
          <p:cNvSpPr/>
          <p:nvPr/>
        </p:nvSpPr>
        <p:spPr>
          <a:xfrm>
            <a:off x="4636008" y="1874520"/>
            <a:ext cx="4160520" cy="2926080"/>
          </a:xfrm>
          <a:prstGeom prst="rect">
            <a:avLst/>
          </a:prstGeom>
          <a:solidFill>
            <a:srgbClr val="0F2D45"/>
          </a:solidFill>
          <a:ln w="6350">
            <a:solidFill>
              <a:srgbClr val="1A3F58"/>
            </a:solidFill>
            <a:prstDash val="solid"/>
          </a:ln>
        </p:spPr>
        <p:txBody>
          <a:bodyPr/>
          <a:lstStyle/>
          <a:p>
            <a:endParaRPr lang="es-CL"/>
          </a:p>
        </p:txBody>
      </p:sp>
      <p:sp>
        <p:nvSpPr>
          <p:cNvPr id="17" name="Shape 15"/>
          <p:cNvSpPr/>
          <p:nvPr/>
        </p:nvSpPr>
        <p:spPr>
          <a:xfrm>
            <a:off x="4636008" y="1874520"/>
            <a:ext cx="64008" cy="2926080"/>
          </a:xfrm>
          <a:prstGeom prst="rect">
            <a:avLst/>
          </a:prstGeom>
          <a:solidFill>
            <a:srgbClr val="F0A500"/>
          </a:solidFill>
          <a:ln w="12700">
            <a:solidFill>
              <a:srgbClr val="F0A500"/>
            </a:solidFill>
            <a:prstDash val="solid"/>
          </a:ln>
        </p:spPr>
        <p:txBody>
          <a:bodyPr/>
          <a:lstStyle/>
          <a:p>
            <a:endParaRPr lang="es-CL"/>
          </a:p>
        </p:txBody>
      </p:sp>
      <p:sp>
        <p:nvSpPr>
          <p:cNvPr id="18" name="Text 16"/>
          <p:cNvSpPr/>
          <p:nvPr/>
        </p:nvSpPr>
        <p:spPr>
          <a:xfrm>
            <a:off x="4800600" y="1965960"/>
            <a:ext cx="3840480" cy="274320"/>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Test 2 — ANOVA de un factor</a:t>
            </a:r>
            <a:endParaRPr lang="en-US" sz="1100" dirty="0"/>
          </a:p>
        </p:txBody>
      </p:sp>
      <p:sp>
        <p:nvSpPr>
          <p:cNvPr id="19" name="Text 17"/>
          <p:cNvSpPr/>
          <p:nvPr/>
        </p:nvSpPr>
        <p:spPr>
          <a:xfrm>
            <a:off x="4800600" y="2286000"/>
            <a:ext cx="3840480" cy="25603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H₀: μ_alta = μ_media = μ_baja  ·  α = 0,05</a:t>
            </a:r>
            <a:endParaRPr lang="en-US" sz="1000" dirty="0"/>
          </a:p>
        </p:txBody>
      </p:sp>
      <p:sp>
        <p:nvSpPr>
          <p:cNvPr id="20" name="Shape 18"/>
          <p:cNvSpPr/>
          <p:nvPr/>
        </p:nvSpPr>
        <p:spPr>
          <a:xfrm>
            <a:off x="4800600" y="2606040"/>
            <a:ext cx="3657600" cy="0"/>
          </a:xfrm>
          <a:prstGeom prst="line">
            <a:avLst/>
          </a:prstGeom>
          <a:noFill/>
          <a:ln w="6350">
            <a:solidFill>
              <a:srgbClr val="2A4A5E"/>
            </a:solidFill>
            <a:prstDash val="solid"/>
          </a:ln>
        </p:spPr>
        <p:txBody>
          <a:bodyPr/>
          <a:lstStyle/>
          <a:p>
            <a:endParaRPr lang="es-CL"/>
          </a:p>
        </p:txBody>
      </p:sp>
      <p:sp>
        <p:nvSpPr>
          <p:cNvPr id="21" name="Text 19"/>
          <p:cNvSpPr/>
          <p:nvPr/>
        </p:nvSpPr>
        <p:spPr>
          <a:xfrm>
            <a:off x="4800600" y="2697480"/>
            <a:ext cx="1188720" cy="228600"/>
          </a:xfrm>
          <a:prstGeom prst="rect">
            <a:avLst/>
          </a:prstGeom>
          <a:noFill/>
          <a:ln/>
        </p:spPr>
        <p:txBody>
          <a:bodyPr wrap="square" rtlCol="0" anchor="ctr"/>
          <a:lstStyle/>
          <a:p>
            <a:pPr marL="0" indent="0" algn="ctr">
              <a:buNone/>
            </a:pPr>
            <a:r>
              <a:rPr lang="en-US" sz="1000" b="1" dirty="0">
                <a:solidFill>
                  <a:srgbClr val="C0392B"/>
                </a:solidFill>
                <a:latin typeface="Calibri" pitchFamily="34" charset="0"/>
                <a:ea typeface="Calibri" pitchFamily="34" charset="-122"/>
                <a:cs typeface="Calibri" pitchFamily="34" charset="-120"/>
              </a:rPr>
              <a:t>Alta</a:t>
            </a:r>
            <a:endParaRPr lang="en-US" sz="1000" dirty="0"/>
          </a:p>
        </p:txBody>
      </p:sp>
      <p:sp>
        <p:nvSpPr>
          <p:cNvPr id="22" name="Text 20"/>
          <p:cNvSpPr/>
          <p:nvPr/>
        </p:nvSpPr>
        <p:spPr>
          <a:xfrm>
            <a:off x="4800600" y="2907792"/>
            <a:ext cx="1188720" cy="292608"/>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29,9%</a:t>
            </a:r>
            <a:endParaRPr lang="en-US" sz="2200" dirty="0"/>
          </a:p>
        </p:txBody>
      </p:sp>
      <p:sp>
        <p:nvSpPr>
          <p:cNvPr id="23" name="Text 21"/>
          <p:cNvSpPr/>
          <p:nvPr/>
        </p:nvSpPr>
        <p:spPr>
          <a:xfrm>
            <a:off x="6080760" y="2697480"/>
            <a:ext cx="1188720" cy="228600"/>
          </a:xfrm>
          <a:prstGeom prst="rect">
            <a:avLst/>
          </a:prstGeom>
          <a:noFill/>
          <a:ln/>
        </p:spPr>
        <p:txBody>
          <a:bodyPr wrap="square" rtlCol="0" anchor="ctr"/>
          <a:lstStyle/>
          <a:p>
            <a:pPr marL="0" indent="0" algn="ctr">
              <a:buNone/>
            </a:pPr>
            <a:r>
              <a:rPr lang="en-US" sz="1000" b="1" dirty="0">
                <a:solidFill>
                  <a:srgbClr val="12A3BE"/>
                </a:solidFill>
                <a:latin typeface="Calibri" pitchFamily="34" charset="0"/>
                <a:ea typeface="Calibri" pitchFamily="34" charset="-122"/>
                <a:cs typeface="Calibri" pitchFamily="34" charset="-120"/>
              </a:rPr>
              <a:t>Media</a:t>
            </a:r>
            <a:endParaRPr lang="en-US" sz="1000" dirty="0"/>
          </a:p>
        </p:txBody>
      </p:sp>
      <p:sp>
        <p:nvSpPr>
          <p:cNvPr id="24" name="Text 22"/>
          <p:cNvSpPr/>
          <p:nvPr/>
        </p:nvSpPr>
        <p:spPr>
          <a:xfrm>
            <a:off x="6080760" y="2907792"/>
            <a:ext cx="1188720" cy="292608"/>
          </a:xfrm>
          <a:prstGeom prst="rect">
            <a:avLst/>
          </a:prstGeom>
          <a:noFill/>
          <a:ln/>
        </p:spPr>
        <p:txBody>
          <a:bodyPr wrap="square" rtlCol="0" anchor="ctr"/>
          <a:lstStyle/>
          <a:p>
            <a:pPr marL="0" indent="0" algn="ctr">
              <a:buNone/>
            </a:pPr>
            <a:r>
              <a:rPr lang="en-US" sz="2200" b="1" dirty="0">
                <a:solidFill>
                  <a:srgbClr val="12A3BE"/>
                </a:solidFill>
                <a:latin typeface="Calibri" pitchFamily="34" charset="0"/>
                <a:ea typeface="Calibri" pitchFamily="34" charset="-122"/>
                <a:cs typeface="Calibri" pitchFamily="34" charset="-120"/>
              </a:rPr>
              <a:t>1,8%</a:t>
            </a:r>
            <a:endParaRPr lang="en-US" sz="2200" dirty="0"/>
          </a:p>
        </p:txBody>
      </p:sp>
      <p:sp>
        <p:nvSpPr>
          <p:cNvPr id="25" name="Text 23"/>
          <p:cNvSpPr/>
          <p:nvPr/>
        </p:nvSpPr>
        <p:spPr>
          <a:xfrm>
            <a:off x="7360920" y="2697480"/>
            <a:ext cx="1188720" cy="228600"/>
          </a:xfrm>
          <a:prstGeom prst="rect">
            <a:avLst/>
          </a:prstGeom>
          <a:noFill/>
          <a:ln/>
        </p:spPr>
        <p:txBody>
          <a:bodyPr wrap="square"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Baja</a:t>
            </a:r>
            <a:endParaRPr lang="en-US" sz="1000" dirty="0"/>
          </a:p>
        </p:txBody>
      </p:sp>
      <p:sp>
        <p:nvSpPr>
          <p:cNvPr id="26" name="Text 24"/>
          <p:cNvSpPr/>
          <p:nvPr/>
        </p:nvSpPr>
        <p:spPr>
          <a:xfrm>
            <a:off x="7360920" y="2907792"/>
            <a:ext cx="1188720" cy="292608"/>
          </a:xfrm>
          <a:prstGeom prst="rect">
            <a:avLst/>
          </a:prstGeom>
          <a:noFill/>
          <a:ln/>
        </p:spPr>
        <p:txBody>
          <a:bodyPr wrap="square" rtlCol="0" anchor="ctr"/>
          <a:lstStyle/>
          <a:p>
            <a:pPr marL="0" indent="0" algn="ctr">
              <a:buNone/>
            </a:pPr>
            <a:r>
              <a:rPr lang="en-US" sz="2200" b="1" dirty="0">
                <a:solidFill>
                  <a:srgbClr val="16A34A"/>
                </a:solidFill>
                <a:latin typeface="Calibri" pitchFamily="34" charset="0"/>
                <a:ea typeface="Calibri" pitchFamily="34" charset="-122"/>
                <a:cs typeface="Calibri" pitchFamily="34" charset="-120"/>
              </a:rPr>
              <a:t>2,5%</a:t>
            </a:r>
            <a:endParaRPr lang="en-US" sz="2200" dirty="0"/>
          </a:p>
        </p:txBody>
      </p:sp>
      <p:sp>
        <p:nvSpPr>
          <p:cNvPr id="27" name="Text 25"/>
          <p:cNvSpPr/>
          <p:nvPr/>
        </p:nvSpPr>
        <p:spPr>
          <a:xfrm>
            <a:off x="4800600" y="3246120"/>
            <a:ext cx="3840480" cy="256032"/>
          </a:xfrm>
          <a:prstGeom prst="rect">
            <a:avLst/>
          </a:prstGeom>
          <a:noFill/>
          <a:ln/>
        </p:spPr>
        <p:txBody>
          <a:bodyPr wrap="square" rtlCol="0" anchor="ctr"/>
          <a:lstStyle/>
          <a:p>
            <a:pPr marL="0" indent="0" algn="ctr">
              <a:buNone/>
            </a:pPr>
            <a:r>
              <a:rPr lang="en-US" sz="1200" b="1" dirty="0">
                <a:solidFill>
                  <a:srgbClr val="F0A500"/>
                </a:solidFill>
                <a:latin typeface="Calibri" pitchFamily="34" charset="0"/>
                <a:ea typeface="Calibri" pitchFamily="34" charset="-122"/>
                <a:cs typeface="Calibri" pitchFamily="34" charset="-120"/>
              </a:rPr>
              <a:t>F = 38.124,5</a:t>
            </a:r>
            <a:endParaRPr lang="en-US" sz="1200" dirty="0"/>
          </a:p>
        </p:txBody>
      </p:sp>
      <p:sp>
        <p:nvSpPr>
          <p:cNvPr id="28" name="Shape 26"/>
          <p:cNvSpPr/>
          <p:nvPr/>
        </p:nvSpPr>
        <p:spPr>
          <a:xfrm>
            <a:off x="4800600" y="3547872"/>
            <a:ext cx="3840480" cy="274320"/>
          </a:xfrm>
          <a:prstGeom prst="rect">
            <a:avLst/>
          </a:prstGeom>
          <a:solidFill>
            <a:srgbClr val="F0A500"/>
          </a:solidFill>
          <a:ln w="12700">
            <a:solidFill>
              <a:srgbClr val="F0A500"/>
            </a:solidFill>
            <a:prstDash val="solid"/>
          </a:ln>
        </p:spPr>
        <p:txBody>
          <a:bodyPr/>
          <a:lstStyle/>
          <a:p>
            <a:endParaRPr lang="es-CL"/>
          </a:p>
        </p:txBody>
      </p:sp>
      <p:sp>
        <p:nvSpPr>
          <p:cNvPr id="29" name="Text 27"/>
          <p:cNvSpPr/>
          <p:nvPr/>
        </p:nvSpPr>
        <p:spPr>
          <a:xfrm>
            <a:off x="4800600" y="3547872"/>
            <a:ext cx="3840480" cy="274320"/>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 Se rechaza H₀ — diferencias significativas entre grupos</a:t>
            </a:r>
            <a:endParaRPr lang="en-US" sz="1000" dirty="0"/>
          </a:p>
        </p:txBody>
      </p:sp>
      <p:sp>
        <p:nvSpPr>
          <p:cNvPr id="30" name="Text 28"/>
          <p:cNvSpPr/>
          <p:nvPr/>
        </p:nvSpPr>
        <p:spPr>
          <a:xfrm>
            <a:off x="4800600" y="3886200"/>
            <a:ext cx="3840480" cy="749808"/>
          </a:xfrm>
          <a:prstGeom prst="rect">
            <a:avLst/>
          </a:prstGeom>
          <a:noFill/>
          <a:ln/>
        </p:spPr>
        <p:txBody>
          <a:bodyPr wrap="square"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28 pp de diferencia entre alta y media complejidad. La complejidad es el factor dominante sobre la mortalidad.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47472" y="256032"/>
            <a:ext cx="2766060" cy="274320"/>
          </a:xfrm>
          <a:prstGeom prst="rect">
            <a:avLst/>
          </a:prstGeom>
          <a:solidFill>
            <a:srgbClr val="0A7C92"/>
          </a:solidFill>
          <a:ln/>
        </p:spPr>
        <p:txBody>
          <a:bodyPr/>
          <a:lstStyle/>
          <a:p>
            <a:endParaRPr lang="es-CL"/>
          </a:p>
        </p:txBody>
      </p:sp>
      <p:sp>
        <p:nvSpPr>
          <p:cNvPr id="3" name="Text 1"/>
          <p:cNvSpPr/>
          <p:nvPr/>
        </p:nvSpPr>
        <p:spPr>
          <a:xfrm>
            <a:off x="347472" y="256032"/>
            <a:ext cx="27660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REGRESIÓN LINEAL MÚLTIPLE</a:t>
            </a:r>
            <a:endParaRPr lang="en-US" sz="900" dirty="0"/>
          </a:p>
        </p:txBody>
      </p:sp>
      <p:sp>
        <p:nvSpPr>
          <p:cNvPr id="4" name="Text 2"/>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Modelo de Regresión</a:t>
            </a:r>
            <a:endParaRPr lang="en-US" sz="3200" dirty="0"/>
          </a:p>
        </p:txBody>
      </p:sp>
      <p:sp>
        <p:nvSpPr>
          <p:cNvPr id="5" name="Text 3"/>
          <p:cNvSpPr/>
          <p:nvPr/>
        </p:nvSpPr>
        <p:spPr>
          <a:xfrm>
            <a:off x="347472" y="1572768"/>
            <a:ext cx="6400800" cy="36576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LETALIDAD ~ IO + DIAS_ESTADA + ROTACION + COMPLEJIDAD</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47472" y="1874520"/>
          <a:ext cx="8449056" cy="1920240"/>
        </p:xfrm>
        <a:graphic>
          <a:graphicData uri="http://schemas.openxmlformats.org/drawingml/2006/table">
            <a:tbl>
              <a:tblPr/>
              <a:tblGrid>
                <a:gridCol w="19202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157216">
                  <a:extLst>
                    <a:ext uri="{9D8B030D-6E8A-4147-A177-3AD203B41FA5}">
                      <a16:colId xmlns:a16="http://schemas.microsoft.com/office/drawing/2014/main" val="20003"/>
                    </a:ext>
                  </a:extLst>
                </a:gridCol>
              </a:tblGrid>
              <a:tr h="32004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Coef.</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Interpretación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20040">
                <a:tc>
                  <a:txBody>
                    <a:bodyPr/>
                    <a:lstStyle/>
                    <a:p>
                      <a:pPr marL="0" indent="0" algn="l">
                        <a:buNone/>
                      </a:pPr>
                      <a:r>
                        <a:rPr lang="en-US" sz="950" b="1" dirty="0">
                          <a:solidFill>
                            <a:srgbClr val="0D1B2A"/>
                          </a:solidFill>
                          <a:latin typeface="Calibri" pitchFamily="34" charset="0"/>
                          <a:ea typeface="Calibri" pitchFamily="34" charset="-122"/>
                          <a:cs typeface="Calibri" pitchFamily="34" charset="-120"/>
                        </a:rPr>
                        <a:t>INDICE_OCUPACIONAL</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0,091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&lt;0,001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+1 pp de ocupación → +0,09 pp en letalidad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20040">
                <a:tc>
                  <a:txBody>
                    <a:bodyPr/>
                    <a:lstStyle/>
                    <a:p>
                      <a:pPr marL="0" indent="0" algn="l">
                        <a:buNone/>
                      </a:pPr>
                      <a:r>
                        <a:rPr lang="en-US" sz="950" b="1" dirty="0">
                          <a:solidFill>
                            <a:srgbClr val="0D1B2A"/>
                          </a:solidFill>
                          <a:latin typeface="Calibri" pitchFamily="34" charset="0"/>
                          <a:ea typeface="Calibri" pitchFamily="34" charset="-122"/>
                          <a:cs typeface="Calibri" pitchFamily="34" charset="-120"/>
                        </a:rPr>
                        <a:t>PROMEDIO_DIAS_ESTADA</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0,004</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&lt;0,001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Estadías más largas implican levemente más mortalidad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l">
                        <a:buNone/>
                      </a:pPr>
                      <a:r>
                        <a:rPr lang="en-US" sz="950" b="1" dirty="0">
                          <a:solidFill>
                            <a:srgbClr val="0D1B2A"/>
                          </a:solidFill>
                          <a:latin typeface="Calibri" pitchFamily="34" charset="0"/>
                          <a:ea typeface="Calibri" pitchFamily="34" charset="-122"/>
                          <a:cs typeface="Calibri" pitchFamily="34" charset="-120"/>
                        </a:rPr>
                        <a:t>INDICE_ROTACION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−0,533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&lt;0,001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Mayor rotación → menor mortalidad (casos menos graves)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20040">
                <a:tc>
                  <a:txBody>
                    <a:bodyPr/>
                    <a:lstStyle/>
                    <a:p>
                      <a:pPr marL="0" indent="0" algn="l">
                        <a:buNone/>
                      </a:pPr>
                      <a:r>
                        <a:rPr lang="en-US" sz="950" b="1" dirty="0">
                          <a:solidFill>
                            <a:srgbClr val="0D1B2A"/>
                          </a:solidFill>
                          <a:latin typeface="Calibri" pitchFamily="34" charset="0"/>
                          <a:ea typeface="Calibri" pitchFamily="34" charset="-122"/>
                          <a:cs typeface="Calibri" pitchFamily="34" charset="-120"/>
                        </a:rPr>
                        <a:t>Alta complejidad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24,893</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&lt;0,001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+24,9 pp vs baja complejidad — efecto dominante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l">
                        <a:buNone/>
                      </a:pPr>
                      <a:r>
                        <a:rPr lang="en-US" sz="950" b="1" dirty="0">
                          <a:solidFill>
                            <a:srgbClr val="0D1B2A"/>
                          </a:solidFill>
                          <a:latin typeface="Calibri" pitchFamily="34" charset="0"/>
                          <a:ea typeface="Calibri" pitchFamily="34" charset="-122"/>
                          <a:cs typeface="Calibri" pitchFamily="34" charset="-120"/>
                        </a:rPr>
                        <a:t>Media complejidad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−0,988</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latin typeface="Calibri" pitchFamily="34" charset="0"/>
                          <a:ea typeface="Calibri" pitchFamily="34" charset="-122"/>
                          <a:cs typeface="Calibri" pitchFamily="34" charset="-120"/>
                        </a:rPr>
                        <a:t>&lt;0,001</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−1,0 pp vs baja complejidad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sp>
        <p:nvSpPr>
          <p:cNvPr id="7" name="Shape 4"/>
          <p:cNvSpPr/>
          <p:nvPr/>
        </p:nvSpPr>
        <p:spPr>
          <a:xfrm>
            <a:off x="347472" y="4041648"/>
            <a:ext cx="2697480" cy="896112"/>
          </a:xfrm>
          <a:prstGeom prst="rect">
            <a:avLst/>
          </a:prstGeom>
          <a:solidFill>
            <a:srgbClr val="F8FAFC"/>
          </a:solidFill>
          <a:ln w="6350">
            <a:solidFill>
              <a:srgbClr val="E2E8F0"/>
            </a:solidFill>
            <a:prstDash val="solid"/>
          </a:ln>
        </p:spPr>
        <p:txBody>
          <a:bodyPr/>
          <a:lstStyle/>
          <a:p>
            <a:endParaRPr lang="es-CL"/>
          </a:p>
        </p:txBody>
      </p:sp>
      <p:sp>
        <p:nvSpPr>
          <p:cNvPr id="8" name="Text 5"/>
          <p:cNvSpPr/>
          <p:nvPr/>
        </p:nvSpPr>
        <p:spPr>
          <a:xfrm>
            <a:off x="457200" y="4114800"/>
            <a:ext cx="2468880" cy="274320"/>
          </a:xfrm>
          <a:prstGeom prst="rect">
            <a:avLst/>
          </a:prstGeom>
          <a:noFill/>
          <a:ln/>
        </p:spPr>
        <p:txBody>
          <a:bodyPr wrap="square" rtlCol="0" anchor="ctr"/>
          <a:lstStyle/>
          <a:p>
            <a:pPr marL="0" indent="0">
              <a:buNone/>
            </a:pPr>
            <a:r>
              <a:rPr lang="en-US" sz="1400" b="1" dirty="0">
                <a:solidFill>
                  <a:srgbClr val="0A7C92"/>
                </a:solidFill>
                <a:latin typeface="Calibri" pitchFamily="34" charset="0"/>
                <a:ea typeface="Calibri" pitchFamily="34" charset="-122"/>
                <a:cs typeface="Calibri" pitchFamily="34" charset="-120"/>
              </a:rPr>
              <a:t>R² = 0,356</a:t>
            </a:r>
            <a:endParaRPr lang="en-US" sz="1400" dirty="0"/>
          </a:p>
        </p:txBody>
      </p:sp>
      <p:sp>
        <p:nvSpPr>
          <p:cNvPr id="9" name="Text 6"/>
          <p:cNvSpPr/>
          <p:nvPr/>
        </p:nvSpPr>
        <p:spPr>
          <a:xfrm>
            <a:off x="457200" y="4370832"/>
            <a:ext cx="2468880" cy="5029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El modelo explica el 35,6%</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de la variabilidad</a:t>
            </a:r>
            <a:endParaRPr lang="en-US" sz="950" dirty="0"/>
          </a:p>
        </p:txBody>
      </p:sp>
      <p:sp>
        <p:nvSpPr>
          <p:cNvPr id="10" name="Shape 7"/>
          <p:cNvSpPr/>
          <p:nvPr/>
        </p:nvSpPr>
        <p:spPr>
          <a:xfrm>
            <a:off x="3182112" y="4041648"/>
            <a:ext cx="2697480" cy="896112"/>
          </a:xfrm>
          <a:prstGeom prst="rect">
            <a:avLst/>
          </a:prstGeom>
          <a:solidFill>
            <a:srgbClr val="F8FAFC"/>
          </a:solidFill>
          <a:ln w="6350">
            <a:solidFill>
              <a:srgbClr val="E2E8F0"/>
            </a:solidFill>
            <a:prstDash val="solid"/>
          </a:ln>
        </p:spPr>
        <p:txBody>
          <a:bodyPr/>
          <a:lstStyle/>
          <a:p>
            <a:endParaRPr lang="es-CL"/>
          </a:p>
        </p:txBody>
      </p:sp>
      <p:sp>
        <p:nvSpPr>
          <p:cNvPr id="11" name="Text 8"/>
          <p:cNvSpPr/>
          <p:nvPr/>
        </p:nvSpPr>
        <p:spPr>
          <a:xfrm>
            <a:off x="3291840" y="4114800"/>
            <a:ext cx="2468880" cy="274320"/>
          </a:xfrm>
          <a:prstGeom prst="rect">
            <a:avLst/>
          </a:prstGeom>
          <a:noFill/>
          <a:ln/>
        </p:spPr>
        <p:txBody>
          <a:bodyPr wrap="square" rtlCol="0" anchor="ctr"/>
          <a:lstStyle/>
          <a:p>
            <a:pPr marL="0" indent="0">
              <a:buNone/>
            </a:pPr>
            <a:r>
              <a:rPr lang="en-US" sz="1400" b="1" dirty="0">
                <a:solidFill>
                  <a:srgbClr val="16A34A"/>
                </a:solidFill>
                <a:latin typeface="Calibri" pitchFamily="34" charset="0"/>
                <a:ea typeface="Calibri" pitchFamily="34" charset="-122"/>
                <a:cs typeface="Calibri" pitchFamily="34" charset="-120"/>
              </a:rPr>
              <a:t>F = 16.610</a:t>
            </a:r>
            <a:endParaRPr lang="en-US" sz="1400" dirty="0"/>
          </a:p>
        </p:txBody>
      </p:sp>
      <p:sp>
        <p:nvSpPr>
          <p:cNvPr id="6" name="Text 9"/>
          <p:cNvSpPr/>
          <p:nvPr/>
        </p:nvSpPr>
        <p:spPr>
          <a:xfrm>
            <a:off x="3291840" y="4370832"/>
            <a:ext cx="2468880" cy="5029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Modelo globalmente</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significativo (p &lt; 0,001)</a:t>
            </a:r>
            <a:endParaRPr lang="en-US" sz="950" dirty="0"/>
          </a:p>
        </p:txBody>
      </p:sp>
      <p:sp>
        <p:nvSpPr>
          <p:cNvPr id="13" name="Shape 10"/>
          <p:cNvSpPr/>
          <p:nvPr/>
        </p:nvSpPr>
        <p:spPr>
          <a:xfrm>
            <a:off x="6016752" y="4041648"/>
            <a:ext cx="2697480" cy="896112"/>
          </a:xfrm>
          <a:prstGeom prst="rect">
            <a:avLst/>
          </a:prstGeom>
          <a:solidFill>
            <a:srgbClr val="F8FAFC"/>
          </a:solidFill>
          <a:ln w="6350">
            <a:solidFill>
              <a:srgbClr val="E2E8F0"/>
            </a:solidFill>
            <a:prstDash val="solid"/>
          </a:ln>
        </p:spPr>
        <p:txBody>
          <a:bodyPr/>
          <a:lstStyle/>
          <a:p>
            <a:endParaRPr lang="es-CL"/>
          </a:p>
        </p:txBody>
      </p:sp>
      <p:sp>
        <p:nvSpPr>
          <p:cNvPr id="14" name="Text 11"/>
          <p:cNvSpPr/>
          <p:nvPr/>
        </p:nvSpPr>
        <p:spPr>
          <a:xfrm>
            <a:off x="6126480" y="4114800"/>
            <a:ext cx="2468880" cy="274320"/>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64,4%</a:t>
            </a:r>
            <a:endParaRPr lang="en-US" sz="1400" dirty="0"/>
          </a:p>
        </p:txBody>
      </p:sp>
      <p:sp>
        <p:nvSpPr>
          <p:cNvPr id="15" name="Text 12"/>
          <p:cNvSpPr/>
          <p:nvPr/>
        </p:nvSpPr>
        <p:spPr>
          <a:xfrm>
            <a:off x="6126480" y="4370832"/>
            <a:ext cx="2468880" cy="50292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No explicado: edad,</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diagnóstico, dotación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731520"/>
            <a:ext cx="4114800" cy="4114800"/>
          </a:xfrm>
          <a:prstGeom prst="ellipse">
            <a:avLst/>
          </a:prstGeom>
          <a:solidFill>
            <a:srgbClr val="0F2D45"/>
          </a:solidFill>
          <a:ln w="12700">
            <a:solidFill>
              <a:srgbClr val="0F2D45"/>
            </a:solidFill>
            <a:prstDash val="solid"/>
          </a:ln>
        </p:spPr>
        <p:txBody>
          <a:bodyPr/>
          <a:lstStyle/>
          <a:p>
            <a:endParaRPr lang="es-CL"/>
          </a:p>
        </p:txBody>
      </p:sp>
      <p:sp>
        <p:nvSpPr>
          <p:cNvPr id="3" name="Shape 1"/>
          <p:cNvSpPr/>
          <p:nvPr/>
        </p:nvSpPr>
        <p:spPr>
          <a:xfrm>
            <a:off x="347472" y="256032"/>
            <a:ext cx="1517904" cy="274320"/>
          </a:xfrm>
          <a:prstGeom prst="rect">
            <a:avLst/>
          </a:prstGeom>
          <a:solidFill>
            <a:srgbClr val="0A7C92"/>
          </a:solidFill>
          <a:ln/>
        </p:spPr>
        <p:txBody>
          <a:bodyPr/>
          <a:lstStyle/>
          <a:p>
            <a:endParaRPr lang="es-CL"/>
          </a:p>
        </p:txBody>
      </p:sp>
      <p:sp>
        <p:nvSpPr>
          <p:cNvPr id="4" name="Text 2"/>
          <p:cNvSpPr/>
          <p:nvPr/>
        </p:nvSpPr>
        <p:spPr>
          <a:xfrm>
            <a:off x="347472" y="256032"/>
            <a:ext cx="151790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CONCLUSIONES</a:t>
            </a:r>
            <a:endParaRPr lang="en-US" sz="900" dirty="0"/>
          </a:p>
        </p:txBody>
      </p:sp>
      <p:sp>
        <p:nvSpPr>
          <p:cNvPr id="5" name="Text 3"/>
          <p:cNvSpPr/>
          <p:nvPr/>
        </p:nvSpPr>
        <p:spPr>
          <a:xfrm>
            <a:off x="347472" y="658368"/>
            <a:ext cx="8412480" cy="10058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Respuesta a la Pregunta</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de Investigación</a:t>
            </a:r>
            <a:endParaRPr lang="en-US" sz="3200" dirty="0"/>
          </a:p>
        </p:txBody>
      </p:sp>
      <p:sp>
        <p:nvSpPr>
          <p:cNvPr id="6" name="Shape 4"/>
          <p:cNvSpPr/>
          <p:nvPr/>
        </p:nvSpPr>
        <p:spPr>
          <a:xfrm>
            <a:off x="347472" y="1920240"/>
            <a:ext cx="5943600" cy="822960"/>
          </a:xfrm>
          <a:prstGeom prst="rect">
            <a:avLst/>
          </a:prstGeom>
          <a:solidFill>
            <a:srgbClr val="0A7C92"/>
          </a:solidFill>
          <a:ln w="12700">
            <a:solidFill>
              <a:srgbClr val="0A7C92"/>
            </a:solidFill>
            <a:prstDash val="solid"/>
          </a:ln>
        </p:spPr>
        <p:txBody>
          <a:bodyPr/>
          <a:lstStyle/>
          <a:p>
            <a:endParaRPr lang="es-CL"/>
          </a:p>
        </p:txBody>
      </p:sp>
      <p:sp>
        <p:nvSpPr>
          <p:cNvPr id="7" name="Text 5"/>
          <p:cNvSpPr/>
          <p:nvPr/>
        </p:nvSpPr>
        <p:spPr>
          <a:xfrm>
            <a:off x="457200" y="1965960"/>
            <a:ext cx="5742432" cy="749808"/>
          </a:xfrm>
          <a:prstGeom prst="rect">
            <a:avLst/>
          </a:prstGeom>
          <a:noFill/>
          <a:ln/>
        </p:spPr>
        <p:txBody>
          <a:bodyPr wrap="square"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Sí existe relación. La ocupación incide en la letalidad, pero la complejidad clínica es el factor dominante. A mayor saturación, mayor mortalidad — aunque el efecto es débil.</a:t>
            </a:r>
            <a:endParaRPr lang="en-US" sz="1100" dirty="0"/>
          </a:p>
        </p:txBody>
      </p:sp>
      <p:sp>
        <p:nvSpPr>
          <p:cNvPr id="8" name="Text 6"/>
          <p:cNvSpPr/>
          <p:nvPr/>
        </p:nvSpPr>
        <p:spPr>
          <a:xfrm>
            <a:off x="347472" y="2880360"/>
            <a:ext cx="2651760" cy="548640"/>
          </a:xfrm>
          <a:prstGeom prst="rect">
            <a:avLst/>
          </a:prstGeom>
          <a:noFill/>
          <a:ln/>
        </p:spPr>
        <p:txBody>
          <a:bodyPr wrap="square" rtlCol="0" anchor="ctr"/>
          <a:lstStyle/>
          <a:p>
            <a:pPr marL="0" indent="0" algn="ctr">
              <a:buNone/>
            </a:pPr>
            <a:r>
              <a:rPr lang="en-US" sz="2600" b="1" dirty="0">
                <a:solidFill>
                  <a:srgbClr val="12A3BE"/>
                </a:solidFill>
                <a:latin typeface="Calibri" pitchFamily="34" charset="0"/>
                <a:ea typeface="Calibri" pitchFamily="34" charset="-122"/>
                <a:cs typeface="Calibri" pitchFamily="34" charset="-120"/>
              </a:rPr>
              <a:t>r = 0,226</a:t>
            </a:r>
            <a:endParaRPr lang="en-US" sz="2600" dirty="0"/>
          </a:p>
        </p:txBody>
      </p:sp>
      <p:sp>
        <p:nvSpPr>
          <p:cNvPr id="9" name="Text 7"/>
          <p:cNvSpPr/>
          <p:nvPr/>
        </p:nvSpPr>
        <p:spPr>
          <a:xfrm>
            <a:off x="347472" y="3401568"/>
            <a:ext cx="2651760" cy="41148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Correlación</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Ocupación–Letalidad</a:t>
            </a:r>
            <a:endParaRPr lang="en-US" sz="1000" dirty="0"/>
          </a:p>
        </p:txBody>
      </p:sp>
      <p:sp>
        <p:nvSpPr>
          <p:cNvPr id="10" name="Text 8"/>
          <p:cNvSpPr/>
          <p:nvPr/>
        </p:nvSpPr>
        <p:spPr>
          <a:xfrm>
            <a:off x="3182112" y="2880360"/>
            <a:ext cx="2651760" cy="548640"/>
          </a:xfrm>
          <a:prstGeom prst="rect">
            <a:avLst/>
          </a:prstGeom>
          <a:noFill/>
          <a:ln/>
        </p:spPr>
        <p:txBody>
          <a:bodyPr wrap="square" rtlCol="0" anchor="ctr"/>
          <a:lstStyle/>
          <a:p>
            <a:pPr marL="0" indent="0" algn="ctr">
              <a:buNone/>
            </a:pPr>
            <a:r>
              <a:rPr lang="en-US" sz="2600" b="1" dirty="0">
                <a:solidFill>
                  <a:srgbClr val="F0A500"/>
                </a:solidFill>
                <a:latin typeface="Calibri" pitchFamily="34" charset="0"/>
                <a:ea typeface="Calibri" pitchFamily="34" charset="-122"/>
                <a:cs typeface="Calibri" pitchFamily="34" charset="-120"/>
              </a:rPr>
              <a:t>R² = 0,356</a:t>
            </a:r>
            <a:endParaRPr lang="en-US" sz="2600" dirty="0"/>
          </a:p>
        </p:txBody>
      </p:sp>
      <p:sp>
        <p:nvSpPr>
          <p:cNvPr id="11" name="Text 9"/>
          <p:cNvSpPr/>
          <p:nvPr/>
        </p:nvSpPr>
        <p:spPr>
          <a:xfrm>
            <a:off x="3182112" y="3401568"/>
            <a:ext cx="2651760" cy="41148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Variabilidad</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explicada por el modelo</a:t>
            </a:r>
            <a:endParaRPr lang="en-US" sz="1000" dirty="0"/>
          </a:p>
        </p:txBody>
      </p:sp>
      <p:sp>
        <p:nvSpPr>
          <p:cNvPr id="12" name="Text 10"/>
          <p:cNvSpPr/>
          <p:nvPr/>
        </p:nvSpPr>
        <p:spPr>
          <a:xfrm>
            <a:off x="6016752" y="2880360"/>
            <a:ext cx="2651760" cy="548640"/>
          </a:xfrm>
          <a:prstGeom prst="rect">
            <a:avLst/>
          </a:prstGeom>
          <a:noFill/>
          <a:ln/>
        </p:spPr>
        <p:txBody>
          <a:bodyPr wrap="square" rtlCol="0" anchor="ctr"/>
          <a:lstStyle/>
          <a:p>
            <a:pPr marL="0" indent="0" algn="ctr">
              <a:buNone/>
            </a:pPr>
            <a:r>
              <a:rPr lang="en-US" sz="2600" b="1" dirty="0">
                <a:solidFill>
                  <a:srgbClr val="C0392B"/>
                </a:solidFill>
                <a:latin typeface="Calibri" pitchFamily="34" charset="0"/>
                <a:ea typeface="Calibri" pitchFamily="34" charset="-122"/>
                <a:cs typeface="Calibri" pitchFamily="34" charset="-120"/>
              </a:rPr>
              <a:t>24,9 pp</a:t>
            </a:r>
            <a:endParaRPr lang="en-US" sz="2600" dirty="0"/>
          </a:p>
        </p:txBody>
      </p:sp>
      <p:sp>
        <p:nvSpPr>
          <p:cNvPr id="13" name="Text 11"/>
          <p:cNvSpPr/>
          <p:nvPr/>
        </p:nvSpPr>
        <p:spPr>
          <a:xfrm>
            <a:off x="6016752" y="3401568"/>
            <a:ext cx="2651760" cy="41148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Efecto alta vs.</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baja complejidad</a:t>
            </a:r>
            <a:endParaRPr lang="en-US" sz="1000" dirty="0"/>
          </a:p>
        </p:txBody>
      </p:sp>
      <p:sp>
        <p:nvSpPr>
          <p:cNvPr id="14" name="Text 12"/>
          <p:cNvSpPr/>
          <p:nvPr/>
        </p:nvSpPr>
        <p:spPr>
          <a:xfrm>
            <a:off x="347472" y="3977640"/>
            <a:ext cx="8449056" cy="50292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Próximo paso: transformación logarítmica en LETALIDAD para un modelo que no se vea afectado por la distribución de los residuos.</a:t>
            </a:r>
            <a:endParaRPr lang="en-US" sz="1100" dirty="0"/>
          </a:p>
        </p:txBody>
      </p:sp>
      <p:sp>
        <p:nvSpPr>
          <p:cNvPr id="15" name="Text 13"/>
          <p:cNvSpPr/>
          <p:nvPr/>
        </p:nvSpPr>
        <p:spPr>
          <a:xfrm>
            <a:off x="347472" y="4663440"/>
            <a:ext cx="8449056" cy="256032"/>
          </a:xfrm>
          <a:prstGeom prst="rect">
            <a:avLst/>
          </a:prstGeom>
          <a:noFill/>
          <a:ln/>
        </p:spPr>
        <p:txBody>
          <a:bodyPr wrap="square" rtlCol="0" anchor="ctr"/>
          <a:lstStyle/>
          <a:p>
            <a:pPr marL="0" indent="0" algn="ctr">
              <a:buNone/>
            </a:pPr>
            <a:r>
              <a:rPr lang="en-US" sz="1000" dirty="0">
                <a:solidFill>
                  <a:srgbClr val="2A4A5E"/>
                </a:solidFill>
                <a:latin typeface="Calibri" pitchFamily="34" charset="0"/>
                <a:ea typeface="Calibri" pitchFamily="34" charset="-122"/>
                <a:cs typeface="Calibri" pitchFamily="34" charset="-120"/>
              </a:rPr>
              <a:t>Benjamín Bravo  ·  Universidad del Desarrollo  ·  Mayo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1085</Words>
  <Application>Microsoft Office PowerPoint</Application>
  <PresentationFormat>On-screen Show (16:9)</PresentationFormat>
  <Paragraphs>151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benjamin bravo</cp:lastModifiedBy>
  <cp:revision>2</cp:revision>
  <dcterms:created xsi:type="dcterms:W3CDTF">2026-05-11T23:55:28Z</dcterms:created>
  <dcterms:modified xsi:type="dcterms:W3CDTF">2026-05-12T00:04:48Z</dcterms:modified>
</cp:coreProperties>
</file>